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p15="http://schemas.microsoft.com/office/powerpoint/2012/mai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3"/>
  </p:notesMasterIdLst>
  <p:handoutMasterIdLst>
    <p:handoutMasterId r:id="rId4"/>
  </p:handoutMasterIdLst>
  <p:sldIdLst>
    <p:sldId id="256" r:id="rId2"/>
    <p:sldId id="257" r:id="R7d88596fead2440e"/>
    <p:sldId id="258" r:id="R8c351ac5ff91471f"/>
    <p:sldId id="259" r:id="Re76d6e534102422b"/>
    <p:sldId id="260" r:id="R0bf5132fcbee4e53"/>
    <p:sldId id="261" r:id="Rbb763e9cefc24c9e"/>
    <p:sldId id="262" r:id="R1887628d56414209"/>
    <p:sldId id="263" r:id="Rea5704a8f3734659"/>
    <p:sldId id="264" r:id="R44a6763c067844e7"/>
    <p:sldId id="265" r:id="Rc051adfdbcd44505"/>
    <p:sldId id="266" r:id="Rd651df9464254e5d"/>
    <p:sldId id="267" r:id="R6d7dd5474cfb4f70"/>
  </p:sldIdLst>
  <p:sldSz cx="7773988" cy="10059988"/>
  <p:notesSz cx="7315200" cy="9601200"/>
  <p:defaultTextStyle>
    <a:defPPr>
      <a:defRPr lang="en-US"/>
    </a:defPPr>
    <a:lvl1pPr algn="l" rtl="0" fontAlgn="base">
      <a:spcBef>
        <a:spcPct val="0"/>
      </a:spcBef>
      <a:spcAft>
        <a:spcPct val="0"/>
      </a:spcAft>
      <a:defRPr sz="4000" kern="1200">
        <a:solidFill>
          <a:schemeClr val="tx1"/>
        </a:solidFill>
        <a:latin typeface="Arial" panose="020B0604020202020204" pitchFamily="34" charset="0"/>
        <a:ea typeface="宋体" panose="02010600030101010101" pitchFamily="2" charset="-122"/>
        <a:cs typeface="Arial" panose="020B0604020202020204" pitchFamily="34" charset="0"/>
      </a:defRPr>
    </a:lvl1pPr>
    <a:lvl2pPr marL="457200" algn="l" rtl="0" fontAlgn="base">
      <a:spcBef>
        <a:spcPct val="0"/>
      </a:spcBef>
      <a:spcAft>
        <a:spcPct val="0"/>
      </a:spcAft>
      <a:defRPr sz="4000" kern="1200">
        <a:solidFill>
          <a:schemeClr val="tx1"/>
        </a:solidFill>
        <a:latin typeface="Arial" panose="020B0604020202020204" pitchFamily="34" charset="0"/>
        <a:ea typeface="宋体" panose="02010600030101010101" pitchFamily="2" charset="-122"/>
        <a:cs typeface="Arial" panose="020B0604020202020204" pitchFamily="34" charset="0"/>
      </a:defRPr>
    </a:lvl2pPr>
    <a:lvl3pPr marL="914400" algn="l" rtl="0" fontAlgn="base">
      <a:spcBef>
        <a:spcPct val="0"/>
      </a:spcBef>
      <a:spcAft>
        <a:spcPct val="0"/>
      </a:spcAft>
      <a:defRPr sz="4000" kern="1200">
        <a:solidFill>
          <a:schemeClr val="tx1"/>
        </a:solidFill>
        <a:latin typeface="Arial" panose="020B0604020202020204" pitchFamily="34" charset="0"/>
        <a:ea typeface="宋体" panose="02010600030101010101" pitchFamily="2" charset="-122"/>
        <a:cs typeface="Arial" panose="020B0604020202020204" pitchFamily="34" charset="0"/>
      </a:defRPr>
    </a:lvl3pPr>
    <a:lvl4pPr marL="1371600" algn="l" rtl="0" fontAlgn="base">
      <a:spcBef>
        <a:spcPct val="0"/>
      </a:spcBef>
      <a:spcAft>
        <a:spcPct val="0"/>
      </a:spcAft>
      <a:defRPr sz="4000" kern="1200">
        <a:solidFill>
          <a:schemeClr val="tx1"/>
        </a:solidFill>
        <a:latin typeface="Arial" panose="020B0604020202020204" pitchFamily="34" charset="0"/>
        <a:ea typeface="宋体" panose="02010600030101010101" pitchFamily="2" charset="-122"/>
        <a:cs typeface="Arial" panose="020B0604020202020204" pitchFamily="34" charset="0"/>
      </a:defRPr>
    </a:lvl4pPr>
    <a:lvl5pPr marL="1828800" algn="l" rtl="0" fontAlgn="base">
      <a:spcBef>
        <a:spcPct val="0"/>
      </a:spcBef>
      <a:spcAft>
        <a:spcPct val="0"/>
      </a:spcAft>
      <a:defRPr sz="4000" kern="1200">
        <a:solidFill>
          <a:schemeClr val="tx1"/>
        </a:solidFill>
        <a:latin typeface="Arial" panose="020B0604020202020204" pitchFamily="34" charset="0"/>
        <a:ea typeface="宋体" panose="02010600030101010101" pitchFamily="2" charset="-122"/>
        <a:cs typeface="Arial" panose="020B0604020202020204" pitchFamily="34" charset="0"/>
      </a:defRPr>
    </a:lvl5pPr>
    <a:lvl6pPr marL="2286000" algn="l" defTabSz="914400" rtl="0" eaLnBrk="1" latinLnBrk="0" hangingPunct="1">
      <a:defRPr sz="4000" kern="1200">
        <a:solidFill>
          <a:schemeClr val="tx1"/>
        </a:solidFill>
        <a:latin typeface="Arial" panose="020B0604020202020204" pitchFamily="34" charset="0"/>
        <a:ea typeface="宋体" panose="02010600030101010101" pitchFamily="2" charset="-122"/>
        <a:cs typeface="Arial" panose="020B0604020202020204" pitchFamily="34" charset="0"/>
      </a:defRPr>
    </a:lvl6pPr>
    <a:lvl7pPr marL="2743200" algn="l" defTabSz="914400" rtl="0" eaLnBrk="1" latinLnBrk="0" hangingPunct="1">
      <a:defRPr sz="4000" kern="1200">
        <a:solidFill>
          <a:schemeClr val="tx1"/>
        </a:solidFill>
        <a:latin typeface="Arial" panose="020B0604020202020204" pitchFamily="34" charset="0"/>
        <a:ea typeface="宋体" panose="02010600030101010101" pitchFamily="2" charset="-122"/>
        <a:cs typeface="Arial" panose="020B0604020202020204" pitchFamily="34" charset="0"/>
      </a:defRPr>
    </a:lvl7pPr>
    <a:lvl8pPr marL="3200400" algn="l" defTabSz="914400" rtl="0" eaLnBrk="1" latinLnBrk="0" hangingPunct="1">
      <a:defRPr sz="4000" kern="1200">
        <a:solidFill>
          <a:schemeClr val="tx1"/>
        </a:solidFill>
        <a:latin typeface="Arial" panose="020B0604020202020204" pitchFamily="34" charset="0"/>
        <a:ea typeface="宋体" panose="02010600030101010101" pitchFamily="2" charset="-122"/>
        <a:cs typeface="Arial" panose="020B0604020202020204" pitchFamily="34" charset="0"/>
      </a:defRPr>
    </a:lvl8pPr>
    <a:lvl9pPr marL="3657600" algn="l" defTabSz="914400" rtl="0" eaLnBrk="1" latinLnBrk="0" hangingPunct="1">
      <a:defRPr sz="4000" kern="1200">
        <a:solidFill>
          <a:schemeClr val="tx1"/>
        </a:solidFill>
        <a:latin typeface="Arial" panose="020B0604020202020204" pitchFamily="34" charset="0"/>
        <a:ea typeface="宋体" panose="02010600030101010101" pitchFamily="2" charset="-122"/>
        <a:cs typeface="Arial" panose="020B0604020202020204" pitchFamily="34" charset="0"/>
      </a:defRPr>
    </a:lvl9pPr>
  </p:defaultTextStyle>
  <p:extLst>
    <p:ext uri="{EFAFB233-063F-42B5-8137-9DF3F51BA10A}">
      <p15:sldGuideLst xmlns:p15="http://schemas.microsoft.com/office/powerpoint/2012/main">
        <p15:guide id="1" orient="horz" pos="3191">
          <p15:clr>
            <a:srgbClr val="A4A3A4"/>
          </p15:clr>
        </p15:guide>
        <p15:guide id="2" pos="2504">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Hedy" initials="H" lastIdx="1" clrIdx="0"/>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808080"/>
    <a:srgbClr val="FF6600"/>
    <a:srgbClr val="FF7C80"/>
    <a:srgbClr val="0000CC"/>
    <a:srgbClr val="FF5050"/>
    <a:srgbClr val="333333"/>
    <a:srgbClr val="DDDDDD"/>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CB90F88-AA50-4E19-B503-8EE4495D3FE6}" v="11" dt="2023-12-24T16:33:51.581"/>
  </p1510:revLst>
</p1510:revInfo>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无样式，网格型">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987" autoAdjust="0"/>
    <p:restoredTop sz="99379" autoAdjust="0"/>
  </p:normalViewPr>
  <p:slideViewPr>
    <p:cSldViewPr>
      <p:cViewPr varScale="1">
        <p:scale>
          <a:sx n="78" d="100"/>
          <a:sy n="78" d="100"/>
        </p:scale>
        <p:origin x="2256" y="150"/>
      </p:cViewPr>
      <p:guideLst>
        <p:guide orient="horz" pos="3191"/>
        <p:guide pos="2504"/>
      </p:guideLst>
    </p:cSldViewPr>
  </p:slideViewPr>
  <p:notesTextViewPr>
    <p:cViewPr>
      <p:scale>
        <a:sx n="100" d="100"/>
        <a:sy n="100" d="100"/>
      </p:scale>
      <p:origin x="0" y="0"/>
    </p:cViewPr>
  </p:notesTextViewPr>
  <p:notesViewPr>
    <p:cSldViewPr>
      <p:cViewPr varScale="1">
        <p:scale>
          <a:sx n="82" d="100"/>
          <a:sy n="82" d="100"/>
        </p:scale>
        <p:origin x="3840" y="108"/>
      </p:cViewPr>
      <p:guideLst/>
    </p:cSldViewPr>
  </p:notesViewPr>
  <p:gridSpacing cx="72008" cy="72008"/>
</p:viewPr>
</file>

<file path=ppt/_rels/presentation.xml.rels>&#65279;<?xml version="1.0" encoding="utf-8"?><Relationships xmlns="http://schemas.openxmlformats.org/package/2006/relationships"><Relationship Type="http://schemas.openxmlformats.org/officeDocument/2006/relationships/theme" Target="theme/theme1.xml" Id="rId8" /><Relationship Type="http://schemas.openxmlformats.org/officeDocument/2006/relationships/notesMaster" Target="notesMasters/notesMaster1.xml" Id="rId3" /><Relationship Type="http://schemas.openxmlformats.org/officeDocument/2006/relationships/viewProps" Target="viewProps.xml" Id="rId7" /><Relationship Type="http://schemas.openxmlformats.org/officeDocument/2006/relationships/slide" Target="slides/slide1.xml" Id="rId2" /><Relationship Type="http://schemas.openxmlformats.org/officeDocument/2006/relationships/slideMaster" Target="slideMasters/slideMaster1.xml" Id="rId1" /><Relationship Type="http://schemas.openxmlformats.org/officeDocument/2006/relationships/presProps" Target="presProps.xml" Id="rId6" /><Relationship Type="http://schemas.openxmlformats.org/officeDocument/2006/relationships/commentAuthors" Target="commentAuthors.xml" Id="rId5" /><Relationship Type="http://schemas.microsoft.com/office/2015/10/relationships/revisionInfo" Target="revisionInfo.xml" Id="rId10" /><Relationship Type="http://schemas.openxmlformats.org/officeDocument/2006/relationships/handoutMaster" Target="handoutMasters/handoutMaster1.xml" Id="rId4" /><Relationship Type="http://schemas.openxmlformats.org/officeDocument/2006/relationships/tableStyles" Target="tableStyles.xml" Id="rId9" /><Relationship Type="http://schemas.openxmlformats.org/officeDocument/2006/relationships/slide" Target="/ppt/slides/slide2.xml" Id="R7d88596fead2440e" /><Relationship Type="http://schemas.openxmlformats.org/officeDocument/2006/relationships/slide" Target="/ppt/slides/slide3.xml" Id="R8c351ac5ff91471f" /><Relationship Type="http://schemas.openxmlformats.org/officeDocument/2006/relationships/slide" Target="/ppt/slides/slide4.xml" Id="Re76d6e534102422b" /><Relationship Type="http://schemas.openxmlformats.org/officeDocument/2006/relationships/slide" Target="/ppt/slides/slide5.xml" Id="R0bf5132fcbee4e53" /><Relationship Type="http://schemas.openxmlformats.org/officeDocument/2006/relationships/slide" Target="/ppt/slides/slide6.xml" Id="Rbb763e9cefc24c9e" /><Relationship Type="http://schemas.openxmlformats.org/officeDocument/2006/relationships/slide" Target="/ppt/slides/slide7.xml" Id="R1887628d56414209" /><Relationship Type="http://schemas.openxmlformats.org/officeDocument/2006/relationships/slide" Target="/ppt/slides/slide8.xml" Id="Rea5704a8f3734659" /><Relationship Type="http://schemas.openxmlformats.org/officeDocument/2006/relationships/slide" Target="/ppt/slides/slide9.xml" Id="R44a6763c067844e7" /><Relationship Type="http://schemas.openxmlformats.org/officeDocument/2006/relationships/slide" Target="/ppt/slides/slide10.xml" Id="Rc051adfdbcd44505" /><Relationship Type="http://schemas.openxmlformats.org/officeDocument/2006/relationships/slide" Target="/ppt/slides/slide11.xml" Id="Rd651df9464254e5d" /><Relationship Type="http://schemas.openxmlformats.org/officeDocument/2006/relationships/slide" Target="/ppt/slides/slide12.xml" Id="R6d7dd5474cfb4f70" /></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3169920" cy="481727"/>
          </a:xfrm>
          <a:prstGeom prst="rect">
            <a:avLst/>
          </a:prstGeom>
        </p:spPr>
        <p:txBody>
          <a:bodyPr vert="horz" lIns="91440" tIns="45720" rIns="91440" bIns="45720" rtlCol="0"/>
          <a:lstStyle>
            <a:lvl1pPr algn="l">
              <a:defRPr sz="1260"/>
            </a:lvl1pPr>
          </a:lstStyle>
          <a:p>
            <a:endParaRPr lang="zh-CN" altLang="en-US"/>
          </a:p>
        </p:txBody>
      </p:sp>
      <p:sp>
        <p:nvSpPr>
          <p:cNvPr id="3" name="日期占位符 2"/>
          <p:cNvSpPr>
            <a:spLocks noGrp="1"/>
          </p:cNvSpPr>
          <p:nvPr>
            <p:ph type="dt" sz="quarter" idx="1"/>
          </p:nvPr>
        </p:nvSpPr>
        <p:spPr>
          <a:xfrm>
            <a:off x="4143587" y="0"/>
            <a:ext cx="3169920" cy="481727"/>
          </a:xfrm>
          <a:prstGeom prst="rect">
            <a:avLst/>
          </a:prstGeom>
        </p:spPr>
        <p:txBody>
          <a:bodyPr vert="horz" lIns="91440" tIns="45720" rIns="91440" bIns="45720" rtlCol="0"/>
          <a:lstStyle>
            <a:lvl1pPr algn="r">
              <a:defRPr sz="1260"/>
            </a:lvl1pPr>
          </a:lstStyle>
          <a:p>
            <a:fld id="{0F9B84EA-7D68-4D60-9CB1-D50884785D1C}" type="datetimeFigureOut">
              <a:rPr lang="zh-CN" altLang="en-US" smtClean="0"/>
              <a:pPr/>
              <a:t>2025/11/5</a:t>
            </a:fld>
            <a:endParaRPr lang="zh-CN" altLang="en-US"/>
          </a:p>
        </p:txBody>
      </p:sp>
      <p:sp>
        <p:nvSpPr>
          <p:cNvPr id="4" name="页脚占位符 3"/>
          <p:cNvSpPr>
            <a:spLocks noGrp="1"/>
          </p:cNvSpPr>
          <p:nvPr>
            <p:ph type="ftr" sz="quarter" idx="2"/>
          </p:nvPr>
        </p:nvSpPr>
        <p:spPr>
          <a:xfrm>
            <a:off x="0" y="9119474"/>
            <a:ext cx="3169920" cy="481726"/>
          </a:xfrm>
          <a:prstGeom prst="rect">
            <a:avLst/>
          </a:prstGeom>
        </p:spPr>
        <p:txBody>
          <a:bodyPr vert="horz" lIns="91440" tIns="45720" rIns="91440" bIns="45720" rtlCol="0" anchor="b"/>
          <a:lstStyle>
            <a:lvl1pPr algn="l">
              <a:defRPr sz="1260"/>
            </a:lvl1pPr>
          </a:lstStyle>
          <a:p>
            <a:endParaRPr lang="zh-CN" altLang="en-US"/>
          </a:p>
        </p:txBody>
      </p:sp>
      <p:sp>
        <p:nvSpPr>
          <p:cNvPr id="5" name="灯片编号占位符 4"/>
          <p:cNvSpPr>
            <a:spLocks noGrp="1"/>
          </p:cNvSpPr>
          <p:nvPr>
            <p:ph type="sldNum" sz="quarter" idx="3"/>
          </p:nvPr>
        </p:nvSpPr>
        <p:spPr>
          <a:xfrm>
            <a:off x="4143587" y="9119474"/>
            <a:ext cx="3169920" cy="481726"/>
          </a:xfrm>
          <a:prstGeom prst="rect">
            <a:avLst/>
          </a:prstGeom>
        </p:spPr>
        <p:txBody>
          <a:bodyPr vert="horz" lIns="91440" tIns="45720" rIns="91440" bIns="45720" rtlCol="0" anchor="b"/>
          <a:lstStyle>
            <a:lvl1pPr algn="r">
              <a:defRPr sz="1260"/>
            </a:lvl1pPr>
          </a:lstStyle>
          <a:p>
            <a:fld id="{8D4E0FC9-F1F8-4FAE-9988-3BA365CFD46F}" type="slidenum">
              <a:rPr lang="zh-CN" altLang="en-US" smtClean="0"/>
              <a:pPr/>
              <a:t>‹#›</a:t>
            </a:fld>
            <a:endParaRPr lang="zh-CN" alt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170238" cy="479425"/>
          </a:xfrm>
          <a:prstGeom prst="rect">
            <a:avLst/>
          </a:prstGeom>
        </p:spPr>
        <p:txBody>
          <a:bodyPr vert="horz" wrap="square" lIns="91440" tIns="45720" rIns="91440" bIns="45720" numCol="1" anchor="t" anchorCtr="0" compatLnSpc="1"/>
          <a:lstStyle>
            <a:lvl1pPr>
              <a:defRPr sz="1200"/>
            </a:lvl1pPr>
          </a:lstStyle>
          <a:p>
            <a:endParaRPr lang="en-US" altLang="zh-CN" dirty="0"/>
          </a:p>
        </p:txBody>
      </p:sp>
      <p:sp>
        <p:nvSpPr>
          <p:cNvPr id="3" name="Date Placeholder 2"/>
          <p:cNvSpPr>
            <a:spLocks noGrp="1"/>
          </p:cNvSpPr>
          <p:nvPr>
            <p:ph type="dt" idx="1"/>
          </p:nvPr>
        </p:nvSpPr>
        <p:spPr>
          <a:xfrm>
            <a:off x="4143375" y="0"/>
            <a:ext cx="3170238" cy="479425"/>
          </a:xfrm>
          <a:prstGeom prst="rect">
            <a:avLst/>
          </a:prstGeom>
        </p:spPr>
        <p:txBody>
          <a:bodyPr vert="horz" wrap="square" lIns="91440" tIns="45720" rIns="91440" bIns="45720" numCol="1" anchor="t" anchorCtr="0" compatLnSpc="1"/>
          <a:lstStyle>
            <a:lvl1pPr algn="r">
              <a:defRPr sz="1200"/>
            </a:lvl1pPr>
          </a:lstStyle>
          <a:p>
            <a:fld id="{2BE6DBB6-2952-4A93-9974-C9B86C7988FE}" type="datetimeFigureOut">
              <a:rPr lang="en-US" altLang="zh-CN"/>
              <a:pPr/>
              <a:t>11/5/2025</a:t>
            </a:fld>
            <a:endParaRPr lang="en-US" altLang="zh-CN" dirty="0"/>
          </a:p>
        </p:txBody>
      </p:sp>
      <p:sp>
        <p:nvSpPr>
          <p:cNvPr id="4" name="Slide Image Placeholder 3"/>
          <p:cNvSpPr>
            <a:spLocks noGrp="1" noRot="1" noChangeAspect="1"/>
          </p:cNvSpPr>
          <p:nvPr>
            <p:ph type="sldImg" idx="2"/>
          </p:nvPr>
        </p:nvSpPr>
        <p:spPr>
          <a:xfrm>
            <a:off x="2266950" y="720725"/>
            <a:ext cx="2781300" cy="3600450"/>
          </a:xfrm>
          <a:prstGeom prst="rect">
            <a:avLst/>
          </a:prstGeom>
          <a:noFill/>
          <a:ln w="12700">
            <a:solidFill>
              <a:prstClr val="black"/>
            </a:solidFill>
          </a:ln>
        </p:spPr>
        <p:txBody>
          <a:bodyPr vert="horz" lIns="91440" tIns="45720" rIns="91440" bIns="45720" rtlCol="0" anchor="ctr"/>
          <a:lstStyle/>
          <a:p>
            <a:pPr lvl="0"/>
            <a:endParaRPr lang="en-US" noProof="0" dirty="0"/>
          </a:p>
        </p:txBody>
      </p:sp>
      <p:sp>
        <p:nvSpPr>
          <p:cNvPr id="5" name="Notes Placeholder 4"/>
          <p:cNvSpPr>
            <a:spLocks noGrp="1"/>
          </p:cNvSpPr>
          <p:nvPr>
            <p:ph type="body" sz="quarter" idx="3"/>
          </p:nvPr>
        </p:nvSpPr>
        <p:spPr>
          <a:xfrm>
            <a:off x="731838" y="4560888"/>
            <a:ext cx="5851525" cy="4319587"/>
          </a:xfrm>
          <a:prstGeom prst="rect">
            <a:avLst/>
          </a:prstGeom>
        </p:spPr>
        <p:txBody>
          <a:bodyPr vert="horz" lIns="91440" tIns="45720" rIns="91440" bIns="45720" rtlCol="0">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9120188"/>
            <a:ext cx="3170238" cy="479425"/>
          </a:xfrm>
          <a:prstGeom prst="rect">
            <a:avLst/>
          </a:prstGeom>
        </p:spPr>
        <p:txBody>
          <a:bodyPr vert="horz" wrap="square" lIns="91440" tIns="45720" rIns="91440" bIns="45720" numCol="1" anchor="b" anchorCtr="0" compatLnSpc="1"/>
          <a:lstStyle>
            <a:lvl1pPr>
              <a:defRPr sz="1200"/>
            </a:lvl1pPr>
          </a:lstStyle>
          <a:p>
            <a:endParaRPr lang="en-US" altLang="zh-CN" dirty="0"/>
          </a:p>
        </p:txBody>
      </p:sp>
      <p:sp>
        <p:nvSpPr>
          <p:cNvPr id="7" name="Slide Number Placeholder 6"/>
          <p:cNvSpPr>
            <a:spLocks noGrp="1"/>
          </p:cNvSpPr>
          <p:nvPr>
            <p:ph type="sldNum" sz="quarter" idx="5"/>
          </p:nvPr>
        </p:nvSpPr>
        <p:spPr>
          <a:xfrm>
            <a:off x="4143375" y="9120188"/>
            <a:ext cx="3170238" cy="479425"/>
          </a:xfrm>
          <a:prstGeom prst="rect">
            <a:avLst/>
          </a:prstGeom>
        </p:spPr>
        <p:txBody>
          <a:bodyPr vert="horz" wrap="square" lIns="91440" tIns="45720" rIns="91440" bIns="45720" numCol="1" anchor="b" anchorCtr="0" compatLnSpc="1"/>
          <a:lstStyle>
            <a:lvl1pPr algn="r">
              <a:defRPr sz="1200"/>
            </a:lvl1pPr>
          </a:lstStyle>
          <a:p>
            <a:fld id="{28EA8F4B-1E48-483E-9FAB-641264BAAF55}" type="slidenum">
              <a:rPr lang="en-US" altLang="zh-CN"/>
              <a:pPr/>
              <a:t>‹#›</a:t>
            </a:fld>
            <a:endParaRPr lang="en-US" altLang="zh-CN" dirty="0"/>
          </a:p>
        </p:txBody>
      </p:sp>
    </p:spTree>
    <p:extLst>
      <p:ext uri="{BB962C8B-B14F-4D97-AF65-F5344CB8AC3E}">
        <p14:creationId xmlns:p14="http://schemas.microsoft.com/office/powerpoint/2010/main" val="3278890318"/>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Slide Image Placeholder 1"/>
          <p:cNvSpPr>
            <a:spLocks noGrp="1" noRot="1" noChangeAspect="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6147"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lstStyle/>
          <a:p>
            <a:pPr eaLnBrk="1" hangingPunct="1">
              <a:spcBef>
                <a:spcPct val="0"/>
              </a:spcBef>
            </a:pPr>
            <a:endParaRPr lang="en-US" altLang="zh-CN" dirty="0"/>
          </a:p>
        </p:txBody>
      </p:sp>
      <p:sp>
        <p:nvSpPr>
          <p:cNvPr id="5124" name="Slide Number Placeholder 3"/>
          <p:cNvSpPr>
            <a:spLocks noGrp="1"/>
          </p:cNvSpPr>
          <p:nvPr>
            <p:ph type="sldNum" sz="quarter" idx="5"/>
          </p:nvPr>
        </p:nvSpPr>
        <p:spPr bwMode="auto">
          <a:ln>
            <a:miter lim="800000"/>
          </a:ln>
        </p:spPr>
        <p:txBody>
          <a:bodyPr/>
          <a:lstStyle>
            <a:lvl1pPr eaLnBrk="0" hangingPunct="0">
              <a:defRPr sz="4000">
                <a:solidFill>
                  <a:schemeClr val="tx1"/>
                </a:solidFill>
                <a:latin typeface="Arial" panose="020B0604020202020204" pitchFamily="34" charset="0"/>
                <a:cs typeface="Arial" panose="020B0604020202020204" pitchFamily="34" charset="0"/>
              </a:defRPr>
            </a:lvl1pPr>
            <a:lvl2pPr marL="742950" indent="-285750" eaLnBrk="0" hangingPunct="0">
              <a:defRPr sz="4000">
                <a:solidFill>
                  <a:schemeClr val="tx1"/>
                </a:solidFill>
                <a:latin typeface="Arial" panose="020B0604020202020204" pitchFamily="34" charset="0"/>
                <a:cs typeface="Arial" panose="020B0604020202020204" pitchFamily="34" charset="0"/>
              </a:defRPr>
            </a:lvl2pPr>
            <a:lvl3pPr marL="1143000" indent="-228600" eaLnBrk="0" hangingPunct="0">
              <a:defRPr sz="4000">
                <a:solidFill>
                  <a:schemeClr val="tx1"/>
                </a:solidFill>
                <a:latin typeface="Arial" panose="020B0604020202020204" pitchFamily="34" charset="0"/>
                <a:cs typeface="Arial" panose="020B0604020202020204" pitchFamily="34" charset="0"/>
              </a:defRPr>
            </a:lvl3pPr>
            <a:lvl4pPr marL="1600200" indent="-228600" eaLnBrk="0" hangingPunct="0">
              <a:defRPr sz="4000">
                <a:solidFill>
                  <a:schemeClr val="tx1"/>
                </a:solidFill>
                <a:latin typeface="Arial" panose="020B0604020202020204" pitchFamily="34" charset="0"/>
                <a:cs typeface="Arial" panose="020B0604020202020204" pitchFamily="34" charset="0"/>
              </a:defRPr>
            </a:lvl4pPr>
            <a:lvl5pPr marL="2057400" indent="-228600" eaLnBrk="0" hangingPunct="0">
              <a:defRPr sz="4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4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4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4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4000">
                <a:solidFill>
                  <a:schemeClr val="tx1"/>
                </a:solidFill>
                <a:latin typeface="Arial" panose="020B0604020202020204" pitchFamily="34" charset="0"/>
                <a:cs typeface="Arial" panose="020B0604020202020204" pitchFamily="34" charset="0"/>
              </a:defRPr>
            </a:lvl9pPr>
          </a:lstStyle>
          <a:p>
            <a:pPr eaLnBrk="1" hangingPunct="1"/>
            <a:fld id="{AEBAB1FC-9044-441D-93D2-B0FFDAF5C737}" type="slidenum">
              <a:rPr lang="en-US" altLang="zh-CN" sz="1200"/>
              <a:pPr eaLnBrk="1" hangingPunct="1"/>
              <a:t>1</a:t>
            </a:fld>
            <a:endParaRPr lang="en-US" altLang="zh-CN" sz="1200" dirty="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14="http://schemas.microsoft.com/office/drawing/2010/main" xmlns:a16="http://schemas.microsoft.com/office/drawing/2014/main"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41" name="Line 17"/>
          <p:cNvSpPr>
            <a:spLocks noChangeShapeType="1"/>
          </p:cNvSpPr>
          <p:nvPr userDrawn="1"/>
        </p:nvSpPr>
        <p:spPr bwMode="auto">
          <a:xfrm>
            <a:off x="3959002" y="768149"/>
            <a:ext cx="3212505" cy="0"/>
          </a:xfrm>
          <a:prstGeom prst="line">
            <a:avLst/>
          </a:prstGeom>
          <a:noFill/>
          <a:ln w="38100">
            <a:solidFill>
              <a:srgbClr val="4D4D4D"/>
            </a:solidFill>
            <a:round/>
          </a:ln>
          <a:effectLst/>
        </p:spPr>
        <p:txBody>
          <a:bodyPr/>
          <a:lstStyle/>
          <a:p>
            <a:pPr>
              <a:defRPr/>
            </a:pPr>
            <a:endParaRPr lang="en-US" b="1" i="0" dirty="0">
              <a:solidFill>
                <a:schemeClr val="tx2">
                  <a:lumMod val="75000"/>
                  <a:lumOff val="25000"/>
                </a:schemeClr>
              </a:solidFill>
              <a:latin typeface="Arial Narrow" panose="020B0606020202030204" pitchFamily="34" charset="0"/>
              <a:ea typeface="+mn-ea"/>
              <a:cs typeface="+mn-cs"/>
            </a:endParaRPr>
          </a:p>
        </p:txBody>
      </p:sp>
      <p:sp>
        <p:nvSpPr>
          <p:cNvPr id="1043" name="Line 19"/>
          <p:cNvSpPr>
            <a:spLocks noChangeShapeType="1"/>
          </p:cNvSpPr>
          <p:nvPr userDrawn="1"/>
        </p:nvSpPr>
        <p:spPr bwMode="auto">
          <a:xfrm>
            <a:off x="0" y="9639300"/>
            <a:ext cx="7773988" cy="0"/>
          </a:xfrm>
          <a:prstGeom prst="line">
            <a:avLst/>
          </a:prstGeom>
          <a:noFill/>
          <a:ln w="19050">
            <a:solidFill>
              <a:srgbClr val="333333"/>
            </a:solidFill>
            <a:round/>
          </a:ln>
          <a:effectLst/>
        </p:spPr>
        <p:txBody>
          <a:bodyPr/>
          <a:lstStyle/>
          <a:p>
            <a:pPr>
              <a:defRPr/>
            </a:pPr>
            <a:endParaRPr lang="en-US" dirty="0">
              <a:latin typeface="Arial Narrow" panose="020B0606020202030204" pitchFamily="34" charset="0"/>
              <a:ea typeface="+mn-ea"/>
              <a:cs typeface="+mn-cs"/>
            </a:endParaRPr>
          </a:p>
        </p:txBody>
      </p:sp>
      <p:sp>
        <p:nvSpPr>
          <p:cNvPr id="2" name="Rectangle 20"/>
          <p:cNvSpPr>
            <a:spLocks noChangeArrowheads="1"/>
          </p:cNvSpPr>
          <p:nvPr userDrawn="1"/>
        </p:nvSpPr>
        <p:spPr bwMode="auto">
          <a:xfrm>
            <a:off x="72529" y="9638506"/>
            <a:ext cx="5254625" cy="414338"/>
          </a:xfrm>
          <a:prstGeom prst="rect">
            <a:avLst/>
          </a:prstGeom>
          <a:noFill/>
          <a:ln w="9525">
            <a:noFill/>
            <a:miter lim="800000"/>
          </a:ln>
          <a:effectLst/>
        </p:spPr>
        <p:txBody>
          <a:bodyPr lIns="107826" tIns="53913" rIns="107826" bIns="53913">
            <a:spAutoFit/>
          </a:bodyPr>
          <a:lstStyle/>
          <a:p>
            <a:pPr algn="l" defTabSz="1077595">
              <a:spcBef>
                <a:spcPct val="50000"/>
              </a:spcBef>
              <a:defRPr/>
            </a:pPr>
            <a:r>
              <a:rPr kumimoji="1" lang="en-CA" altLang="zh-CN" sz="800" b="1" dirty="0">
                <a:solidFill>
                  <a:srgbClr val="333333"/>
                </a:solidFill>
                <a:latin typeface="Arial Narrow" panose="020B0606020202030204" pitchFamily="34" charset="0"/>
                <a:ea typeface="华文琥珀" panose="02010800040101010101" pitchFamily="2" charset="-122"/>
                <a:cs typeface="+mn-cs"/>
              </a:rPr>
              <a:t>MILLER MMIC </a:t>
            </a:r>
            <a:r>
              <a:rPr kumimoji="1" lang="en-US" altLang="zh-CN" sz="800" b="1" dirty="0">
                <a:solidFill>
                  <a:srgbClr val="333333"/>
                </a:solidFill>
                <a:latin typeface="Arial Narrow" panose="020B0606020202030204" pitchFamily="34" charset="0"/>
                <a:ea typeface="华文琥珀" panose="02010800040101010101" pitchFamily="2" charset="-122"/>
                <a:cs typeface="+mn-cs"/>
              </a:rPr>
              <a:t>INC</a:t>
            </a:r>
            <a:r>
              <a:rPr kumimoji="1" lang="en-CA" altLang="zh-CN" sz="800" b="1" dirty="0">
                <a:solidFill>
                  <a:srgbClr val="333333"/>
                </a:solidFill>
                <a:latin typeface="Arial Narrow" panose="020B0606020202030204" pitchFamily="34" charset="0"/>
                <a:ea typeface="华文琥珀" panose="02010800040101010101" pitchFamily="2" charset="-122"/>
                <a:cs typeface="+mn-cs"/>
              </a:rPr>
              <a:t>.            www.millermmic.com   </a:t>
            </a:r>
          </a:p>
          <a:p>
            <a:pPr algn="l" defTabSz="1077595">
              <a:spcBef>
                <a:spcPct val="50000"/>
              </a:spcBef>
              <a:defRPr/>
            </a:pPr>
            <a:r>
              <a:rPr kumimoji="1" lang="en-CA" altLang="zh-CN" sz="800" b="1" dirty="0">
                <a:solidFill>
                  <a:srgbClr val="333333"/>
                </a:solidFill>
                <a:latin typeface="Arial Narrow" panose="020B0606020202030204" pitchFamily="34" charset="0"/>
                <a:ea typeface="华文琥珀" panose="02010800040101010101" pitchFamily="2" charset="-122"/>
                <a:cs typeface="+mn-cs"/>
              </a:rPr>
              <a:t>Sales: sales@millermmic.com       </a:t>
            </a:r>
          </a:p>
        </p:txBody>
      </p:sp>
      <p:pic>
        <p:nvPicPr>
          <p:cNvPr id="4" name="Picture 3"/>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502618" y="311418"/>
            <a:ext cx="3370299" cy="830144"/>
          </a:xfrm>
          <a:prstGeom prst="rect">
            <a:avLst/>
          </a:prstGeom>
        </p:spPr>
      </p:pic>
      <p:sp>
        <p:nvSpPr>
          <p:cNvPr id="15" name="TextBox 14"/>
          <p:cNvSpPr txBox="1"/>
          <p:nvPr userDrawn="1"/>
        </p:nvSpPr>
        <p:spPr>
          <a:xfrm>
            <a:off x="4001935" y="805490"/>
            <a:ext cx="740459" cy="276999"/>
          </a:xfrm>
          <a:prstGeom prst="rect">
            <a:avLst/>
          </a:prstGeom>
          <a:noFill/>
        </p:spPr>
        <p:txBody>
          <a:bodyPr wrap="none" rtlCol="0">
            <a:spAutoFit/>
          </a:bodyPr>
          <a:lstStyle/>
          <a:p>
            <a:r>
              <a:rPr lang="en-US" sz="1200" b="1" i="1" u="none" strike="noStrike" kern="1200" baseline="0" dirty="0">
                <a:solidFill>
                  <a:schemeClr val="tx2">
                    <a:lumMod val="75000"/>
                    <a:lumOff val="25000"/>
                  </a:schemeClr>
                </a:solidFill>
                <a:latin typeface="Arial Narrow" panose="020B0606020202030204" pitchFamily="34" charset="0"/>
                <a:ea typeface="宋体" panose="02010600030101010101" pitchFamily="2" charset="-122"/>
                <a:cs typeface="Arial" panose="020B0604020202020204" pitchFamily="34" charset="0"/>
              </a:rPr>
              <a:t>V1.0.0</a:t>
            </a:r>
            <a:endParaRPr lang="en-US" sz="1200" b="1" i="1" dirty="0">
              <a:solidFill>
                <a:schemeClr val="tx2">
                  <a:lumMod val="75000"/>
                  <a:lumOff val="25000"/>
                </a:schemeClr>
              </a:solidFill>
              <a:latin typeface="Arial Narrow" panose="020B0606020202030204" pitchFamily="34" charset="0"/>
            </a:endParaRPr>
          </a:p>
        </p:txBody>
      </p:sp>
      <p:sp>
        <p:nvSpPr>
          <p:cNvPr id="7" name="Rectangle 6"/>
          <p:cNvSpPr/>
          <p:nvPr userDrawn="1"/>
        </p:nvSpPr>
        <p:spPr>
          <a:xfrm>
            <a:off x="7171507" y="0"/>
            <a:ext cx="602481" cy="10059988"/>
          </a:xfrm>
          <a:prstGeom prst="rect">
            <a:avLst/>
          </a:prstGeom>
          <a:solidFill>
            <a:srgbClr val="808080"/>
          </a:solidFill>
          <a:ln>
            <a:solidFill>
              <a:srgbClr val="80808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Rectangle 10"/>
          <p:cNvSpPr/>
          <p:nvPr userDrawn="1"/>
        </p:nvSpPr>
        <p:spPr>
          <a:xfrm>
            <a:off x="7171506" y="1300169"/>
            <a:ext cx="602481" cy="1080118"/>
          </a:xfrm>
          <a:prstGeom prst="rect">
            <a:avLst/>
          </a:prstGeom>
          <a:solidFill>
            <a:srgbClr val="FF6600"/>
          </a:solidFill>
          <a:ln>
            <a:solidFill>
              <a:srgbClr val="FF66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TextBox 5">
            <a:extLst>
              <a:ext uri="{FF2B5EF4-FFF2-40B4-BE49-F238E27FC236}">
                <a16:creationId xmlns:a16="http://schemas.microsoft.com/office/drawing/2014/main" id="{17CA843A-ECB7-4747-AFA5-A105BE94E8FA}"/>
              </a:ext>
            </a:extLst>
          </p:cNvPr>
          <p:cNvSpPr txBox="1"/>
          <p:nvPr userDrawn="1"/>
        </p:nvSpPr>
        <p:spPr>
          <a:xfrm>
            <a:off x="4247034" y="821668"/>
            <a:ext cx="2922859" cy="461665"/>
          </a:xfrm>
          <a:prstGeom prst="rect">
            <a:avLst/>
          </a:prstGeom>
          <a:noFill/>
        </p:spPr>
        <p:txBody>
          <a:bodyPr wrap="square" rtlCol="0">
            <a:spAutoFit/>
          </a:bodyPr>
          <a:lstStyle/>
          <a:p>
            <a:pPr algn="r"/>
            <a:r>
              <a:rPr lang="en-US" altLang="zh-CN" sz="1200" b="1" i="0" u="none" strike="noStrike" kern="1200" baseline="0" dirty="0">
                <a:solidFill>
                  <a:schemeClr val="tx2">
                    <a:lumMod val="75000"/>
                    <a:lumOff val="25000"/>
                  </a:schemeClr>
                </a:solidFill>
                <a:latin typeface="+mj-lt"/>
                <a:ea typeface="宋体" panose="02010600030101010101" pitchFamily="2" charset="-122"/>
                <a:cs typeface="Arial" panose="020B0604020202020204" pitchFamily="34" charset="0"/>
              </a:rPr>
              <a:t>GaAs MMIC Low Noise Amplifier</a:t>
            </a:r>
          </a:p>
          <a:p>
            <a:pPr algn="r"/>
            <a:r>
              <a:rPr lang="en-US" sz="1200" b="1" i="0" u="none" strike="noStrike" kern="1200" baseline="0" dirty="0">
                <a:solidFill>
                  <a:schemeClr val="tx2">
                    <a:lumMod val="75000"/>
                    <a:lumOff val="25000"/>
                  </a:schemeClr>
                </a:solidFill>
                <a:latin typeface="+mj-lt"/>
                <a:ea typeface="宋体" panose="02010600030101010101" pitchFamily="2" charset="-122"/>
                <a:cs typeface="Arial" panose="020B0604020202020204" pitchFamily="34" charset="0"/>
              </a:rPr>
              <a:t>0-10GHz   GHz</a:t>
            </a:r>
          </a:p>
        </p:txBody>
      </p:sp>
      <p:sp>
        <p:nvSpPr>
          <p:cNvPr id="13" name="TextBox 7">
            <a:extLst>
              <a:ext uri="{FF2B5EF4-FFF2-40B4-BE49-F238E27FC236}">
                <a16:creationId xmlns:a16="http://schemas.microsoft.com/office/drawing/2014/main" id="{C8451278-89B4-4FDB-B066-F51FF5683522}"/>
              </a:ext>
            </a:extLst>
          </p:cNvPr>
          <p:cNvSpPr txBox="1"/>
          <p:nvPr userDrawn="1"/>
        </p:nvSpPr>
        <p:spPr>
          <a:xfrm rot="5400000">
            <a:off x="3636473" y="6047290"/>
            <a:ext cx="7672558" cy="338554"/>
          </a:xfrm>
          <a:prstGeom prst="rect">
            <a:avLst/>
          </a:prstGeom>
          <a:noFill/>
        </p:spPr>
        <p:txBody>
          <a:bodyPr wrap="square" rtlCol="0">
            <a:sp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lang="en-US" sz="1600" b="1" kern="1200" dirty="0">
                <a:solidFill>
                  <a:schemeClr val="bg1"/>
                </a:solidFill>
                <a:uFillTx/>
                <a:latin typeface="Arial" panose="020B0604020202020204" pitchFamily="34" charset="0"/>
                <a:ea typeface="宋体" panose="02010600030101010101" pitchFamily="2" charset="-122"/>
                <a:cs typeface="Arial" panose="020B0604020202020204" pitchFamily="34" charset="0"/>
                <a:sym typeface="+mn-ea"/>
              </a:rPr>
              <a:t>GaAs Low Noise Amplifier MMIC 45 – 90GHz</a:t>
            </a:r>
          </a:p>
        </p:txBody>
      </p:sp>
      <p:sp>
        <p:nvSpPr>
          <p:cNvPr id="3" name="文本框 2">
            <a:extLst>
              <a:ext uri="{FF2B5EF4-FFF2-40B4-BE49-F238E27FC236}">
                <a16:creationId xmlns:a16="http://schemas.microsoft.com/office/drawing/2014/main" id="{84142379-021F-4DC8-8132-36971645C2AF}"/>
              </a:ext>
            </a:extLst>
          </p:cNvPr>
          <p:cNvSpPr txBox="1"/>
          <p:nvPr userDrawn="1"/>
        </p:nvSpPr>
        <p:spPr>
          <a:xfrm>
            <a:off x="4895106" y="398817"/>
            <a:ext cx="2220023" cy="369332"/>
          </a:xfrm>
          <a:prstGeom prst="rect">
            <a:avLst/>
          </a:prstGeom>
          <a:noFill/>
        </p:spPr>
        <p:txBody>
          <a:bodyPr wrap="square" rtlCol="0">
            <a:spAutoFit/>
          </a:bodyPr>
          <a:lstStyle/>
          <a:p>
            <a:pPr algn="r"/>
            <a:r>
              <a:rPr lang="en-US" altLang="zh-CN" sz="1800" b="1" dirty="0"/>
              <a:t>     MML806</a:t>
            </a:r>
            <a:endParaRPr lang="zh-CN" altLang="en-US" sz="1800" b="1" dirty="0"/>
          </a:p>
        </p:txBody>
      </p:sp>
      <p:sp>
        <p:nvSpPr>
          <p:cNvPr id="6" name="文本框 21">
            <a:extLst>
              <a:ext uri="{FF2B5EF4-FFF2-40B4-BE49-F238E27FC236}">
                <a16:creationId xmlns:a16="http://schemas.microsoft.com/office/drawing/2014/main" id="{BC720A33-2175-40B5-A2F4-C422A0E480D5}"/>
              </a:ext>
            </a:extLst>
          </p:cNvPr>
          <p:cNvSpPr txBox="1"/>
          <p:nvPr userDrawn="1"/>
        </p:nvSpPr>
        <p:spPr>
          <a:xfrm>
            <a:off x="7277121" y="1293027"/>
            <a:ext cx="430887" cy="1080119"/>
          </a:xfrm>
          <a:prstGeom prst="rect">
            <a:avLst/>
          </a:prstGeom>
          <a:noFill/>
        </p:spPr>
        <p:txBody>
          <a:bodyPr vert="eaVert" wrap="square" rtlCol="0">
            <a:spAutoFit/>
          </a:bodyPr>
          <a:lstStyle/>
          <a:p>
            <a:pPr algn="ctr"/>
            <a:r>
              <a:rPr lang="en-US" altLang="zh-CN" sz="1600" b="1" dirty="0">
                <a:solidFill>
                  <a:schemeClr val="bg1">
                    <a:lumMod val="95000"/>
                  </a:schemeClr>
                </a:solidFill>
              </a:rPr>
              <a:t>MML806</a:t>
            </a:r>
            <a:endParaRPr lang="zh-CN" altLang="en-US" sz="1600" b="1" dirty="0">
              <a:solidFill>
                <a:schemeClr val="bg1">
                  <a:lumMod val="95000"/>
                </a:schemeClr>
              </a:solidFill>
            </a:endParaRPr>
          </a:p>
        </p:txBody>
      </p:sp>
    </p:spTree>
  </p:cSld>
  <p:clrMap bg1="lt1" tx1="dk1" bg2="lt2" tx2="dk2" accent1="accent1" accent2="accent2" accent3="accent3" accent4="accent4" accent5="accent5" accent6="accent6" hlink="hlink" folHlink="folHlink"/>
  <p:sldLayoutIdLst>
    <p:sldLayoutId id="2147483655" r:id="rId1"/>
  </p:sldLayoutIdLst>
  <p:txStyles>
    <p:title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panose="020B0604020202020204" pitchFamily="34" charset="0"/>
        </a:defRPr>
      </a:lvl2pPr>
      <a:lvl3pPr algn="ctr" rtl="0" eaLnBrk="0" fontAlgn="base" hangingPunct="0">
        <a:spcBef>
          <a:spcPct val="0"/>
        </a:spcBef>
        <a:spcAft>
          <a:spcPct val="0"/>
        </a:spcAft>
        <a:defRPr sz="4400">
          <a:solidFill>
            <a:schemeClr val="tx2"/>
          </a:solidFill>
          <a:latin typeface="Arial" panose="020B0604020202020204" pitchFamily="34" charset="0"/>
        </a:defRPr>
      </a:lvl3pPr>
      <a:lvl4pPr algn="ctr" rtl="0" eaLnBrk="0" fontAlgn="base" hangingPunct="0">
        <a:spcBef>
          <a:spcPct val="0"/>
        </a:spcBef>
        <a:spcAft>
          <a:spcPct val="0"/>
        </a:spcAft>
        <a:defRPr sz="4400">
          <a:solidFill>
            <a:schemeClr val="tx2"/>
          </a:solidFill>
          <a:latin typeface="Arial" panose="020B0604020202020204" pitchFamily="34" charset="0"/>
        </a:defRPr>
      </a:lvl4pPr>
      <a:lvl5pPr algn="ctr" rtl="0" eaLnBrk="0" fontAlgn="base" hangingPunct="0">
        <a:spcBef>
          <a:spcPct val="0"/>
        </a:spcBef>
        <a:spcAft>
          <a:spcPct val="0"/>
        </a:spcAft>
        <a:defRPr sz="4400">
          <a:solidFill>
            <a:schemeClr val="tx2"/>
          </a:solidFill>
          <a:latin typeface="Arial" panose="020B0604020202020204" pitchFamily="34" charset="0"/>
        </a:defRPr>
      </a:lvl5pPr>
      <a:lvl6pPr marL="457200" algn="ctr" rtl="0" fontAlgn="base">
        <a:spcBef>
          <a:spcPct val="0"/>
        </a:spcBef>
        <a:spcAft>
          <a:spcPct val="0"/>
        </a:spcAft>
        <a:defRPr sz="4400">
          <a:solidFill>
            <a:schemeClr val="tx2"/>
          </a:solidFill>
          <a:latin typeface="Arial" panose="020B0604020202020204" pitchFamily="34" charset="0"/>
        </a:defRPr>
      </a:lvl6pPr>
      <a:lvl7pPr marL="914400" algn="ctr" rtl="0" fontAlgn="base">
        <a:spcBef>
          <a:spcPct val="0"/>
        </a:spcBef>
        <a:spcAft>
          <a:spcPct val="0"/>
        </a:spcAft>
        <a:defRPr sz="4400">
          <a:solidFill>
            <a:schemeClr val="tx2"/>
          </a:solidFill>
          <a:latin typeface="Arial" panose="020B0604020202020204" pitchFamily="34" charset="0"/>
        </a:defRPr>
      </a:lvl7pPr>
      <a:lvl8pPr marL="1371600" algn="ctr" rtl="0" fontAlgn="base">
        <a:spcBef>
          <a:spcPct val="0"/>
        </a:spcBef>
        <a:spcAft>
          <a:spcPct val="0"/>
        </a:spcAft>
        <a:defRPr sz="4400">
          <a:solidFill>
            <a:schemeClr val="tx2"/>
          </a:solidFill>
          <a:latin typeface="Arial" panose="020B0604020202020204" pitchFamily="34" charset="0"/>
        </a:defRPr>
      </a:lvl8pPr>
      <a:lvl9pPr marL="1828800" algn="ctr" rtl="0" fontAlgn="base">
        <a:spcBef>
          <a:spcPct val="0"/>
        </a:spcBef>
        <a:spcAft>
          <a:spcPct val="0"/>
        </a:spcAft>
        <a:defRPr sz="4400">
          <a:solidFill>
            <a:schemeClr val="tx2"/>
          </a:solidFill>
          <a:latin typeface="Arial" panose="020B0604020202020204" pitchFamily="34" charset="0"/>
        </a:defRPr>
      </a:lvl9pPr>
    </p:titleStyle>
    <p:body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&#65279;<?xml version="1.0" encoding="utf-8"?><Relationships xmlns="http://schemas.openxmlformats.org/package/2006/relationships"><Relationship Type="http://schemas.openxmlformats.org/officeDocument/2006/relationships/notesSlide" Target="../notesSlides/notesSlide1.xml" Id="rId2" /><Relationship Type="http://schemas.openxmlformats.org/officeDocument/2006/relationships/slideLayout" Target="../slideLayouts/slideLayout1.xml" Id="rId1" /><Relationship Type="http://schemas.openxmlformats.org/officeDocument/2006/relationships/image" Target="/ppt/media/image2.jpg" Id="Rc2b90f80dbed4f3d"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501cfc9fa43048e4" /><Relationship Type="http://schemas.openxmlformats.org/officeDocument/2006/relationships/image" Target="/ppt/media/image3.jpg" Id="Rc0692c046b1f4cda" /><Relationship Type="http://schemas.openxmlformats.org/officeDocument/2006/relationships/image" Target="/ppt/media/image4.jpg" Id="R86c19d5ae98f4b2d" /><Relationship Type="http://schemas.openxmlformats.org/officeDocument/2006/relationships/image" Target="/ppt/media/image5.jpg" Id="R39298324b4e24351" /><Relationship Type="http://schemas.openxmlformats.org/officeDocument/2006/relationships/image" Target="/ppt/media/image6.jpg" Id="Rd4be2fd6c14f48ac" /><Relationship Type="http://schemas.openxmlformats.org/officeDocument/2006/relationships/image" Target="/ppt/media/image7.jpg" Id="R8ff9ede4fc924132" /><Relationship Type="http://schemas.openxmlformats.org/officeDocument/2006/relationships/image" Target="/ppt/media/image8.jpg" Id="R24b23123625b40b9"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031858f2b9d44a74" /><Relationship Type="http://schemas.openxmlformats.org/officeDocument/2006/relationships/image" Target="/ppt/media/image9.jpg" Id="Rf15dee3a0a6149ba" /><Relationship Type="http://schemas.openxmlformats.org/officeDocument/2006/relationships/image" Target="/ppt/media/image10.jpg" Id="R8c29d65eff4a4a97" /><Relationship Type="http://schemas.openxmlformats.org/officeDocument/2006/relationships/image" Target="/ppt/media/image11.jpg" Id="R20596bd6f4bd46fa" /><Relationship Type="http://schemas.openxmlformats.org/officeDocument/2006/relationships/image" Target="/ppt/media/image12.jpg" Id="R396f41873ef0438c" /><Relationship Type="http://schemas.openxmlformats.org/officeDocument/2006/relationships/image" Target="/ppt/media/image13.jpg" Id="R6fb66380e83f450a" /><Relationship Type="http://schemas.openxmlformats.org/officeDocument/2006/relationships/image" Target="/ppt/media/image14.jpg" Id="R9c2a698ffd6f45c4"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386ed96f3d9543f7" /><Relationship Type="http://schemas.openxmlformats.org/officeDocument/2006/relationships/image" Target="/ppt/media/image15.jpg" Id="R34776636c2db4fc1" /><Relationship Type="http://schemas.openxmlformats.org/officeDocument/2006/relationships/image" Target="/ppt/media/image16.jpg" Id="Re8f88e70848d4f4e" /><Relationship Type="http://schemas.openxmlformats.org/officeDocument/2006/relationships/image" Target="/ppt/media/image17.jpg" Id="Rcfe300253bee44d1" /><Relationship Type="http://schemas.openxmlformats.org/officeDocument/2006/relationships/image" Target="/ppt/media/image18.jpg" Id="R14e6e36723a14cb6" /><Relationship Type="http://schemas.openxmlformats.org/officeDocument/2006/relationships/image" Target="/ppt/media/image19.jpg" Id="R3283dad6a3cb4f48" /><Relationship Type="http://schemas.openxmlformats.org/officeDocument/2006/relationships/image" Target="/ppt/media/image20.jpg" Id="R4e90bb15dc1949e6"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50d143ff612e4219" /><Relationship Type="http://schemas.openxmlformats.org/officeDocument/2006/relationships/image" Target="/ppt/media/image21.jpg" Id="Rc3a68e7be1e54b06" /><Relationship Type="http://schemas.openxmlformats.org/officeDocument/2006/relationships/image" Target="/ppt/media/image22.jpg" Id="Rd14d3ae8a52e48c1" /><Relationship Type="http://schemas.openxmlformats.org/officeDocument/2006/relationships/image" Target="/ppt/media/image23.jpg" Id="R6561da4384764bc5" /><Relationship Type="http://schemas.openxmlformats.org/officeDocument/2006/relationships/image" Target="/ppt/media/image24.jpg" Id="R7ef82e6c18a34d55" /><Relationship Type="http://schemas.openxmlformats.org/officeDocument/2006/relationships/image" Target="/ppt/media/image25.jpg" Id="R3c86e24327d944a0" /><Relationship Type="http://schemas.openxmlformats.org/officeDocument/2006/relationships/image" Target="/ppt/media/image26.jpg" Id="R66a9ad71e3234174"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6ce77a5cd685469c" /><Relationship Type="http://schemas.openxmlformats.org/officeDocument/2006/relationships/image" Target="/ppt/media/image27.jpg" Id="Rce0785cdade84aa8" /><Relationship Type="http://schemas.openxmlformats.org/officeDocument/2006/relationships/image" Target="/ppt/media/image28.jpg" Id="R8e736f858cdc464a" /><Relationship Type="http://schemas.openxmlformats.org/officeDocument/2006/relationships/image" Target="/ppt/media/image29.jpg" Id="R9ec0d94a05164131" /><Relationship Type="http://schemas.openxmlformats.org/officeDocument/2006/relationships/image" Target="/ppt/media/image30.jpg" Id="R18fe985d41914e5c" /><Relationship Type="http://schemas.openxmlformats.org/officeDocument/2006/relationships/image" Target="/ppt/media/image31.jpg" Id="R23999b9052ff4f2b" /><Relationship Type="http://schemas.openxmlformats.org/officeDocument/2006/relationships/image" Target="/ppt/media/image32.jpg" Id="R0f3b10b9a1d349e0"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1289c048ed1f4bbb" /><Relationship Type="http://schemas.openxmlformats.org/officeDocument/2006/relationships/image" Target="/ppt/media/image33.jpg" Id="Rded085f6824c4a26" /><Relationship Type="http://schemas.openxmlformats.org/officeDocument/2006/relationships/image" Target="/ppt/media/image34.jpg" Id="Ra5faf90b884d4696" /><Relationship Type="http://schemas.openxmlformats.org/officeDocument/2006/relationships/image" Target="/ppt/media/image35.jpg" Id="Rcd008b95308a4995" /><Relationship Type="http://schemas.openxmlformats.org/officeDocument/2006/relationships/image" Target="/ppt/media/image36.jpg" Id="R2a684733e05e4972" /><Relationship Type="http://schemas.openxmlformats.org/officeDocument/2006/relationships/image" Target="/ppt/media/image37.jpg" Id="R48653e78bad44b0e" /><Relationship Type="http://schemas.openxmlformats.org/officeDocument/2006/relationships/image" Target="/ppt/media/image38.jpg" Id="R5a9e4040cbad4daf"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4e32784ffe1742c2" /><Relationship Type="http://schemas.openxmlformats.org/officeDocument/2006/relationships/image" Target="/ppt/media/image39.jpg" Id="R0f36f1caa0dd4328"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3189cfd4103348f0" /><Relationship Type="http://schemas.openxmlformats.org/officeDocument/2006/relationships/image" Target="/ppt/media/image40.jpg" Id="Rc8880ea8e57340a1"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f42ba37c66cf4ea3" /><Relationship Type="http://schemas.openxmlformats.org/officeDocument/2006/relationships/image" Target="/ppt/media/image41.jpg" Id="R9654fb90a21c41e5"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37945247e9e847f5" /><Relationship Type="http://schemas.openxmlformats.org/officeDocument/2006/relationships/image" Target="/ppt/media/image42.jpg" Id="R27e5ee40bf624f87"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9c42261b5c994f3f" /><Relationship Type="http://schemas.openxmlformats.org/officeDocument/2006/relationships/image" Target="/ppt/media/image43.jpg" Id="R23eb9cd7f24a4aaa" /></Relationships>
</file>

<file path=ppt/slides/slide1.xml><?xml version="1.0" encoding="utf-8"?>
<p:sld xmlns:a14="http://schemas.microsoft.com/office/drawing/2010/main" xmlns:a16="http://schemas.microsoft.com/office/drawing/2014/main"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2" name="Rectangle 2"/>
          <p:cNvSpPr>
            <a:spLocks noChangeArrowheads="1"/>
          </p:cNvSpPr>
          <p:nvPr/>
        </p:nvSpPr>
        <p:spPr bwMode="auto">
          <a:xfrm>
            <a:off x="0" y="-353377"/>
            <a:ext cx="309880" cy="7067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endParaRPr lang="zh-CN" altLang="en-US"/>
          </a:p>
        </p:txBody>
      </p:sp>
      <p:sp>
        <p:nvSpPr>
          <p:cNvPr id="1114" name="Rectangle 12"/>
          <p:cNvSpPr>
            <a:spLocks noChangeArrowheads="1"/>
          </p:cNvSpPr>
          <p:nvPr/>
        </p:nvSpPr>
        <p:spPr bwMode="auto">
          <a:xfrm>
            <a:off x="0" y="-353943"/>
            <a:ext cx="184731"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endParaRPr lang="zh-CN" altLang="en-US"/>
          </a:p>
        </p:txBody>
      </p:sp>
      <p:sp>
        <p:nvSpPr>
          <p:cNvPr id="2" name="Rectangle 1">
            <a:extLst>
              <a:ext uri="{FF2B5EF4-FFF2-40B4-BE49-F238E27FC236}">
                <a16:creationId xmlns:a16="http://schemas.microsoft.com/office/drawing/2014/main" id="{7A6A0DB3-D579-DC13-68C5-1671D71705F7}"/>
              </a:ext>
            </a:extLst>
          </p:cNvPr>
          <p:cNvSpPr/>
          <p:nvPr/>
        </p:nvSpPr>
        <p:spPr>
          <a:xfrm>
            <a:off x="5759202" y="3589834"/>
            <a:ext cx="504056" cy="216024"/>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p:cNvSpPr>
            <a:spLocks noGrp="1"/>
          </p:cNvSpPr>
          <p:nvPr/>
        </p:nvSpPr>
        <p:spPr>
          <a:xfrm>
            <a:off x="914400" y="914400"/>
            <a:ext cx="6000000" cy="1000000"/>
          </a:xfrm>
        </p:spPr>
        <p:txBody>
          <a:bodyPr/>
          <a:lstStyle/>
          <a:p>
            <a:endParaRPr/>
          </a:p>
        </p:txBody>
      </p:sp>
      <p:sp>
        <p:nvSpPr>
          <p:cNvPr id="7" name="TextBox 6"/>
          <p:cNvSpPr>
            <a:spLocks noGrp="1"/>
          </p:cNvSpPr>
          <p:nvPr/>
        </p:nvSpPr>
        <p:spPr>
          <a:xfrm>
            <a:off x="914400" y="2000000"/>
            <a:ext cx="6000000" cy="1000000"/>
          </a:xfrm>
        </p:spPr>
        <p:txBody>
          <a:bodyPr/>
          <a:lstStyle/>
          <a:p>
            <a:endParaRPr/>
          </a:p>
        </p:txBody>
      </p:sp>
      <p:sp>
        <p:nvSpPr>
          <p:cNvPr id="1115" name="TextBox 1115"/>
          <p:cNvSpPr>
            <a:spLocks noGrp="1"/>
          </p:cNvSpPr>
          <p:nvPr/>
        </p:nvSpPr>
        <p:spPr>
          <a:xfrm>
            <a:off x="914400" y="1214000"/>
            <a:ext cx="6000000" cy="1550000"/>
          </a:xfrm>
          <a:prstGeom prst="rect">
            <a:avLst/>
          </a:prstGeom>
        </p:spPr>
        <p:txBody>
          <a:bodyPr/>
          <a:lstStyle/>
          <a:p>
            <a:pPr algn="l"/>
            <a:r>
              <a:rPr sz="1400" b="1">
                <a:latin typeface="Calibri"/>
              </a:rPr>
              <a:t>Featrues</a:t>
            </a:r>
          </a:p>
          <a:p>
            <a:pPr indent="-180000" algn="l"/>
            <a:r>
              <a:rPr sz="1100" b="0">
                <a:latin typeface="Calibri"/>
              </a:rPr>
              <a:t>•    Frequency : 45-90GHz</a:t>
            </a:r>
          </a:p>
          <a:p>
            <a:pPr indent="-180000" algn="l"/>
            <a:r>
              <a:rPr sz="1100" b="0">
                <a:latin typeface="Calibri"/>
              </a:rPr>
              <a:t>•    Small Signal Gain : 15dB Typical</a:t>
            </a:r>
          </a:p>
          <a:p>
            <a:pPr indent="-180000" algn="l"/>
            <a:r>
              <a:rPr sz="1100" b="0">
                <a:latin typeface="Calibri"/>
              </a:rPr>
              <a:t>•    Gain Flatness : ±2.5dB Typical</a:t>
            </a:r>
          </a:p>
          <a:p>
            <a:pPr indent="-180000" algn="l"/>
            <a:r>
              <a:rPr sz="1100" b="0">
                <a:latin typeface="Calibri"/>
              </a:rPr>
              <a:t>•    Noise Figure : 4.5dB Typical</a:t>
            </a:r>
          </a:p>
          <a:p>
            <a:pPr indent="-180000" algn="l"/>
            <a:r>
              <a:rPr sz="1100" b="0">
                <a:latin typeface="Calibri"/>
              </a:rPr>
              <a:t>•    P1dB : 12dBm Typical</a:t>
            </a:r>
          </a:p>
          <a:p>
            <a:pPr indent="-180000" algn="l"/>
            <a:r>
              <a:rPr sz="1100" b="0">
                <a:latin typeface="Calibri"/>
              </a:rPr>
              <a:t>•    Power Supply : VD=+4V@119mA ,VG=-0.4V</a:t>
            </a:r>
          </a:p>
          <a:p>
            <a:pPr indent="-180000" algn="l"/>
            <a:r>
              <a:rPr sz="1100" b="0">
                <a:latin typeface="Calibri"/>
              </a:rPr>
              <a:t>•    Input/Output : 50Ω</a:t>
            </a:r>
          </a:p>
          <a:p>
            <a:pPr indent="-180000" algn="l"/>
            <a:r>
              <a:rPr sz="1100" b="0">
                <a:latin typeface="Calibri"/>
              </a:rPr>
              <a:t>•    Chip Size : 1.766 x 2.0 x 0.05mm</a:t>
            </a:r>
          </a:p>
        </p:txBody>
      </p:sp>
      <p:sp>
        <p:nvSpPr>
          <p:cNvPr id="1116" name="TextBox 1116"/>
          <p:cNvSpPr>
            <a:spLocks noGrp="1"/>
          </p:cNvSpPr>
          <p:nvPr/>
        </p:nvSpPr>
        <p:spPr>
          <a:xfrm>
            <a:off x="914400" y="3164000"/>
            <a:ext cx="6000000" cy="1100000"/>
          </a:xfrm>
          <a:prstGeom prst="rect">
            <a:avLst/>
          </a:prstGeom>
        </p:spPr>
        <p:txBody>
          <a:bodyPr/>
          <a:lstStyle/>
          <a:p>
            <a:pPr algn="l"/>
            <a:r>
              <a:rPr sz="1400" b="1">
                <a:latin typeface="Calibri"/>
              </a:rPr>
              <a:t>Typical Applications</a:t>
            </a:r>
          </a:p>
          <a:p>
            <a:pPr indent="-180000" algn="l"/>
            <a:r>
              <a:rPr sz="1100" b="0">
                <a:latin typeface="Calibri"/>
              </a:rPr>
              <a:t>•    Test Instrumentation</a:t>
            </a:r>
          </a:p>
          <a:p>
            <a:pPr indent="-180000" algn="l"/>
            <a:r>
              <a:rPr sz="1100" b="0">
                <a:latin typeface="Calibri"/>
              </a:rPr>
              <a:t>•    Microwave Radio &amp; VSAT</a:t>
            </a:r>
          </a:p>
          <a:p>
            <a:pPr indent="-180000" algn="l"/>
            <a:r>
              <a:rPr sz="1100" b="0">
                <a:latin typeface="Calibri"/>
              </a:rPr>
              <a:t>•    Military &amp; Space</a:t>
            </a:r>
          </a:p>
          <a:p>
            <a:pPr indent="-180000" algn="l"/>
            <a:r>
              <a:rPr sz="1100" b="0">
                <a:latin typeface="Calibri"/>
              </a:rPr>
              <a:t>•    Telecom Infrastructure</a:t>
            </a:r>
          </a:p>
          <a:p>
            <a:pPr indent="-180000" algn="l"/>
            <a:r>
              <a:rPr sz="1100" b="0">
                <a:latin typeface="Calibri"/>
              </a:rPr>
              <a:t>•    Fiber Optics</a:t>
            </a:r>
          </a:p>
        </p:txBody>
      </p:sp>
      <p:sp>
        <p:nvSpPr>
          <p:cNvPr id="1117" name="TextBox 1117"/>
          <p:cNvSpPr>
            <a:spLocks noGrp="1"/>
          </p:cNvSpPr>
          <p:nvPr/>
        </p:nvSpPr>
        <p:spPr>
          <a:xfrm>
            <a:off x="914400" y="4564000"/>
            <a:ext cx="6000000" cy="350000"/>
          </a:xfrm>
          <a:prstGeom prst="rect">
            <a:avLst/>
          </a:prstGeom>
        </p:spPr>
        <p:txBody>
          <a:bodyPr/>
          <a:lstStyle/>
          <a:p>
            <a:pPr algn="l"/>
            <a:r>
              <a:rPr sz="1400" b="1">
                <a:latin typeface="Calibri"/>
              </a:rPr>
              <a:t>Electrical Specifications</a:t>
            </a:r>
          </a:p>
        </p:txBody>
      </p:sp>
      <p:sp>
        <p:nvSpPr>
          <p:cNvPr id="1118" name="TextBox 1118"/>
          <p:cNvSpPr>
            <a:spLocks noGrp="1"/>
          </p:cNvSpPr>
          <p:nvPr/>
        </p:nvSpPr>
        <p:spPr>
          <a:xfrm>
            <a:off x="914400" y="5014000"/>
            <a:ext cx="6000000" cy="350000"/>
          </a:xfrm>
          <a:prstGeom prst="rect">
            <a:avLst/>
          </a:prstGeom>
        </p:spPr>
        <p:txBody>
          <a:bodyPr/>
          <a:lstStyle/>
          <a:p>
            <a:pPr algn="l"/>
            <a:r>
              <a:rPr sz="1400" b="1">
                <a:latin typeface="Calibri"/>
              </a:rPr>
              <a:t>TA = +25℃, VD=3V,ID=43mA Typical</a:t>
            </a:r>
          </a:p>
        </p:txBody>
      </p:sp>
      <p:graphicFrame>
        <p:nvGraphicFramePr>
          <p:cNvPr id="1119" name="Table 1119"/>
          <p:cNvGraphicFramePr/>
          <p:nvPr/>
        </p:nvGraphicFramePr>
        <p:xfrm>
          <a:off x="914400" y="5374000"/>
          <a:ext cx="6100000" cy="3500000"/>
        </p:xfrm>
        <p:spPr/>
        <a:graphic>
          <a:graphicData uri="http://schemas.openxmlformats.org/drawingml/2006/table">
            <a:tbl>
              <a:tblGrid>
                <a:gridCol w="2033332"/>
                <a:gridCol w="580952"/>
                <a:gridCol w="580952"/>
                <a:gridCol w="580952"/>
                <a:gridCol w="580952"/>
                <a:gridCol w="580952"/>
                <a:gridCol w="580952"/>
                <a:gridCol w="580952"/>
              </a:tblGrid>
              <a:tr h="350000">
                <a:tc>
                  <a:txBody>
                    <a:bodyPr anchor="ctr" anchorCtr="1"/>
                    <a:lstStyle/>
                    <a:p>
                      <a:pPr algn="ctr"/>
                      <a:r>
                        <a:rPr sz="1200" b="1">
                          <a:solidFill>
                            <a:srgbClr val="FFFFFF"/>
                          </a:solidFill>
                          <a:latin typeface="Calibri"/>
                        </a:rPr>
                        <a:t>Parameter</a:t>
                      </a:r>
                      <a:endParaRPr lang="en-US"/>
                    </a:p>
                  </a:txBody>
                  <a:tcPr anchor="ctr" anchorCtr="1">
                    <a:tcBdr>
                      <a:left>
                        <a:ln w="6350" cap="flat" cmpd="sng" algn="ctr">
                          <a:solidFill>
                            <a:srgbClr val="D9D9D9"/>
                          </a:solidFill>
                          <a:prstDash val="solid"/>
                        </a:ln>
                      </a:left>
                      <a:right>
                        <a:ln w="6350" cap="flat" cmpd="sng" algn="ctr">
                          <a:solidFill>
                            <a:srgbClr val="D9D9D9"/>
                          </a:solidFill>
                          <a:prstDash val="solid"/>
                        </a:ln>
                      </a:right>
                      <a:top>
                        <a:ln w="6350" cap="flat" cmpd="sng" algn="ctr">
                          <a:solidFill>
                            <a:srgbClr val="D9D9D9"/>
                          </a:solidFill>
                          <a:prstDash val="solid"/>
                        </a:ln>
                      </a:top>
                      <a:bottom>
                        <a:ln w="6350" cap="flat" cmpd="sng" algn="ctr">
                          <a:solidFill>
                            <a:srgbClr val="D9D9D9"/>
                          </a:solidFill>
                          <a:prstDash val="solid"/>
                        </a:ln>
                      </a:bottom>
                    </a:tcBdr>
                    <a:solidFill>
                      <a:srgbClr val="757171"/>
                    </a:solidFill>
                  </a:tcPr>
                </a:tc>
                <a:tc>
                  <a:txBody>
                    <a:bodyPr anchor="ctr" anchorCtr="1"/>
                    <a:lstStyle/>
                    <a:p>
                      <a:pPr algn="ctr"/>
                      <a:r>
                        <a:rPr sz="1200" b="1">
                          <a:solidFill>
                            <a:srgbClr val="FFFFFF"/>
                          </a:solidFill>
                          <a:latin typeface="Calibri"/>
                        </a:rPr>
                        <a:t>Min.</a:t>
                      </a:r>
                      <a:endParaRPr lang="en-US"/>
                    </a:p>
                  </a:txBody>
                  <a:tcPr anchor="ctr" anchorCtr="1">
                    <a:tcBdr>
                      <a:left>
                        <a:ln w="6350" cap="flat" cmpd="sng" algn="ctr">
                          <a:solidFill>
                            <a:srgbClr val="D9D9D9"/>
                          </a:solidFill>
                          <a:prstDash val="solid"/>
                        </a:ln>
                      </a:left>
                      <a:right>
                        <a:ln w="6350" cap="flat" cmpd="sng" algn="ctr">
                          <a:solidFill>
                            <a:srgbClr val="D9D9D9"/>
                          </a:solidFill>
                          <a:prstDash val="solid"/>
                        </a:ln>
                      </a:right>
                      <a:top>
                        <a:ln w="6350" cap="flat" cmpd="sng" algn="ctr">
                          <a:solidFill>
                            <a:srgbClr val="D9D9D9"/>
                          </a:solidFill>
                          <a:prstDash val="solid"/>
                        </a:ln>
                      </a:top>
                      <a:bottom>
                        <a:ln w="6350" cap="flat" cmpd="sng" algn="ctr">
                          <a:solidFill>
                            <a:srgbClr val="D9D9D9"/>
                          </a:solidFill>
                          <a:prstDash val="solid"/>
                        </a:ln>
                      </a:bottom>
                    </a:tcBdr>
                    <a:solidFill>
                      <a:srgbClr val="757171"/>
                    </a:solidFill>
                  </a:tcPr>
                </a:tc>
                <a:tc>
                  <a:txBody>
                    <a:bodyPr anchor="ctr" anchorCtr="1"/>
                    <a:lstStyle/>
                    <a:p>
                      <a:pPr algn="ctr"/>
                      <a:r>
                        <a:rPr sz="1200" b="1">
                          <a:solidFill>
                            <a:srgbClr val="FFFFFF"/>
                          </a:solidFill>
                          <a:latin typeface="Calibri"/>
                        </a:rPr>
                        <a:t>Type.</a:t>
                      </a:r>
                      <a:endParaRPr lang="en-US"/>
                    </a:p>
                  </a:txBody>
                  <a:tcPr anchor="ctr" anchorCtr="1">
                    <a:tcBdr>
                      <a:left>
                        <a:ln w="6350" cap="flat" cmpd="sng" algn="ctr">
                          <a:solidFill>
                            <a:srgbClr val="D9D9D9"/>
                          </a:solidFill>
                          <a:prstDash val="solid"/>
                        </a:ln>
                      </a:left>
                      <a:right>
                        <a:ln w="6350" cap="flat" cmpd="sng" algn="ctr">
                          <a:solidFill>
                            <a:srgbClr val="D9D9D9"/>
                          </a:solidFill>
                          <a:prstDash val="solid"/>
                        </a:ln>
                      </a:right>
                      <a:top>
                        <a:ln w="6350" cap="flat" cmpd="sng" algn="ctr">
                          <a:solidFill>
                            <a:srgbClr val="D9D9D9"/>
                          </a:solidFill>
                          <a:prstDash val="solid"/>
                        </a:ln>
                      </a:top>
                      <a:bottom>
                        <a:ln w="6350" cap="flat" cmpd="sng" algn="ctr">
                          <a:solidFill>
                            <a:srgbClr val="D9D9D9"/>
                          </a:solidFill>
                          <a:prstDash val="solid"/>
                        </a:ln>
                      </a:bottom>
                    </a:tcBdr>
                    <a:solidFill>
                      <a:srgbClr val="757171"/>
                    </a:solidFill>
                  </a:tcPr>
                </a:tc>
                <a:tc>
                  <a:txBody>
                    <a:bodyPr anchor="ctr" anchorCtr="1"/>
                    <a:lstStyle/>
                    <a:p>
                      <a:pPr algn="ctr"/>
                      <a:r>
                        <a:rPr sz="1200" b="1">
                          <a:solidFill>
                            <a:srgbClr val="FFFFFF"/>
                          </a:solidFill>
                          <a:latin typeface="Calibri"/>
                        </a:rPr>
                        <a:t>Max.</a:t>
                      </a:r>
                      <a:endParaRPr lang="en-US"/>
                    </a:p>
                  </a:txBody>
                  <a:tcPr anchor="ctr" anchorCtr="1">
                    <a:tcBdr>
                      <a:left>
                        <a:ln w="6350" cap="flat" cmpd="sng" algn="ctr">
                          <a:solidFill>
                            <a:srgbClr val="D9D9D9"/>
                          </a:solidFill>
                          <a:prstDash val="solid"/>
                        </a:ln>
                      </a:left>
                      <a:right>
                        <a:ln w="6350" cap="flat" cmpd="sng" algn="ctr">
                          <a:solidFill>
                            <a:srgbClr val="D9D9D9"/>
                          </a:solidFill>
                          <a:prstDash val="solid"/>
                        </a:ln>
                      </a:right>
                      <a:top>
                        <a:ln w="6350" cap="flat" cmpd="sng" algn="ctr">
                          <a:solidFill>
                            <a:srgbClr val="D9D9D9"/>
                          </a:solidFill>
                          <a:prstDash val="solid"/>
                        </a:ln>
                      </a:top>
                      <a:bottom>
                        <a:ln w="6350" cap="flat" cmpd="sng" algn="ctr">
                          <a:solidFill>
                            <a:srgbClr val="D9D9D9"/>
                          </a:solidFill>
                          <a:prstDash val="solid"/>
                        </a:ln>
                      </a:bottom>
                    </a:tcBdr>
                    <a:solidFill>
                      <a:srgbClr val="757171"/>
                    </a:solidFill>
                  </a:tcPr>
                </a:tc>
                <a:tc>
                  <a:txBody>
                    <a:bodyPr anchor="ctr" anchorCtr="1"/>
                    <a:lstStyle/>
                    <a:p>
                      <a:pPr algn="ctr"/>
                      <a:r>
                        <a:rPr sz="1200" b="1">
                          <a:solidFill>
                            <a:srgbClr val="FFFFFF"/>
                          </a:solidFill>
                          <a:latin typeface="Calibri"/>
                        </a:rPr>
                        <a:t>Min.</a:t>
                      </a:r>
                      <a:endParaRPr lang="en-US"/>
                    </a:p>
                  </a:txBody>
                  <a:tcPr anchor="ctr" anchorCtr="1">
                    <a:tcBdr>
                      <a:left>
                        <a:ln w="6350" cap="flat" cmpd="sng" algn="ctr">
                          <a:solidFill>
                            <a:srgbClr val="D9D9D9"/>
                          </a:solidFill>
                          <a:prstDash val="solid"/>
                        </a:ln>
                      </a:left>
                      <a:right>
                        <a:ln w="6350" cap="flat" cmpd="sng" algn="ctr">
                          <a:solidFill>
                            <a:srgbClr val="D9D9D9"/>
                          </a:solidFill>
                          <a:prstDash val="solid"/>
                        </a:ln>
                      </a:right>
                      <a:top>
                        <a:ln w="6350" cap="flat" cmpd="sng" algn="ctr">
                          <a:solidFill>
                            <a:srgbClr val="D9D9D9"/>
                          </a:solidFill>
                          <a:prstDash val="solid"/>
                        </a:ln>
                      </a:top>
                      <a:bottom>
                        <a:ln w="6350" cap="flat" cmpd="sng" algn="ctr">
                          <a:solidFill>
                            <a:srgbClr val="D9D9D9"/>
                          </a:solidFill>
                          <a:prstDash val="solid"/>
                        </a:ln>
                      </a:bottom>
                    </a:tcBdr>
                    <a:solidFill>
                      <a:srgbClr val="757171"/>
                    </a:solidFill>
                  </a:tcPr>
                </a:tc>
                <a:tc>
                  <a:txBody>
                    <a:bodyPr anchor="ctr" anchorCtr="1"/>
                    <a:lstStyle/>
                    <a:p>
                      <a:pPr algn="ctr"/>
                      <a:r>
                        <a:rPr sz="1200" b="1">
                          <a:solidFill>
                            <a:srgbClr val="FFFFFF"/>
                          </a:solidFill>
                          <a:latin typeface="Calibri"/>
                        </a:rPr>
                        <a:t>Type.</a:t>
                      </a:r>
                      <a:endParaRPr lang="en-US"/>
                    </a:p>
                  </a:txBody>
                  <a:tcPr anchor="ctr" anchorCtr="1">
                    <a:tcBdr>
                      <a:left>
                        <a:ln w="6350" cap="flat" cmpd="sng" algn="ctr">
                          <a:solidFill>
                            <a:srgbClr val="D9D9D9"/>
                          </a:solidFill>
                          <a:prstDash val="solid"/>
                        </a:ln>
                      </a:left>
                      <a:right>
                        <a:ln w="6350" cap="flat" cmpd="sng" algn="ctr">
                          <a:solidFill>
                            <a:srgbClr val="D9D9D9"/>
                          </a:solidFill>
                          <a:prstDash val="solid"/>
                        </a:ln>
                      </a:right>
                      <a:top>
                        <a:ln w="6350" cap="flat" cmpd="sng" algn="ctr">
                          <a:solidFill>
                            <a:srgbClr val="D9D9D9"/>
                          </a:solidFill>
                          <a:prstDash val="solid"/>
                        </a:ln>
                      </a:top>
                      <a:bottom>
                        <a:ln w="6350" cap="flat" cmpd="sng" algn="ctr">
                          <a:solidFill>
                            <a:srgbClr val="D9D9D9"/>
                          </a:solidFill>
                          <a:prstDash val="solid"/>
                        </a:ln>
                      </a:bottom>
                    </a:tcBdr>
                    <a:solidFill>
                      <a:srgbClr val="757171"/>
                    </a:solidFill>
                  </a:tcPr>
                </a:tc>
                <a:tc>
                  <a:txBody>
                    <a:bodyPr anchor="ctr" anchorCtr="1"/>
                    <a:lstStyle/>
                    <a:p>
                      <a:pPr algn="ctr"/>
                      <a:r>
                        <a:rPr sz="1200" b="1">
                          <a:solidFill>
                            <a:srgbClr val="FFFFFF"/>
                          </a:solidFill>
                          <a:latin typeface="Calibri"/>
                        </a:rPr>
                        <a:t>Max.</a:t>
                      </a:r>
                      <a:endParaRPr lang="en-US"/>
                    </a:p>
                  </a:txBody>
                  <a:tcPr anchor="ctr" anchorCtr="1">
                    <a:tcBdr>
                      <a:left>
                        <a:ln w="6350" cap="flat" cmpd="sng" algn="ctr">
                          <a:solidFill>
                            <a:srgbClr val="D9D9D9"/>
                          </a:solidFill>
                          <a:prstDash val="solid"/>
                        </a:ln>
                      </a:left>
                      <a:right>
                        <a:ln w="6350" cap="flat" cmpd="sng" algn="ctr">
                          <a:solidFill>
                            <a:srgbClr val="D9D9D9"/>
                          </a:solidFill>
                          <a:prstDash val="solid"/>
                        </a:ln>
                      </a:right>
                      <a:top>
                        <a:ln w="6350" cap="flat" cmpd="sng" algn="ctr">
                          <a:solidFill>
                            <a:srgbClr val="D9D9D9"/>
                          </a:solidFill>
                          <a:prstDash val="solid"/>
                        </a:ln>
                      </a:top>
                      <a:bottom>
                        <a:ln w="6350" cap="flat" cmpd="sng" algn="ctr">
                          <a:solidFill>
                            <a:srgbClr val="D9D9D9"/>
                          </a:solidFill>
                          <a:prstDash val="solid"/>
                        </a:ln>
                      </a:bottom>
                    </a:tcBdr>
                    <a:solidFill>
                      <a:srgbClr val="757171"/>
                    </a:solidFill>
                  </a:tcPr>
                </a:tc>
                <a:tc>
                  <a:txBody>
                    <a:bodyPr anchor="ctr" anchorCtr="1"/>
                    <a:lstStyle/>
                    <a:p>
                      <a:pPr algn="ctr"/>
                      <a:r>
                        <a:rPr sz="1200" b="1">
                          <a:solidFill>
                            <a:srgbClr val="FFFFFF"/>
                          </a:solidFill>
                          <a:latin typeface="Calibri"/>
                        </a:rPr>
                        <a:t>Unit</a:t>
                      </a:r>
                      <a:endParaRPr lang="en-US"/>
                    </a:p>
                  </a:txBody>
                  <a:tcPr anchor="ctr" anchorCtr="1">
                    <a:tcBdr>
                      <a:left>
                        <a:ln w="6350" cap="flat" cmpd="sng" algn="ctr">
                          <a:solidFill>
                            <a:srgbClr val="D9D9D9"/>
                          </a:solidFill>
                          <a:prstDash val="solid"/>
                        </a:ln>
                      </a:left>
                      <a:right>
                        <a:ln w="6350" cap="flat" cmpd="sng" algn="ctr">
                          <a:solidFill>
                            <a:srgbClr val="D9D9D9"/>
                          </a:solidFill>
                          <a:prstDash val="solid"/>
                        </a:ln>
                      </a:right>
                      <a:top>
                        <a:ln w="6350" cap="flat" cmpd="sng" algn="ctr">
                          <a:solidFill>
                            <a:srgbClr val="D9D9D9"/>
                          </a:solidFill>
                          <a:prstDash val="solid"/>
                        </a:ln>
                      </a:top>
                      <a:bottom>
                        <a:ln w="6350" cap="flat" cmpd="sng" algn="ctr">
                          <a:solidFill>
                            <a:srgbClr val="D9D9D9"/>
                          </a:solidFill>
                          <a:prstDash val="solid"/>
                        </a:ln>
                      </a:bottom>
                    </a:tcBdr>
                    <a:solidFill>
                      <a:srgbClr val="757171"/>
                    </a:solidFill>
                  </a:tcPr>
                </a:tc>
              </a:tr>
              <a:tr h="350000">
                <a:tc>
                  <a:txBody>
                    <a:bodyPr anchor="ctr" anchorCtr="1"/>
                    <a:lstStyle/>
                    <a:p>
                      <a:pPr algn="ctr"/>
                      <a:r>
                        <a:rPr sz="1100" b="1">
                          <a:latin typeface="Calibri"/>
                        </a:rPr>
                        <a:t>Frequency</a:t>
                      </a:r>
                      <a:endParaRPr lang="en-US"/>
                    </a:p>
                  </a:txBody>
                  <a:tcPr anchor="ctr" anchorCtr="1">
                    <a:tcBdr>
                      <a:left>
                        <a:ln w="6350" cap="flat" cmpd="sng" algn="ctr">
                          <a:solidFill>
                            <a:srgbClr val="D9D9D9"/>
                          </a:solidFill>
                          <a:prstDash val="solid"/>
                        </a:ln>
                      </a:left>
                      <a:right>
                        <a:ln w="6350" cap="flat" cmpd="sng" algn="ctr">
                          <a:solidFill>
                            <a:srgbClr val="D9D9D9"/>
                          </a:solidFill>
                          <a:prstDash val="solid"/>
                        </a:ln>
                      </a:right>
                      <a:top>
                        <a:ln w="6350" cap="flat" cmpd="sng" algn="ctr">
                          <a:solidFill>
                            <a:srgbClr val="D9D9D9"/>
                          </a:solidFill>
                          <a:prstDash val="solid"/>
                        </a:ln>
                      </a:top>
                      <a:bottom>
                        <a:ln w="6350" cap="flat" cmpd="sng" algn="ctr">
                          <a:solidFill>
                            <a:srgbClr val="D9D9D9"/>
                          </a:solidFill>
                          <a:prstDash val="solid"/>
                        </a:ln>
                      </a:bottom>
                    </a:tcBdr>
                  </a:tcPr>
                </a:tc>
                <a:tc>
                  <a:txBody>
                    <a:bodyPr anchor="ctr" anchorCtr="1"/>
                    <a:lstStyle/>
                    <a:p>
                      <a:pPr algn="ctr"/>
                      <a:r>
                        <a:rPr sz="1100" b="1">
                          <a:latin typeface="Calibri"/>
                        </a:rPr>
                        <a:t> </a:t>
                      </a:r>
                      <a:endParaRPr lang="en-US"/>
                    </a:p>
                  </a:txBody>
                  <a:tcPr anchor="ctr" anchorCtr="1">
                    <a:tcBdr>
                      <a:left>
                        <a:ln w="6350" cap="flat" cmpd="sng" algn="ctr">
                          <a:solidFill>
                            <a:srgbClr val="D9D9D9"/>
                          </a:solidFill>
                          <a:prstDash val="solid"/>
                        </a:ln>
                      </a:left>
                      <a:right>
                        <a:ln w="6350" cap="flat" cmpd="sng" algn="ctr">
                          <a:solidFill>
                            <a:srgbClr val="D9D9D9"/>
                          </a:solidFill>
                          <a:prstDash val="solid"/>
                        </a:ln>
                      </a:right>
                      <a:top>
                        <a:ln w="6350" cap="flat" cmpd="sng" algn="ctr">
                          <a:solidFill>
                            <a:srgbClr val="D9D9D9"/>
                          </a:solidFill>
                          <a:prstDash val="solid"/>
                        </a:ln>
                      </a:top>
                      <a:bottom>
                        <a:ln w="6350" cap="flat" cmpd="sng" algn="ctr">
                          <a:solidFill>
                            <a:srgbClr val="D9D9D9"/>
                          </a:solidFill>
                          <a:prstDash val="solid"/>
                        </a:ln>
                      </a:bottom>
                    </a:tcBdr>
                  </a:tcPr>
                </a:tc>
                <a:tc>
                  <a:txBody>
                    <a:bodyPr anchor="ctr" anchorCtr="1"/>
                    <a:lstStyle/>
                    <a:p>
                      <a:pPr algn="ctr"/>
                      <a:r>
                        <a:rPr sz="1100" b="1">
                          <a:latin typeface="Calibri"/>
                        </a:rPr>
                        <a:t>0 - 5</a:t>
                      </a:r>
                      <a:endParaRPr lang="en-US"/>
                    </a:p>
                  </a:txBody>
                  <a:tcPr anchor="ctr" anchorCtr="1">
                    <a:tcBdr>
                      <a:left>
                        <a:ln w="6350" cap="flat" cmpd="sng" algn="ctr">
                          <a:solidFill>
                            <a:srgbClr val="D9D9D9"/>
                          </a:solidFill>
                          <a:prstDash val="solid"/>
                        </a:ln>
                      </a:left>
                      <a:right>
                        <a:ln w="6350" cap="flat" cmpd="sng" algn="ctr">
                          <a:solidFill>
                            <a:srgbClr val="D9D9D9"/>
                          </a:solidFill>
                          <a:prstDash val="solid"/>
                        </a:ln>
                      </a:right>
                      <a:top>
                        <a:ln w="6350" cap="flat" cmpd="sng" algn="ctr">
                          <a:solidFill>
                            <a:srgbClr val="D9D9D9"/>
                          </a:solidFill>
                          <a:prstDash val="solid"/>
                        </a:ln>
                      </a:top>
                      <a:bottom>
                        <a:ln w="6350" cap="flat" cmpd="sng" algn="ctr">
                          <a:solidFill>
                            <a:srgbClr val="D9D9D9"/>
                          </a:solidFill>
                          <a:prstDash val="solid"/>
                        </a:ln>
                      </a:bottom>
                    </a:tcBdr>
                  </a:tcPr>
                </a:tc>
                <a:tc>
                  <a:txBody>
                    <a:bodyPr anchor="ctr" anchorCtr="1"/>
                    <a:lstStyle/>
                    <a:p>
                      <a:pPr algn="ctr"/>
                      <a:r>
                        <a:rPr sz="1100" b="1">
                          <a:latin typeface="Calibri"/>
                        </a:rPr>
                        <a:t> </a:t>
                      </a:r>
                      <a:endParaRPr lang="en-US"/>
                    </a:p>
                  </a:txBody>
                  <a:tcPr anchor="ctr" anchorCtr="1">
                    <a:tcBdr>
                      <a:left>
                        <a:ln w="6350" cap="flat" cmpd="sng" algn="ctr">
                          <a:solidFill>
                            <a:srgbClr val="D9D9D9"/>
                          </a:solidFill>
                          <a:prstDash val="solid"/>
                        </a:ln>
                      </a:left>
                      <a:right>
                        <a:ln w="6350" cap="flat" cmpd="sng" algn="ctr">
                          <a:solidFill>
                            <a:srgbClr val="D9D9D9"/>
                          </a:solidFill>
                          <a:prstDash val="solid"/>
                        </a:ln>
                      </a:right>
                      <a:top>
                        <a:ln w="6350" cap="flat" cmpd="sng" algn="ctr">
                          <a:solidFill>
                            <a:srgbClr val="D9D9D9"/>
                          </a:solidFill>
                          <a:prstDash val="solid"/>
                        </a:ln>
                      </a:top>
                      <a:bottom>
                        <a:ln w="6350" cap="flat" cmpd="sng" algn="ctr">
                          <a:solidFill>
                            <a:srgbClr val="D9D9D9"/>
                          </a:solidFill>
                          <a:prstDash val="solid"/>
                        </a:ln>
                      </a:bottom>
                    </a:tcBdr>
                  </a:tcPr>
                </a:tc>
                <a:tc>
                  <a:txBody>
                    <a:bodyPr anchor="ctr" anchorCtr="1"/>
                    <a:lstStyle/>
                    <a:p>
                      <a:pPr algn="ctr"/>
                      <a:r>
                        <a:rPr sz="1100" b="1">
                          <a:latin typeface="Calibri"/>
                        </a:rPr>
                        <a:t> </a:t>
                      </a:r>
                      <a:endParaRPr lang="en-US"/>
                    </a:p>
                  </a:txBody>
                  <a:tcPr anchor="ctr" anchorCtr="1">
                    <a:tcBdr>
                      <a:left>
                        <a:ln w="6350" cap="flat" cmpd="sng" algn="ctr">
                          <a:solidFill>
                            <a:srgbClr val="D9D9D9"/>
                          </a:solidFill>
                          <a:prstDash val="solid"/>
                        </a:ln>
                      </a:left>
                      <a:right>
                        <a:ln w="6350" cap="flat" cmpd="sng" algn="ctr">
                          <a:solidFill>
                            <a:srgbClr val="D9D9D9"/>
                          </a:solidFill>
                          <a:prstDash val="solid"/>
                        </a:ln>
                      </a:right>
                      <a:top>
                        <a:ln w="6350" cap="flat" cmpd="sng" algn="ctr">
                          <a:solidFill>
                            <a:srgbClr val="D9D9D9"/>
                          </a:solidFill>
                          <a:prstDash val="solid"/>
                        </a:ln>
                      </a:top>
                      <a:bottom>
                        <a:ln w="6350" cap="flat" cmpd="sng" algn="ctr">
                          <a:solidFill>
                            <a:srgbClr val="D9D9D9"/>
                          </a:solidFill>
                          <a:prstDash val="solid"/>
                        </a:ln>
                      </a:bottom>
                    </a:tcBdr>
                  </a:tcPr>
                </a:tc>
                <a:tc>
                  <a:txBody>
                    <a:bodyPr anchor="ctr" anchorCtr="1"/>
                    <a:lstStyle/>
                    <a:p>
                      <a:pPr algn="ctr"/>
                      <a:r>
                        <a:rPr sz="1100" b="1">
                          <a:latin typeface="Calibri"/>
                        </a:rPr>
                        <a:t>5 - 10</a:t>
                      </a:r>
                      <a:endParaRPr lang="en-US"/>
                    </a:p>
                  </a:txBody>
                  <a:tcPr anchor="ctr" anchorCtr="1">
                    <a:tcBdr>
                      <a:left>
                        <a:ln w="6350" cap="flat" cmpd="sng" algn="ctr">
                          <a:solidFill>
                            <a:srgbClr val="D9D9D9"/>
                          </a:solidFill>
                          <a:prstDash val="solid"/>
                        </a:ln>
                      </a:left>
                      <a:right>
                        <a:ln w="6350" cap="flat" cmpd="sng" algn="ctr">
                          <a:solidFill>
                            <a:srgbClr val="D9D9D9"/>
                          </a:solidFill>
                          <a:prstDash val="solid"/>
                        </a:ln>
                      </a:right>
                      <a:top>
                        <a:ln w="6350" cap="flat" cmpd="sng" algn="ctr">
                          <a:solidFill>
                            <a:srgbClr val="D9D9D9"/>
                          </a:solidFill>
                          <a:prstDash val="solid"/>
                        </a:ln>
                      </a:top>
                      <a:bottom>
                        <a:ln w="6350" cap="flat" cmpd="sng" algn="ctr">
                          <a:solidFill>
                            <a:srgbClr val="D9D9D9"/>
                          </a:solidFill>
                          <a:prstDash val="solid"/>
                        </a:ln>
                      </a:bottom>
                    </a:tcBdr>
                  </a:tcPr>
                </a:tc>
                <a:tc>
                  <a:txBody>
                    <a:bodyPr anchor="ctr" anchorCtr="1"/>
                    <a:lstStyle/>
                    <a:p>
                      <a:pPr algn="ctr"/>
                      <a:r>
                        <a:rPr sz="1100" b="1">
                          <a:latin typeface="Calibri"/>
                        </a:rPr>
                        <a:t> </a:t>
                      </a:r>
                      <a:endParaRPr lang="en-US"/>
                    </a:p>
                  </a:txBody>
                  <a:tcPr anchor="ctr" anchorCtr="1">
                    <a:tcBdr>
                      <a:left>
                        <a:ln w="6350" cap="flat" cmpd="sng" algn="ctr">
                          <a:solidFill>
                            <a:srgbClr val="D9D9D9"/>
                          </a:solidFill>
                          <a:prstDash val="solid"/>
                        </a:ln>
                      </a:left>
                      <a:right>
                        <a:ln w="6350" cap="flat" cmpd="sng" algn="ctr">
                          <a:solidFill>
                            <a:srgbClr val="D9D9D9"/>
                          </a:solidFill>
                          <a:prstDash val="solid"/>
                        </a:ln>
                      </a:right>
                      <a:top>
                        <a:ln w="6350" cap="flat" cmpd="sng" algn="ctr">
                          <a:solidFill>
                            <a:srgbClr val="D9D9D9"/>
                          </a:solidFill>
                          <a:prstDash val="solid"/>
                        </a:ln>
                      </a:top>
                      <a:bottom>
                        <a:ln w="6350" cap="flat" cmpd="sng" algn="ctr">
                          <a:solidFill>
                            <a:srgbClr val="D9D9D9"/>
                          </a:solidFill>
                          <a:prstDash val="solid"/>
                        </a:ln>
                      </a:bottom>
                    </a:tcBdr>
                  </a:tcPr>
                </a:tc>
                <a:tc>
                  <a:txBody>
                    <a:bodyPr anchor="ctr" anchorCtr="1"/>
                    <a:lstStyle/>
                    <a:p>
                      <a:pPr algn="ctr"/>
                      <a:r>
                        <a:rPr sz="1100" b="1">
                          <a:latin typeface="Calibri"/>
                        </a:rPr>
                        <a:t>GHz</a:t>
                      </a:r>
                      <a:endParaRPr lang="en-US"/>
                    </a:p>
                  </a:txBody>
                  <a:tcPr anchor="ctr" anchorCtr="1">
                    <a:tcBdr>
                      <a:left>
                        <a:ln w="6350" cap="flat" cmpd="sng" algn="ctr">
                          <a:solidFill>
                            <a:srgbClr val="D9D9D9"/>
                          </a:solidFill>
                          <a:prstDash val="solid"/>
                        </a:ln>
                      </a:left>
                      <a:right>
                        <a:ln w="6350" cap="flat" cmpd="sng" algn="ctr">
                          <a:solidFill>
                            <a:srgbClr val="D9D9D9"/>
                          </a:solidFill>
                          <a:prstDash val="solid"/>
                        </a:ln>
                      </a:right>
                      <a:top>
                        <a:ln w="6350" cap="flat" cmpd="sng" algn="ctr">
                          <a:solidFill>
                            <a:srgbClr val="D9D9D9"/>
                          </a:solidFill>
                          <a:prstDash val="solid"/>
                        </a:ln>
                      </a:top>
                      <a:bottom>
                        <a:ln w="6350" cap="flat" cmpd="sng" algn="ctr">
                          <a:solidFill>
                            <a:srgbClr val="D9D9D9"/>
                          </a:solidFill>
                          <a:prstDash val="solid"/>
                        </a:ln>
                      </a:bottom>
                    </a:tcBdr>
                  </a:tcPr>
                </a:tc>
              </a:tr>
              <a:tr h="350000">
                <a:tc>
                  <a:txBody>
                    <a:bodyPr anchor="ctr" anchorCtr="1"/>
                    <a:lstStyle/>
                    <a:p>
                      <a:pPr algn="ctr"/>
                      <a:r>
                        <a:rPr sz="1100" b="1">
                          <a:latin typeface="Calibri"/>
                        </a:rPr>
                        <a:t>Small Signal Gain</a:t>
                      </a:r>
                      <a:endParaRPr lang="en-US"/>
                    </a:p>
                  </a:txBody>
                  <a:tcPr anchor="ctr" anchorCtr="1">
                    <a:tcBdr>
                      <a:left>
                        <a:ln w="6350" cap="flat" cmpd="sng" algn="ctr">
                          <a:solidFill>
                            <a:srgbClr val="D9D9D9"/>
                          </a:solidFill>
                          <a:prstDash val="solid"/>
                        </a:ln>
                      </a:left>
                      <a:right>
                        <a:ln w="6350" cap="flat" cmpd="sng" algn="ctr">
                          <a:solidFill>
                            <a:srgbClr val="D9D9D9"/>
                          </a:solidFill>
                          <a:prstDash val="solid"/>
                        </a:ln>
                      </a:right>
                      <a:top>
                        <a:ln w="6350" cap="flat" cmpd="sng" algn="ctr">
                          <a:solidFill>
                            <a:srgbClr val="D9D9D9"/>
                          </a:solidFill>
                          <a:prstDash val="solid"/>
                        </a:ln>
                      </a:top>
                      <a:bottom>
                        <a:ln w="6350" cap="flat" cmpd="sng" algn="ctr">
                          <a:solidFill>
                            <a:srgbClr val="D9D9D9"/>
                          </a:solidFill>
                          <a:prstDash val="solid"/>
                        </a:ln>
                      </a:bottom>
                    </a:tcBdr>
                  </a:tcPr>
                </a:tc>
                <a:tc>
                  <a:txBody>
                    <a:bodyPr anchor="ctr" anchorCtr="1"/>
                    <a:lstStyle/>
                    <a:p>
                      <a:pPr algn="ctr"/>
                      <a:r>
                        <a:rPr sz="1100" b="1">
                          <a:latin typeface="Calibri"/>
                        </a:rPr>
                        <a:t>-47.6</a:t>
                      </a:r>
                      <a:endParaRPr lang="en-US"/>
                    </a:p>
                  </a:txBody>
                  <a:tcPr anchor="ctr" anchorCtr="1">
                    <a:tcBdr>
                      <a:left>
                        <a:ln w="6350" cap="flat" cmpd="sng" algn="ctr">
                          <a:solidFill>
                            <a:srgbClr val="D9D9D9"/>
                          </a:solidFill>
                          <a:prstDash val="solid"/>
                        </a:ln>
                      </a:left>
                      <a:right>
                        <a:ln w="6350" cap="flat" cmpd="sng" algn="ctr">
                          <a:solidFill>
                            <a:srgbClr val="D9D9D9"/>
                          </a:solidFill>
                          <a:prstDash val="solid"/>
                        </a:ln>
                      </a:right>
                      <a:top>
                        <a:ln w="6350" cap="flat" cmpd="sng" algn="ctr">
                          <a:solidFill>
                            <a:srgbClr val="D9D9D9"/>
                          </a:solidFill>
                          <a:prstDash val="solid"/>
                        </a:ln>
                      </a:top>
                      <a:bottom>
                        <a:ln w="6350" cap="flat" cmpd="sng" algn="ctr">
                          <a:solidFill>
                            <a:srgbClr val="D9D9D9"/>
                          </a:solidFill>
                          <a:prstDash val="solid"/>
                        </a:ln>
                      </a:bottom>
                    </a:tcBdr>
                  </a:tcPr>
                </a:tc>
                <a:tc>
                  <a:txBody>
                    <a:bodyPr anchor="ctr" anchorCtr="1"/>
                    <a:lstStyle/>
                    <a:p>
                      <a:pPr algn="ctr"/>
                      <a:r>
                        <a:rPr sz="1100" b="1">
                          <a:latin typeface="Calibri"/>
                        </a:rPr>
                        <a:t>-9.8</a:t>
                      </a:r>
                      <a:endParaRPr lang="en-US"/>
                    </a:p>
                  </a:txBody>
                  <a:tcPr anchor="ctr" anchorCtr="1">
                    <a:tcBdr>
                      <a:left>
                        <a:ln w="6350" cap="flat" cmpd="sng" algn="ctr">
                          <a:solidFill>
                            <a:srgbClr val="D9D9D9"/>
                          </a:solidFill>
                          <a:prstDash val="solid"/>
                        </a:ln>
                      </a:left>
                      <a:right>
                        <a:ln w="6350" cap="flat" cmpd="sng" algn="ctr">
                          <a:solidFill>
                            <a:srgbClr val="D9D9D9"/>
                          </a:solidFill>
                          <a:prstDash val="solid"/>
                        </a:ln>
                      </a:right>
                      <a:top>
                        <a:ln w="6350" cap="flat" cmpd="sng" algn="ctr">
                          <a:solidFill>
                            <a:srgbClr val="D9D9D9"/>
                          </a:solidFill>
                          <a:prstDash val="solid"/>
                        </a:ln>
                      </a:top>
                      <a:bottom>
                        <a:ln w="6350" cap="flat" cmpd="sng" algn="ctr">
                          <a:solidFill>
                            <a:srgbClr val="D9D9D9"/>
                          </a:solidFill>
                          <a:prstDash val="solid"/>
                        </a:ln>
                      </a:bottom>
                    </a:tcBdr>
                  </a:tcPr>
                </a:tc>
                <a:tc>
                  <a:txBody>
                    <a:bodyPr anchor="ctr" anchorCtr="1"/>
                    <a:lstStyle/>
                    <a:p>
                      <a:pPr algn="ctr"/>
                      <a:r>
                        <a:rPr sz="1100" b="1">
                          <a:latin typeface="Calibri"/>
                        </a:rPr>
                        <a:t>28.0</a:t>
                      </a:r>
                      <a:endParaRPr lang="en-US"/>
                    </a:p>
                  </a:txBody>
                  <a:tcPr anchor="ctr" anchorCtr="1">
                    <a:tcBdr>
                      <a:left>
                        <a:ln w="6350" cap="flat" cmpd="sng" algn="ctr">
                          <a:solidFill>
                            <a:srgbClr val="D9D9D9"/>
                          </a:solidFill>
                          <a:prstDash val="solid"/>
                        </a:ln>
                      </a:left>
                      <a:right>
                        <a:ln w="6350" cap="flat" cmpd="sng" algn="ctr">
                          <a:solidFill>
                            <a:srgbClr val="D9D9D9"/>
                          </a:solidFill>
                          <a:prstDash val="solid"/>
                        </a:ln>
                      </a:right>
                      <a:top>
                        <a:ln w="6350" cap="flat" cmpd="sng" algn="ctr">
                          <a:solidFill>
                            <a:srgbClr val="D9D9D9"/>
                          </a:solidFill>
                          <a:prstDash val="solid"/>
                        </a:ln>
                      </a:top>
                      <a:bottom>
                        <a:ln w="6350" cap="flat" cmpd="sng" algn="ctr">
                          <a:solidFill>
                            <a:srgbClr val="D9D9D9"/>
                          </a:solidFill>
                          <a:prstDash val="solid"/>
                        </a:ln>
                      </a:bottom>
                    </a:tcBdr>
                  </a:tcPr>
                </a:tc>
                <a:tc>
                  <a:txBody>
                    <a:bodyPr anchor="ctr" anchorCtr="1"/>
                    <a:lstStyle/>
                    <a:p>
                      <a:pPr algn="ctr"/>
                      <a:r>
                        <a:rPr sz="1100" b="1">
                          <a:latin typeface="Calibri"/>
                        </a:rPr>
                        <a:t>23.3</a:t>
                      </a:r>
                      <a:endParaRPr lang="en-US"/>
                    </a:p>
                  </a:txBody>
                  <a:tcPr anchor="ctr" anchorCtr="1">
                    <a:tcBdr>
                      <a:left>
                        <a:ln w="6350" cap="flat" cmpd="sng" algn="ctr">
                          <a:solidFill>
                            <a:srgbClr val="D9D9D9"/>
                          </a:solidFill>
                          <a:prstDash val="solid"/>
                        </a:ln>
                      </a:left>
                      <a:right>
                        <a:ln w="6350" cap="flat" cmpd="sng" algn="ctr">
                          <a:solidFill>
                            <a:srgbClr val="D9D9D9"/>
                          </a:solidFill>
                          <a:prstDash val="solid"/>
                        </a:ln>
                      </a:right>
                      <a:top>
                        <a:ln w="6350" cap="flat" cmpd="sng" algn="ctr">
                          <a:solidFill>
                            <a:srgbClr val="D9D9D9"/>
                          </a:solidFill>
                          <a:prstDash val="solid"/>
                        </a:ln>
                      </a:top>
                      <a:bottom>
                        <a:ln w="6350" cap="flat" cmpd="sng" algn="ctr">
                          <a:solidFill>
                            <a:srgbClr val="D9D9D9"/>
                          </a:solidFill>
                          <a:prstDash val="solid"/>
                        </a:ln>
                      </a:bottom>
                    </a:tcBdr>
                  </a:tcPr>
                </a:tc>
                <a:tc>
                  <a:txBody>
                    <a:bodyPr anchor="ctr" anchorCtr="1"/>
                    <a:lstStyle/>
                    <a:p>
                      <a:pPr algn="ctr"/>
                      <a:r>
                        <a:rPr sz="1100" b="1">
                          <a:latin typeface="Calibri"/>
                        </a:rPr>
                        <a:t>25.5</a:t>
                      </a:r>
                      <a:endParaRPr lang="en-US"/>
                    </a:p>
                  </a:txBody>
                  <a:tcPr anchor="ctr" anchorCtr="1">
                    <a:tcBdr>
                      <a:left>
                        <a:ln w="6350" cap="flat" cmpd="sng" algn="ctr">
                          <a:solidFill>
                            <a:srgbClr val="D9D9D9"/>
                          </a:solidFill>
                          <a:prstDash val="solid"/>
                        </a:ln>
                      </a:left>
                      <a:right>
                        <a:ln w="6350" cap="flat" cmpd="sng" algn="ctr">
                          <a:solidFill>
                            <a:srgbClr val="D9D9D9"/>
                          </a:solidFill>
                          <a:prstDash val="solid"/>
                        </a:ln>
                      </a:right>
                      <a:top>
                        <a:ln w="6350" cap="flat" cmpd="sng" algn="ctr">
                          <a:solidFill>
                            <a:srgbClr val="D9D9D9"/>
                          </a:solidFill>
                          <a:prstDash val="solid"/>
                        </a:ln>
                      </a:top>
                      <a:bottom>
                        <a:ln w="6350" cap="flat" cmpd="sng" algn="ctr">
                          <a:solidFill>
                            <a:srgbClr val="D9D9D9"/>
                          </a:solidFill>
                          <a:prstDash val="solid"/>
                        </a:ln>
                      </a:bottom>
                    </a:tcBdr>
                  </a:tcPr>
                </a:tc>
                <a:tc>
                  <a:txBody>
                    <a:bodyPr anchor="ctr" anchorCtr="1"/>
                    <a:lstStyle/>
                    <a:p>
                      <a:pPr algn="ctr"/>
                      <a:r>
                        <a:rPr sz="1100" b="1">
                          <a:latin typeface="Calibri"/>
                        </a:rPr>
                        <a:t>27.7</a:t>
                      </a:r>
                      <a:endParaRPr lang="en-US"/>
                    </a:p>
                  </a:txBody>
                  <a:tcPr anchor="ctr" anchorCtr="1">
                    <a:tcBdr>
                      <a:left>
                        <a:ln w="6350" cap="flat" cmpd="sng" algn="ctr">
                          <a:solidFill>
                            <a:srgbClr val="D9D9D9"/>
                          </a:solidFill>
                          <a:prstDash val="solid"/>
                        </a:ln>
                      </a:left>
                      <a:right>
                        <a:ln w="6350" cap="flat" cmpd="sng" algn="ctr">
                          <a:solidFill>
                            <a:srgbClr val="D9D9D9"/>
                          </a:solidFill>
                          <a:prstDash val="solid"/>
                        </a:ln>
                      </a:right>
                      <a:top>
                        <a:ln w="6350" cap="flat" cmpd="sng" algn="ctr">
                          <a:solidFill>
                            <a:srgbClr val="D9D9D9"/>
                          </a:solidFill>
                          <a:prstDash val="solid"/>
                        </a:ln>
                      </a:top>
                      <a:bottom>
                        <a:ln w="6350" cap="flat" cmpd="sng" algn="ctr">
                          <a:solidFill>
                            <a:srgbClr val="D9D9D9"/>
                          </a:solidFill>
                          <a:prstDash val="solid"/>
                        </a:ln>
                      </a:bottom>
                    </a:tcBdr>
                  </a:tcPr>
                </a:tc>
                <a:tc>
                  <a:txBody>
                    <a:bodyPr anchor="ctr" anchorCtr="1"/>
                    <a:lstStyle/>
                    <a:p>
                      <a:pPr algn="ctr"/>
                      <a:r>
                        <a:rPr sz="1100" b="1">
                          <a:latin typeface="Calibri"/>
                        </a:rPr>
                        <a:t>dB</a:t>
                      </a:r>
                      <a:endParaRPr lang="en-US"/>
                    </a:p>
                  </a:txBody>
                  <a:tcPr anchor="ctr" anchorCtr="1">
                    <a:tcBdr>
                      <a:left>
                        <a:ln w="6350" cap="flat" cmpd="sng" algn="ctr">
                          <a:solidFill>
                            <a:srgbClr val="D9D9D9"/>
                          </a:solidFill>
                          <a:prstDash val="solid"/>
                        </a:ln>
                      </a:left>
                      <a:right>
                        <a:ln w="6350" cap="flat" cmpd="sng" algn="ctr">
                          <a:solidFill>
                            <a:srgbClr val="D9D9D9"/>
                          </a:solidFill>
                          <a:prstDash val="solid"/>
                        </a:ln>
                      </a:right>
                      <a:top>
                        <a:ln w="6350" cap="flat" cmpd="sng" algn="ctr">
                          <a:solidFill>
                            <a:srgbClr val="D9D9D9"/>
                          </a:solidFill>
                          <a:prstDash val="solid"/>
                        </a:ln>
                      </a:top>
                      <a:bottom>
                        <a:ln w="6350" cap="flat" cmpd="sng" algn="ctr">
                          <a:solidFill>
                            <a:srgbClr val="D9D9D9"/>
                          </a:solidFill>
                          <a:prstDash val="solid"/>
                        </a:ln>
                      </a:bottom>
                    </a:tcBdr>
                  </a:tcPr>
                </a:tc>
              </a:tr>
              <a:tr h="350000">
                <a:tc>
                  <a:txBody>
                    <a:bodyPr anchor="ctr" anchorCtr="1"/>
                    <a:lstStyle/>
                    <a:p>
                      <a:pPr algn="ctr"/>
                      <a:r>
                        <a:rPr sz="1100" b="1">
                          <a:latin typeface="Calibri"/>
                        </a:rPr>
                        <a:t>Gain Flatness</a:t>
                      </a:r>
                      <a:endParaRPr lang="en-US"/>
                    </a:p>
                  </a:txBody>
                  <a:tcPr anchor="ctr" anchorCtr="1">
                    <a:tcBdr>
                      <a:left>
                        <a:ln w="6350" cap="flat" cmpd="sng" algn="ctr">
                          <a:solidFill>
                            <a:srgbClr val="D9D9D9"/>
                          </a:solidFill>
                          <a:prstDash val="solid"/>
                        </a:ln>
                      </a:left>
                      <a:right>
                        <a:ln w="6350" cap="flat" cmpd="sng" algn="ctr">
                          <a:solidFill>
                            <a:srgbClr val="D9D9D9"/>
                          </a:solidFill>
                          <a:prstDash val="solid"/>
                        </a:ln>
                      </a:right>
                      <a:top>
                        <a:ln w="6350" cap="flat" cmpd="sng" algn="ctr">
                          <a:solidFill>
                            <a:srgbClr val="D9D9D9"/>
                          </a:solidFill>
                          <a:prstDash val="solid"/>
                        </a:ln>
                      </a:top>
                      <a:bottom>
                        <a:ln w="6350" cap="flat" cmpd="sng" algn="ctr">
                          <a:solidFill>
                            <a:srgbClr val="D9D9D9"/>
                          </a:solidFill>
                          <a:prstDash val="solid"/>
                        </a:ln>
                      </a:bottom>
                    </a:tcBdr>
                  </a:tcPr>
                </a:tc>
                <a:tc>
                  <a:txBody>
                    <a:bodyPr anchor="ctr" anchorCtr="1"/>
                    <a:lstStyle/>
                    <a:p>
                      <a:pPr algn="ctr"/>
                      <a:r>
                        <a:rPr sz="1100" b="1">
                          <a:latin typeface="Calibri"/>
                        </a:rPr>
                        <a:t> </a:t>
                      </a:r>
                      <a:endParaRPr lang="en-US"/>
                    </a:p>
                  </a:txBody>
                  <a:tcPr anchor="ctr" anchorCtr="1">
                    <a:tcBdr>
                      <a:left>
                        <a:ln w="6350" cap="flat" cmpd="sng" algn="ctr">
                          <a:solidFill>
                            <a:srgbClr val="D9D9D9"/>
                          </a:solidFill>
                          <a:prstDash val="solid"/>
                        </a:ln>
                      </a:left>
                      <a:right>
                        <a:ln w="6350" cap="flat" cmpd="sng" algn="ctr">
                          <a:solidFill>
                            <a:srgbClr val="D9D9D9"/>
                          </a:solidFill>
                          <a:prstDash val="solid"/>
                        </a:ln>
                      </a:right>
                      <a:top>
                        <a:ln w="6350" cap="flat" cmpd="sng" algn="ctr">
                          <a:solidFill>
                            <a:srgbClr val="D9D9D9"/>
                          </a:solidFill>
                          <a:prstDash val="solid"/>
                        </a:ln>
                      </a:top>
                      <a:bottom>
                        <a:ln w="6350" cap="flat" cmpd="sng" algn="ctr">
                          <a:solidFill>
                            <a:srgbClr val="D9D9D9"/>
                          </a:solidFill>
                          <a:prstDash val="solid"/>
                        </a:ln>
                      </a:bottom>
                    </a:tcBdr>
                  </a:tcPr>
                </a:tc>
                <a:tc>
                  <a:txBody>
                    <a:bodyPr anchor="ctr" anchorCtr="1"/>
                    <a:lstStyle/>
                    <a:p>
                      <a:pPr algn="ctr"/>
                      <a:r>
                        <a:rPr sz="1100" b="1">
                          <a:latin typeface="Calibri"/>
                        </a:rPr>
                        <a:t>±40.1</a:t>
                      </a:r>
                      <a:endParaRPr lang="en-US"/>
                    </a:p>
                  </a:txBody>
                  <a:tcPr anchor="ctr" anchorCtr="1">
                    <a:tcBdr>
                      <a:left>
                        <a:ln w="6350" cap="flat" cmpd="sng" algn="ctr">
                          <a:solidFill>
                            <a:srgbClr val="D9D9D9"/>
                          </a:solidFill>
                          <a:prstDash val="solid"/>
                        </a:ln>
                      </a:left>
                      <a:right>
                        <a:ln w="6350" cap="flat" cmpd="sng" algn="ctr">
                          <a:solidFill>
                            <a:srgbClr val="D9D9D9"/>
                          </a:solidFill>
                          <a:prstDash val="solid"/>
                        </a:ln>
                      </a:right>
                      <a:top>
                        <a:ln w="6350" cap="flat" cmpd="sng" algn="ctr">
                          <a:solidFill>
                            <a:srgbClr val="D9D9D9"/>
                          </a:solidFill>
                          <a:prstDash val="solid"/>
                        </a:ln>
                      </a:top>
                      <a:bottom>
                        <a:ln w="6350" cap="flat" cmpd="sng" algn="ctr">
                          <a:solidFill>
                            <a:srgbClr val="D9D9D9"/>
                          </a:solidFill>
                          <a:prstDash val="solid"/>
                        </a:ln>
                      </a:bottom>
                    </a:tcBdr>
                  </a:tcPr>
                </a:tc>
                <a:tc>
                  <a:txBody>
                    <a:bodyPr anchor="ctr" anchorCtr="1"/>
                    <a:lstStyle/>
                    <a:p>
                      <a:pPr algn="ctr"/>
                      <a:r>
                        <a:rPr sz="1100" b="1">
                          <a:latin typeface="Calibri"/>
                        </a:rPr>
                        <a:t> </a:t>
                      </a:r>
                      <a:endParaRPr lang="en-US"/>
                    </a:p>
                  </a:txBody>
                  <a:tcPr anchor="ctr" anchorCtr="1">
                    <a:tcBdr>
                      <a:left>
                        <a:ln w="6350" cap="flat" cmpd="sng" algn="ctr">
                          <a:solidFill>
                            <a:srgbClr val="D9D9D9"/>
                          </a:solidFill>
                          <a:prstDash val="solid"/>
                        </a:ln>
                      </a:left>
                      <a:right>
                        <a:ln w="6350" cap="flat" cmpd="sng" algn="ctr">
                          <a:solidFill>
                            <a:srgbClr val="D9D9D9"/>
                          </a:solidFill>
                          <a:prstDash val="solid"/>
                        </a:ln>
                      </a:right>
                      <a:top>
                        <a:ln w="6350" cap="flat" cmpd="sng" algn="ctr">
                          <a:solidFill>
                            <a:srgbClr val="D9D9D9"/>
                          </a:solidFill>
                          <a:prstDash val="solid"/>
                        </a:ln>
                      </a:top>
                      <a:bottom>
                        <a:ln w="6350" cap="flat" cmpd="sng" algn="ctr">
                          <a:solidFill>
                            <a:srgbClr val="D9D9D9"/>
                          </a:solidFill>
                          <a:prstDash val="solid"/>
                        </a:ln>
                      </a:bottom>
                    </a:tcBdr>
                  </a:tcPr>
                </a:tc>
                <a:tc>
                  <a:txBody>
                    <a:bodyPr anchor="ctr" anchorCtr="1"/>
                    <a:lstStyle/>
                    <a:p>
                      <a:pPr algn="ctr"/>
                      <a:r>
                        <a:rPr sz="1100" b="1">
                          <a:latin typeface="Calibri"/>
                        </a:rPr>
                        <a:t> </a:t>
                      </a:r>
                      <a:endParaRPr lang="en-US"/>
                    </a:p>
                  </a:txBody>
                  <a:tcPr anchor="ctr" anchorCtr="1">
                    <a:tcBdr>
                      <a:left>
                        <a:ln w="6350" cap="flat" cmpd="sng" algn="ctr">
                          <a:solidFill>
                            <a:srgbClr val="D9D9D9"/>
                          </a:solidFill>
                          <a:prstDash val="solid"/>
                        </a:ln>
                      </a:left>
                      <a:right>
                        <a:ln w="6350" cap="flat" cmpd="sng" algn="ctr">
                          <a:solidFill>
                            <a:srgbClr val="D9D9D9"/>
                          </a:solidFill>
                          <a:prstDash val="solid"/>
                        </a:ln>
                      </a:right>
                      <a:top>
                        <a:ln w="6350" cap="flat" cmpd="sng" algn="ctr">
                          <a:solidFill>
                            <a:srgbClr val="D9D9D9"/>
                          </a:solidFill>
                          <a:prstDash val="solid"/>
                        </a:ln>
                      </a:top>
                      <a:bottom>
                        <a:ln w="6350" cap="flat" cmpd="sng" algn="ctr">
                          <a:solidFill>
                            <a:srgbClr val="D9D9D9"/>
                          </a:solidFill>
                          <a:prstDash val="solid"/>
                        </a:ln>
                      </a:bottom>
                    </a:tcBdr>
                  </a:tcPr>
                </a:tc>
                <a:tc>
                  <a:txBody>
                    <a:bodyPr anchor="ctr" anchorCtr="1"/>
                    <a:lstStyle/>
                    <a:p>
                      <a:pPr algn="ctr"/>
                      <a:r>
                        <a:rPr sz="1100" b="1">
                          <a:latin typeface="Calibri"/>
                        </a:rPr>
                        <a:t>±1.6</a:t>
                      </a:r>
                      <a:endParaRPr lang="en-US"/>
                    </a:p>
                  </a:txBody>
                  <a:tcPr anchor="ctr" anchorCtr="1">
                    <a:tcBdr>
                      <a:left>
                        <a:ln w="6350" cap="flat" cmpd="sng" algn="ctr">
                          <a:solidFill>
                            <a:srgbClr val="D9D9D9"/>
                          </a:solidFill>
                          <a:prstDash val="solid"/>
                        </a:ln>
                      </a:left>
                      <a:right>
                        <a:ln w="6350" cap="flat" cmpd="sng" algn="ctr">
                          <a:solidFill>
                            <a:srgbClr val="D9D9D9"/>
                          </a:solidFill>
                          <a:prstDash val="solid"/>
                        </a:ln>
                      </a:right>
                      <a:top>
                        <a:ln w="6350" cap="flat" cmpd="sng" algn="ctr">
                          <a:solidFill>
                            <a:srgbClr val="D9D9D9"/>
                          </a:solidFill>
                          <a:prstDash val="solid"/>
                        </a:ln>
                      </a:top>
                      <a:bottom>
                        <a:ln w="6350" cap="flat" cmpd="sng" algn="ctr">
                          <a:solidFill>
                            <a:srgbClr val="D9D9D9"/>
                          </a:solidFill>
                          <a:prstDash val="solid"/>
                        </a:ln>
                      </a:bottom>
                    </a:tcBdr>
                  </a:tcPr>
                </a:tc>
                <a:tc>
                  <a:txBody>
                    <a:bodyPr anchor="ctr" anchorCtr="1"/>
                    <a:lstStyle/>
                    <a:p>
                      <a:pPr algn="ctr"/>
                      <a:r>
                        <a:rPr sz="1100" b="1">
                          <a:latin typeface="Calibri"/>
                        </a:rPr>
                        <a:t> </a:t>
                      </a:r>
                      <a:endParaRPr lang="en-US"/>
                    </a:p>
                  </a:txBody>
                  <a:tcPr anchor="ctr" anchorCtr="1">
                    <a:tcBdr>
                      <a:left>
                        <a:ln w="6350" cap="flat" cmpd="sng" algn="ctr">
                          <a:solidFill>
                            <a:srgbClr val="D9D9D9"/>
                          </a:solidFill>
                          <a:prstDash val="solid"/>
                        </a:ln>
                      </a:left>
                      <a:right>
                        <a:ln w="6350" cap="flat" cmpd="sng" algn="ctr">
                          <a:solidFill>
                            <a:srgbClr val="D9D9D9"/>
                          </a:solidFill>
                          <a:prstDash val="solid"/>
                        </a:ln>
                      </a:right>
                      <a:top>
                        <a:ln w="6350" cap="flat" cmpd="sng" algn="ctr">
                          <a:solidFill>
                            <a:srgbClr val="D9D9D9"/>
                          </a:solidFill>
                          <a:prstDash val="solid"/>
                        </a:ln>
                      </a:top>
                      <a:bottom>
                        <a:ln w="6350" cap="flat" cmpd="sng" algn="ctr">
                          <a:solidFill>
                            <a:srgbClr val="D9D9D9"/>
                          </a:solidFill>
                          <a:prstDash val="solid"/>
                        </a:ln>
                      </a:bottom>
                    </a:tcBdr>
                  </a:tcPr>
                </a:tc>
                <a:tc>
                  <a:txBody>
                    <a:bodyPr anchor="ctr" anchorCtr="1"/>
                    <a:lstStyle/>
                    <a:p>
                      <a:pPr algn="ctr"/>
                      <a:r>
                        <a:rPr sz="1100" b="1">
                          <a:latin typeface="Calibri"/>
                        </a:rPr>
                        <a:t>dB</a:t>
                      </a:r>
                      <a:endParaRPr lang="en-US"/>
                    </a:p>
                  </a:txBody>
                  <a:tcPr anchor="ctr" anchorCtr="1">
                    <a:tcBdr>
                      <a:left>
                        <a:ln w="6350" cap="flat" cmpd="sng" algn="ctr">
                          <a:solidFill>
                            <a:srgbClr val="D9D9D9"/>
                          </a:solidFill>
                          <a:prstDash val="solid"/>
                        </a:ln>
                      </a:left>
                      <a:right>
                        <a:ln w="6350" cap="flat" cmpd="sng" algn="ctr">
                          <a:solidFill>
                            <a:srgbClr val="D9D9D9"/>
                          </a:solidFill>
                          <a:prstDash val="solid"/>
                        </a:ln>
                      </a:right>
                      <a:top>
                        <a:ln w="6350" cap="flat" cmpd="sng" algn="ctr">
                          <a:solidFill>
                            <a:srgbClr val="D9D9D9"/>
                          </a:solidFill>
                          <a:prstDash val="solid"/>
                        </a:ln>
                      </a:top>
                      <a:bottom>
                        <a:ln w="6350" cap="flat" cmpd="sng" algn="ctr">
                          <a:solidFill>
                            <a:srgbClr val="D9D9D9"/>
                          </a:solidFill>
                          <a:prstDash val="solid"/>
                        </a:ln>
                      </a:bottom>
                    </a:tcBdr>
                  </a:tcPr>
                </a:tc>
              </a:tr>
              <a:tr h="350000">
                <a:tc>
                  <a:txBody>
                    <a:bodyPr anchor="ctr" anchorCtr="1"/>
                    <a:lstStyle/>
                    <a:p>
                      <a:pPr algn="ctr"/>
                      <a:r>
                        <a:rPr sz="1100" b="1">
                          <a:latin typeface="Calibri"/>
                        </a:rPr>
                        <a:t>Noise Figure</a:t>
                      </a:r>
                      <a:endParaRPr lang="en-US"/>
                    </a:p>
                  </a:txBody>
                  <a:tcPr anchor="ctr" anchorCtr="1">
                    <a:tcBdr>
                      <a:left>
                        <a:ln w="6350" cap="flat" cmpd="sng" algn="ctr">
                          <a:solidFill>
                            <a:srgbClr val="D9D9D9"/>
                          </a:solidFill>
                          <a:prstDash val="solid"/>
                        </a:ln>
                      </a:left>
                      <a:right>
                        <a:ln w="6350" cap="flat" cmpd="sng" algn="ctr">
                          <a:solidFill>
                            <a:srgbClr val="D9D9D9"/>
                          </a:solidFill>
                          <a:prstDash val="solid"/>
                        </a:ln>
                      </a:right>
                      <a:top>
                        <a:ln w="6350" cap="flat" cmpd="sng" algn="ctr">
                          <a:solidFill>
                            <a:srgbClr val="D9D9D9"/>
                          </a:solidFill>
                          <a:prstDash val="solid"/>
                        </a:ln>
                      </a:top>
                      <a:bottom>
                        <a:ln w="6350" cap="flat" cmpd="sng" algn="ctr">
                          <a:solidFill>
                            <a:srgbClr val="D9D9D9"/>
                          </a:solidFill>
                          <a:prstDash val="solid"/>
                        </a:ln>
                      </a:bottom>
                    </a:tcBdr>
                  </a:tcPr>
                </a:tc>
                <a:tc>
                  <a:txBody>
                    <a:bodyPr anchor="ctr" anchorCtr="1"/>
                    <a:lstStyle/>
                    <a:p>
                      <a:pPr algn="ctr"/>
                      <a:r>
                        <a:rPr sz="1100" b="1">
                          <a:latin typeface="Calibri"/>
                        </a:rPr>
                        <a:t>0.3</a:t>
                      </a:r>
                      <a:endParaRPr lang="en-US"/>
                    </a:p>
                  </a:txBody>
                  <a:tcPr anchor="ctr" anchorCtr="1">
                    <a:tcBdr>
                      <a:left>
                        <a:ln w="6350" cap="flat" cmpd="sng" algn="ctr">
                          <a:solidFill>
                            <a:srgbClr val="D9D9D9"/>
                          </a:solidFill>
                          <a:prstDash val="solid"/>
                        </a:ln>
                      </a:left>
                      <a:right>
                        <a:ln w="6350" cap="flat" cmpd="sng" algn="ctr">
                          <a:solidFill>
                            <a:srgbClr val="D9D9D9"/>
                          </a:solidFill>
                          <a:prstDash val="solid"/>
                        </a:ln>
                      </a:right>
                      <a:top>
                        <a:ln w="6350" cap="flat" cmpd="sng" algn="ctr">
                          <a:solidFill>
                            <a:srgbClr val="D9D9D9"/>
                          </a:solidFill>
                          <a:prstDash val="solid"/>
                        </a:ln>
                      </a:top>
                      <a:bottom>
                        <a:ln w="6350" cap="flat" cmpd="sng" algn="ctr">
                          <a:solidFill>
                            <a:srgbClr val="D9D9D9"/>
                          </a:solidFill>
                          <a:prstDash val="solid"/>
                        </a:ln>
                      </a:bottom>
                    </a:tcBdr>
                  </a:tcPr>
                </a:tc>
                <a:tc>
                  <a:txBody>
                    <a:bodyPr anchor="ctr" anchorCtr="1"/>
                    <a:lstStyle/>
                    <a:p>
                      <a:pPr algn="ctr"/>
                      <a:r>
                        <a:rPr sz="1100" b="1">
                          <a:latin typeface="Calibri"/>
                        </a:rPr>
                        <a:t>0.5</a:t>
                      </a:r>
                      <a:endParaRPr lang="en-US"/>
                    </a:p>
                  </a:txBody>
                  <a:tcPr anchor="ctr" anchorCtr="1">
                    <a:tcBdr>
                      <a:left>
                        <a:ln w="6350" cap="flat" cmpd="sng" algn="ctr">
                          <a:solidFill>
                            <a:srgbClr val="D9D9D9"/>
                          </a:solidFill>
                          <a:prstDash val="solid"/>
                        </a:ln>
                      </a:left>
                      <a:right>
                        <a:ln w="6350" cap="flat" cmpd="sng" algn="ctr">
                          <a:solidFill>
                            <a:srgbClr val="D9D9D9"/>
                          </a:solidFill>
                          <a:prstDash val="solid"/>
                        </a:ln>
                      </a:right>
                      <a:top>
                        <a:ln w="6350" cap="flat" cmpd="sng" algn="ctr">
                          <a:solidFill>
                            <a:srgbClr val="D9D9D9"/>
                          </a:solidFill>
                          <a:prstDash val="solid"/>
                        </a:ln>
                      </a:top>
                      <a:bottom>
                        <a:ln w="6350" cap="flat" cmpd="sng" algn="ctr">
                          <a:solidFill>
                            <a:srgbClr val="D9D9D9"/>
                          </a:solidFill>
                          <a:prstDash val="solid"/>
                        </a:ln>
                      </a:bottom>
                    </a:tcBdr>
                  </a:tcPr>
                </a:tc>
                <a:tc>
                  <a:txBody>
                    <a:bodyPr anchor="ctr" anchorCtr="1"/>
                    <a:lstStyle/>
                    <a:p>
                      <a:pPr algn="ctr"/>
                      <a:r>
                        <a:rPr sz="1100" b="1">
                          <a:latin typeface="Calibri"/>
                        </a:rPr>
                        <a:t>0.7</a:t>
                      </a:r>
                      <a:endParaRPr lang="en-US"/>
                    </a:p>
                  </a:txBody>
                  <a:tcPr anchor="ctr" anchorCtr="1">
                    <a:tcBdr>
                      <a:left>
                        <a:ln w="6350" cap="flat" cmpd="sng" algn="ctr">
                          <a:solidFill>
                            <a:srgbClr val="D9D9D9"/>
                          </a:solidFill>
                          <a:prstDash val="solid"/>
                        </a:ln>
                      </a:left>
                      <a:right>
                        <a:ln w="6350" cap="flat" cmpd="sng" algn="ctr">
                          <a:solidFill>
                            <a:srgbClr val="D9D9D9"/>
                          </a:solidFill>
                          <a:prstDash val="solid"/>
                        </a:ln>
                      </a:right>
                      <a:top>
                        <a:ln w="6350" cap="flat" cmpd="sng" algn="ctr">
                          <a:solidFill>
                            <a:srgbClr val="D9D9D9"/>
                          </a:solidFill>
                          <a:prstDash val="solid"/>
                        </a:ln>
                      </a:top>
                      <a:bottom>
                        <a:ln w="6350" cap="flat" cmpd="sng" algn="ctr">
                          <a:solidFill>
                            <a:srgbClr val="D9D9D9"/>
                          </a:solidFill>
                          <a:prstDash val="solid"/>
                        </a:ln>
                      </a:bottom>
                    </a:tcBdr>
                  </a:tcPr>
                </a:tc>
                <a:tc>
                  <a:txBody>
                    <a:bodyPr anchor="ctr" anchorCtr="1"/>
                    <a:lstStyle/>
                    <a:p>
                      <a:pPr algn="ctr"/>
                      <a:r>
                        <a:rPr sz="1100" b="1">
                          <a:latin typeface="Calibri"/>
                        </a:rPr>
                        <a:t>0.3</a:t>
                      </a:r>
                      <a:endParaRPr lang="en-US"/>
                    </a:p>
                  </a:txBody>
                  <a:tcPr anchor="ctr" anchorCtr="1">
                    <a:tcBdr>
                      <a:left>
                        <a:ln w="6350" cap="flat" cmpd="sng" algn="ctr">
                          <a:solidFill>
                            <a:srgbClr val="D9D9D9"/>
                          </a:solidFill>
                          <a:prstDash val="solid"/>
                        </a:ln>
                      </a:left>
                      <a:right>
                        <a:ln w="6350" cap="flat" cmpd="sng" algn="ctr">
                          <a:solidFill>
                            <a:srgbClr val="D9D9D9"/>
                          </a:solidFill>
                          <a:prstDash val="solid"/>
                        </a:ln>
                      </a:right>
                      <a:top>
                        <a:ln w="6350" cap="flat" cmpd="sng" algn="ctr">
                          <a:solidFill>
                            <a:srgbClr val="D9D9D9"/>
                          </a:solidFill>
                          <a:prstDash val="solid"/>
                        </a:ln>
                      </a:top>
                      <a:bottom>
                        <a:ln w="6350" cap="flat" cmpd="sng" algn="ctr">
                          <a:solidFill>
                            <a:srgbClr val="D9D9D9"/>
                          </a:solidFill>
                          <a:prstDash val="solid"/>
                        </a:ln>
                      </a:bottom>
                    </a:tcBdr>
                  </a:tcPr>
                </a:tc>
                <a:tc>
                  <a:txBody>
                    <a:bodyPr anchor="ctr" anchorCtr="1"/>
                    <a:lstStyle/>
                    <a:p>
                      <a:pPr algn="ctr"/>
                      <a:r>
                        <a:rPr sz="1100" b="1">
                          <a:latin typeface="Calibri"/>
                        </a:rPr>
                        <a:t>0.7</a:t>
                      </a:r>
                      <a:endParaRPr lang="en-US"/>
                    </a:p>
                  </a:txBody>
                  <a:tcPr anchor="ctr" anchorCtr="1">
                    <a:tcBdr>
                      <a:left>
                        <a:ln w="6350" cap="flat" cmpd="sng" algn="ctr">
                          <a:solidFill>
                            <a:srgbClr val="D9D9D9"/>
                          </a:solidFill>
                          <a:prstDash val="solid"/>
                        </a:ln>
                      </a:left>
                      <a:right>
                        <a:ln w="6350" cap="flat" cmpd="sng" algn="ctr">
                          <a:solidFill>
                            <a:srgbClr val="D9D9D9"/>
                          </a:solidFill>
                          <a:prstDash val="solid"/>
                        </a:ln>
                      </a:right>
                      <a:top>
                        <a:ln w="6350" cap="flat" cmpd="sng" algn="ctr">
                          <a:solidFill>
                            <a:srgbClr val="D9D9D9"/>
                          </a:solidFill>
                          <a:prstDash val="solid"/>
                        </a:ln>
                      </a:top>
                      <a:bottom>
                        <a:ln w="6350" cap="flat" cmpd="sng" algn="ctr">
                          <a:solidFill>
                            <a:srgbClr val="D9D9D9"/>
                          </a:solidFill>
                          <a:prstDash val="solid"/>
                        </a:ln>
                      </a:bottom>
                    </a:tcBdr>
                  </a:tcPr>
                </a:tc>
                <a:tc>
                  <a:txBody>
                    <a:bodyPr anchor="ctr" anchorCtr="1"/>
                    <a:lstStyle/>
                    <a:p>
                      <a:pPr algn="ctr"/>
                      <a:r>
                        <a:rPr sz="1100" b="1">
                          <a:latin typeface="Calibri"/>
                        </a:rPr>
                        <a:t>1.0</a:t>
                      </a:r>
                      <a:endParaRPr lang="en-US"/>
                    </a:p>
                  </a:txBody>
                  <a:tcPr anchor="ctr" anchorCtr="1">
                    <a:tcBdr>
                      <a:left>
                        <a:ln w="6350" cap="flat" cmpd="sng" algn="ctr">
                          <a:solidFill>
                            <a:srgbClr val="D9D9D9"/>
                          </a:solidFill>
                          <a:prstDash val="solid"/>
                        </a:ln>
                      </a:left>
                      <a:right>
                        <a:ln w="6350" cap="flat" cmpd="sng" algn="ctr">
                          <a:solidFill>
                            <a:srgbClr val="D9D9D9"/>
                          </a:solidFill>
                          <a:prstDash val="solid"/>
                        </a:ln>
                      </a:right>
                      <a:top>
                        <a:ln w="6350" cap="flat" cmpd="sng" algn="ctr">
                          <a:solidFill>
                            <a:srgbClr val="D9D9D9"/>
                          </a:solidFill>
                          <a:prstDash val="solid"/>
                        </a:ln>
                      </a:top>
                      <a:bottom>
                        <a:ln w="6350" cap="flat" cmpd="sng" algn="ctr">
                          <a:solidFill>
                            <a:srgbClr val="D9D9D9"/>
                          </a:solidFill>
                          <a:prstDash val="solid"/>
                        </a:ln>
                      </a:bottom>
                    </a:tcBdr>
                  </a:tcPr>
                </a:tc>
                <a:tc>
                  <a:txBody>
                    <a:bodyPr anchor="ctr" anchorCtr="1"/>
                    <a:lstStyle/>
                    <a:p>
                      <a:pPr algn="ctr"/>
                      <a:r>
                        <a:rPr sz="1100" b="1">
                          <a:latin typeface="Calibri"/>
                        </a:rPr>
                        <a:t>dB</a:t>
                      </a:r>
                      <a:endParaRPr lang="en-US"/>
                    </a:p>
                  </a:txBody>
                  <a:tcPr anchor="ctr" anchorCtr="1">
                    <a:tcBdr>
                      <a:left>
                        <a:ln w="6350" cap="flat" cmpd="sng" algn="ctr">
                          <a:solidFill>
                            <a:srgbClr val="D9D9D9"/>
                          </a:solidFill>
                          <a:prstDash val="solid"/>
                        </a:ln>
                      </a:left>
                      <a:right>
                        <a:ln w="6350" cap="flat" cmpd="sng" algn="ctr">
                          <a:solidFill>
                            <a:srgbClr val="D9D9D9"/>
                          </a:solidFill>
                          <a:prstDash val="solid"/>
                        </a:ln>
                      </a:right>
                      <a:top>
                        <a:ln w="6350" cap="flat" cmpd="sng" algn="ctr">
                          <a:solidFill>
                            <a:srgbClr val="D9D9D9"/>
                          </a:solidFill>
                          <a:prstDash val="solid"/>
                        </a:ln>
                      </a:top>
                      <a:bottom>
                        <a:ln w="6350" cap="flat" cmpd="sng" algn="ctr">
                          <a:solidFill>
                            <a:srgbClr val="D9D9D9"/>
                          </a:solidFill>
                          <a:prstDash val="solid"/>
                        </a:ln>
                      </a:bottom>
                    </a:tcBdr>
                  </a:tcPr>
                </a:tc>
              </a:tr>
              <a:tr h="350000">
                <a:tc>
                  <a:txBody>
                    <a:bodyPr anchor="ctr" anchorCtr="1"/>
                    <a:lstStyle/>
                    <a:p>
                      <a:pPr algn="ctr"/>
                      <a:r>
                        <a:rPr sz="1100" b="1">
                          <a:latin typeface="Calibri"/>
                        </a:rPr>
                        <a:t>P1dB - Output 1dB Compression</a:t>
                      </a:r>
                      <a:endParaRPr lang="en-US"/>
                    </a:p>
                  </a:txBody>
                  <a:tcPr anchor="ctr" anchorCtr="1">
                    <a:tcBdr>
                      <a:left>
                        <a:ln w="6350" cap="flat" cmpd="sng" algn="ctr">
                          <a:solidFill>
                            <a:srgbClr val="D9D9D9"/>
                          </a:solidFill>
                          <a:prstDash val="solid"/>
                        </a:ln>
                      </a:left>
                      <a:right>
                        <a:ln w="6350" cap="flat" cmpd="sng" algn="ctr">
                          <a:solidFill>
                            <a:srgbClr val="D9D9D9"/>
                          </a:solidFill>
                          <a:prstDash val="solid"/>
                        </a:ln>
                      </a:right>
                      <a:top>
                        <a:ln w="6350" cap="flat" cmpd="sng" algn="ctr">
                          <a:solidFill>
                            <a:srgbClr val="D9D9D9"/>
                          </a:solidFill>
                          <a:prstDash val="solid"/>
                        </a:ln>
                      </a:top>
                      <a:bottom>
                        <a:ln w="6350" cap="flat" cmpd="sng" algn="ctr">
                          <a:solidFill>
                            <a:srgbClr val="D9D9D9"/>
                          </a:solidFill>
                          <a:prstDash val="solid"/>
                        </a:ln>
                      </a:bottom>
                    </a:tcBdr>
                  </a:tcPr>
                </a:tc>
                <a:tc>
                  <a:txBody>
                    <a:bodyPr anchor="ctr" anchorCtr="1"/>
                    <a:lstStyle/>
                    <a:p>
                      <a:pPr algn="ctr"/>
                      <a:r>
                        <a:rPr sz="1100" b="1">
                          <a:latin typeface="Calibri"/>
                        </a:rPr>
                        <a:t>6.3</a:t>
                      </a:r>
                      <a:endParaRPr lang="en-US"/>
                    </a:p>
                  </a:txBody>
                  <a:tcPr anchor="ctr" anchorCtr="1">
                    <a:tcBdr>
                      <a:left>
                        <a:ln w="6350" cap="flat" cmpd="sng" algn="ctr">
                          <a:solidFill>
                            <a:srgbClr val="D9D9D9"/>
                          </a:solidFill>
                          <a:prstDash val="solid"/>
                        </a:ln>
                      </a:left>
                      <a:right>
                        <a:ln w="6350" cap="flat" cmpd="sng" algn="ctr">
                          <a:solidFill>
                            <a:srgbClr val="D9D9D9"/>
                          </a:solidFill>
                          <a:prstDash val="solid"/>
                        </a:ln>
                      </a:right>
                      <a:top>
                        <a:ln w="6350" cap="flat" cmpd="sng" algn="ctr">
                          <a:solidFill>
                            <a:srgbClr val="D9D9D9"/>
                          </a:solidFill>
                          <a:prstDash val="solid"/>
                        </a:ln>
                      </a:top>
                      <a:bottom>
                        <a:ln w="6350" cap="flat" cmpd="sng" algn="ctr">
                          <a:solidFill>
                            <a:srgbClr val="D9D9D9"/>
                          </a:solidFill>
                          <a:prstDash val="solid"/>
                        </a:ln>
                      </a:bottom>
                    </a:tcBdr>
                  </a:tcPr>
                </a:tc>
                <a:tc>
                  <a:txBody>
                    <a:bodyPr anchor="ctr" anchorCtr="1"/>
                    <a:lstStyle/>
                    <a:p>
                      <a:pPr algn="ctr"/>
                      <a:r>
                        <a:rPr sz="1100" b="1">
                          <a:latin typeface="Calibri"/>
                        </a:rPr>
                        <a:t>10.7</a:t>
                      </a:r>
                      <a:endParaRPr lang="en-US"/>
                    </a:p>
                  </a:txBody>
                  <a:tcPr anchor="ctr" anchorCtr="1">
                    <a:tcBdr>
                      <a:left>
                        <a:ln w="6350" cap="flat" cmpd="sng" algn="ctr">
                          <a:solidFill>
                            <a:srgbClr val="D9D9D9"/>
                          </a:solidFill>
                          <a:prstDash val="solid"/>
                        </a:ln>
                      </a:left>
                      <a:right>
                        <a:ln w="6350" cap="flat" cmpd="sng" algn="ctr">
                          <a:solidFill>
                            <a:srgbClr val="D9D9D9"/>
                          </a:solidFill>
                          <a:prstDash val="solid"/>
                        </a:ln>
                      </a:right>
                      <a:top>
                        <a:ln w="6350" cap="flat" cmpd="sng" algn="ctr">
                          <a:solidFill>
                            <a:srgbClr val="D9D9D9"/>
                          </a:solidFill>
                          <a:prstDash val="solid"/>
                        </a:ln>
                      </a:top>
                      <a:bottom>
                        <a:ln w="6350" cap="flat" cmpd="sng" algn="ctr">
                          <a:solidFill>
                            <a:srgbClr val="D9D9D9"/>
                          </a:solidFill>
                          <a:prstDash val="solid"/>
                        </a:ln>
                      </a:bottom>
                    </a:tcBdr>
                  </a:tcPr>
                </a:tc>
                <a:tc>
                  <a:txBody>
                    <a:bodyPr anchor="ctr" anchorCtr="1"/>
                    <a:lstStyle/>
                    <a:p>
                      <a:pPr algn="ctr"/>
                      <a:r>
                        <a:rPr sz="1100" b="1">
                          <a:latin typeface="Calibri"/>
                        </a:rPr>
                        <a:t>15.2</a:t>
                      </a:r>
                      <a:endParaRPr lang="en-US"/>
                    </a:p>
                  </a:txBody>
                  <a:tcPr anchor="ctr" anchorCtr="1">
                    <a:tcBdr>
                      <a:left>
                        <a:ln w="6350" cap="flat" cmpd="sng" algn="ctr">
                          <a:solidFill>
                            <a:srgbClr val="D9D9D9"/>
                          </a:solidFill>
                          <a:prstDash val="solid"/>
                        </a:ln>
                      </a:left>
                      <a:right>
                        <a:ln w="6350" cap="flat" cmpd="sng" algn="ctr">
                          <a:solidFill>
                            <a:srgbClr val="D9D9D9"/>
                          </a:solidFill>
                          <a:prstDash val="solid"/>
                        </a:ln>
                      </a:right>
                      <a:top>
                        <a:ln w="6350" cap="flat" cmpd="sng" algn="ctr">
                          <a:solidFill>
                            <a:srgbClr val="D9D9D9"/>
                          </a:solidFill>
                          <a:prstDash val="solid"/>
                        </a:ln>
                      </a:top>
                      <a:bottom>
                        <a:ln w="6350" cap="flat" cmpd="sng" algn="ctr">
                          <a:solidFill>
                            <a:srgbClr val="D9D9D9"/>
                          </a:solidFill>
                          <a:prstDash val="solid"/>
                        </a:ln>
                      </a:bottom>
                    </a:tcBdr>
                  </a:tcPr>
                </a:tc>
                <a:tc>
                  <a:txBody>
                    <a:bodyPr anchor="ctr" anchorCtr="1"/>
                    <a:lstStyle/>
                    <a:p>
                      <a:pPr algn="ctr"/>
                      <a:r>
                        <a:rPr sz="1100" b="1">
                          <a:latin typeface="Calibri"/>
                        </a:rPr>
                        <a:t>13.6</a:t>
                      </a:r>
                      <a:endParaRPr lang="en-US"/>
                    </a:p>
                  </a:txBody>
                  <a:tcPr anchor="ctr" anchorCtr="1">
                    <a:tcBdr>
                      <a:left>
                        <a:ln w="6350" cap="flat" cmpd="sng" algn="ctr">
                          <a:solidFill>
                            <a:srgbClr val="D9D9D9"/>
                          </a:solidFill>
                          <a:prstDash val="solid"/>
                        </a:ln>
                      </a:left>
                      <a:right>
                        <a:ln w="6350" cap="flat" cmpd="sng" algn="ctr">
                          <a:solidFill>
                            <a:srgbClr val="D9D9D9"/>
                          </a:solidFill>
                          <a:prstDash val="solid"/>
                        </a:ln>
                      </a:right>
                      <a:top>
                        <a:ln w="6350" cap="flat" cmpd="sng" algn="ctr">
                          <a:solidFill>
                            <a:srgbClr val="D9D9D9"/>
                          </a:solidFill>
                          <a:prstDash val="solid"/>
                        </a:ln>
                      </a:top>
                      <a:bottom>
                        <a:ln w="6350" cap="flat" cmpd="sng" algn="ctr">
                          <a:solidFill>
                            <a:srgbClr val="D9D9D9"/>
                          </a:solidFill>
                          <a:prstDash val="solid"/>
                        </a:ln>
                      </a:bottom>
                    </a:tcBdr>
                  </a:tcPr>
                </a:tc>
                <a:tc>
                  <a:txBody>
                    <a:bodyPr anchor="ctr" anchorCtr="1"/>
                    <a:lstStyle/>
                    <a:p>
                      <a:pPr algn="ctr"/>
                      <a:r>
                        <a:rPr sz="1100" b="1">
                          <a:latin typeface="Calibri"/>
                        </a:rPr>
                        <a:t>14.2</a:t>
                      </a:r>
                      <a:endParaRPr lang="en-US"/>
                    </a:p>
                  </a:txBody>
                  <a:tcPr anchor="ctr" anchorCtr="1">
                    <a:tcBdr>
                      <a:left>
                        <a:ln w="6350" cap="flat" cmpd="sng" algn="ctr">
                          <a:solidFill>
                            <a:srgbClr val="D9D9D9"/>
                          </a:solidFill>
                          <a:prstDash val="solid"/>
                        </a:ln>
                      </a:left>
                      <a:right>
                        <a:ln w="6350" cap="flat" cmpd="sng" algn="ctr">
                          <a:solidFill>
                            <a:srgbClr val="D9D9D9"/>
                          </a:solidFill>
                          <a:prstDash val="solid"/>
                        </a:ln>
                      </a:right>
                      <a:top>
                        <a:ln w="6350" cap="flat" cmpd="sng" algn="ctr">
                          <a:solidFill>
                            <a:srgbClr val="D9D9D9"/>
                          </a:solidFill>
                          <a:prstDash val="solid"/>
                        </a:ln>
                      </a:top>
                      <a:bottom>
                        <a:ln w="6350" cap="flat" cmpd="sng" algn="ctr">
                          <a:solidFill>
                            <a:srgbClr val="D9D9D9"/>
                          </a:solidFill>
                          <a:prstDash val="solid"/>
                        </a:ln>
                      </a:bottom>
                    </a:tcBdr>
                  </a:tcPr>
                </a:tc>
                <a:tc>
                  <a:txBody>
                    <a:bodyPr anchor="ctr" anchorCtr="1"/>
                    <a:lstStyle/>
                    <a:p>
                      <a:pPr algn="ctr"/>
                      <a:r>
                        <a:rPr sz="1100" b="1">
                          <a:latin typeface="Calibri"/>
                        </a:rPr>
                        <a:t>14.8</a:t>
                      </a:r>
                      <a:endParaRPr lang="en-US"/>
                    </a:p>
                  </a:txBody>
                  <a:tcPr anchor="ctr" anchorCtr="1">
                    <a:tcBdr>
                      <a:left>
                        <a:ln w="6350" cap="flat" cmpd="sng" algn="ctr">
                          <a:solidFill>
                            <a:srgbClr val="D9D9D9"/>
                          </a:solidFill>
                          <a:prstDash val="solid"/>
                        </a:ln>
                      </a:left>
                      <a:right>
                        <a:ln w="6350" cap="flat" cmpd="sng" algn="ctr">
                          <a:solidFill>
                            <a:srgbClr val="D9D9D9"/>
                          </a:solidFill>
                          <a:prstDash val="solid"/>
                        </a:ln>
                      </a:right>
                      <a:top>
                        <a:ln w="6350" cap="flat" cmpd="sng" algn="ctr">
                          <a:solidFill>
                            <a:srgbClr val="D9D9D9"/>
                          </a:solidFill>
                          <a:prstDash val="solid"/>
                        </a:ln>
                      </a:top>
                      <a:bottom>
                        <a:ln w="6350" cap="flat" cmpd="sng" algn="ctr">
                          <a:solidFill>
                            <a:srgbClr val="D9D9D9"/>
                          </a:solidFill>
                          <a:prstDash val="solid"/>
                        </a:ln>
                      </a:bottom>
                    </a:tcBdr>
                  </a:tcPr>
                </a:tc>
                <a:tc>
                  <a:txBody>
                    <a:bodyPr anchor="ctr" anchorCtr="1"/>
                    <a:lstStyle/>
                    <a:p>
                      <a:pPr algn="ctr"/>
                      <a:r>
                        <a:rPr sz="1100" b="1">
                          <a:latin typeface="Calibri"/>
                        </a:rPr>
                        <a:t>dBm</a:t>
                      </a:r>
                      <a:endParaRPr lang="en-US"/>
                    </a:p>
                  </a:txBody>
                  <a:tcPr anchor="ctr" anchorCtr="1">
                    <a:tcBdr>
                      <a:left>
                        <a:ln w="6350" cap="flat" cmpd="sng" algn="ctr">
                          <a:solidFill>
                            <a:srgbClr val="D9D9D9"/>
                          </a:solidFill>
                          <a:prstDash val="solid"/>
                        </a:ln>
                      </a:left>
                      <a:right>
                        <a:ln w="6350" cap="flat" cmpd="sng" algn="ctr">
                          <a:solidFill>
                            <a:srgbClr val="D9D9D9"/>
                          </a:solidFill>
                          <a:prstDash val="solid"/>
                        </a:ln>
                      </a:right>
                      <a:top>
                        <a:ln w="6350" cap="flat" cmpd="sng" algn="ctr">
                          <a:solidFill>
                            <a:srgbClr val="D9D9D9"/>
                          </a:solidFill>
                          <a:prstDash val="solid"/>
                        </a:ln>
                      </a:top>
                      <a:bottom>
                        <a:ln w="6350" cap="flat" cmpd="sng" algn="ctr">
                          <a:solidFill>
                            <a:srgbClr val="D9D9D9"/>
                          </a:solidFill>
                          <a:prstDash val="solid"/>
                        </a:ln>
                      </a:bottom>
                    </a:tcBdr>
                  </a:tcPr>
                </a:tc>
              </a:tr>
              <a:tr h="350000">
                <a:tc>
                  <a:txBody>
                    <a:bodyPr anchor="ctr" anchorCtr="1"/>
                    <a:lstStyle/>
                    <a:p>
                      <a:pPr algn="ctr"/>
                      <a:r>
                        <a:rPr sz="1100" b="1">
                          <a:latin typeface="Calibri"/>
                        </a:rPr>
                        <a:t>Psat - Saturated  Output Power</a:t>
                      </a:r>
                      <a:endParaRPr lang="en-US"/>
                    </a:p>
                  </a:txBody>
                  <a:tcPr anchor="ctr" anchorCtr="1">
                    <a:tcBdr>
                      <a:left>
                        <a:ln w="6350" cap="flat" cmpd="sng" algn="ctr">
                          <a:solidFill>
                            <a:srgbClr val="D9D9D9"/>
                          </a:solidFill>
                          <a:prstDash val="solid"/>
                        </a:ln>
                      </a:left>
                      <a:right>
                        <a:ln w="6350" cap="flat" cmpd="sng" algn="ctr">
                          <a:solidFill>
                            <a:srgbClr val="D9D9D9"/>
                          </a:solidFill>
                          <a:prstDash val="solid"/>
                        </a:ln>
                      </a:right>
                      <a:top>
                        <a:ln w="6350" cap="flat" cmpd="sng" algn="ctr">
                          <a:solidFill>
                            <a:srgbClr val="D9D9D9"/>
                          </a:solidFill>
                          <a:prstDash val="solid"/>
                        </a:ln>
                      </a:top>
                      <a:bottom>
                        <a:ln w="6350" cap="flat" cmpd="sng" algn="ctr">
                          <a:solidFill>
                            <a:srgbClr val="D9D9D9"/>
                          </a:solidFill>
                          <a:prstDash val="solid"/>
                        </a:ln>
                      </a:bottom>
                    </a:tcBdr>
                  </a:tcPr>
                </a:tc>
                <a:tc>
                  <a:txBody>
                    <a:bodyPr anchor="ctr" anchorCtr="1"/>
                    <a:lstStyle/>
                    <a:p>
                      <a:pPr algn="ctr"/>
                      <a:r>
                        <a:rPr sz="1100" b="1">
                          <a:latin typeface="Calibri"/>
                        </a:rPr>
                        <a:t>14.3</a:t>
                      </a:r>
                      <a:endParaRPr lang="en-US"/>
                    </a:p>
                  </a:txBody>
                  <a:tcPr anchor="ctr" anchorCtr="1">
                    <a:tcBdr>
                      <a:left>
                        <a:ln w="6350" cap="flat" cmpd="sng" algn="ctr">
                          <a:solidFill>
                            <a:srgbClr val="D9D9D9"/>
                          </a:solidFill>
                          <a:prstDash val="solid"/>
                        </a:ln>
                      </a:left>
                      <a:right>
                        <a:ln w="6350" cap="flat" cmpd="sng" algn="ctr">
                          <a:solidFill>
                            <a:srgbClr val="D9D9D9"/>
                          </a:solidFill>
                          <a:prstDash val="solid"/>
                        </a:ln>
                      </a:right>
                      <a:top>
                        <a:ln w="6350" cap="flat" cmpd="sng" algn="ctr">
                          <a:solidFill>
                            <a:srgbClr val="D9D9D9"/>
                          </a:solidFill>
                          <a:prstDash val="solid"/>
                        </a:ln>
                      </a:top>
                      <a:bottom>
                        <a:ln w="6350" cap="flat" cmpd="sng" algn="ctr">
                          <a:solidFill>
                            <a:srgbClr val="D9D9D9"/>
                          </a:solidFill>
                          <a:prstDash val="solid"/>
                        </a:ln>
                      </a:bottom>
                    </a:tcBdr>
                  </a:tcPr>
                </a:tc>
                <a:tc>
                  <a:txBody>
                    <a:bodyPr anchor="ctr" anchorCtr="1"/>
                    <a:lstStyle/>
                    <a:p>
                      <a:pPr algn="ctr"/>
                      <a:r>
                        <a:rPr sz="1100" b="1">
                          <a:latin typeface="Calibri"/>
                        </a:rPr>
                        <a:t>15.0</a:t>
                      </a:r>
                      <a:endParaRPr lang="en-US"/>
                    </a:p>
                  </a:txBody>
                  <a:tcPr anchor="ctr" anchorCtr="1">
                    <a:tcBdr>
                      <a:left>
                        <a:ln w="6350" cap="flat" cmpd="sng" algn="ctr">
                          <a:solidFill>
                            <a:srgbClr val="D9D9D9"/>
                          </a:solidFill>
                          <a:prstDash val="solid"/>
                        </a:ln>
                      </a:left>
                      <a:right>
                        <a:ln w="6350" cap="flat" cmpd="sng" algn="ctr">
                          <a:solidFill>
                            <a:srgbClr val="D9D9D9"/>
                          </a:solidFill>
                          <a:prstDash val="solid"/>
                        </a:ln>
                      </a:right>
                      <a:top>
                        <a:ln w="6350" cap="flat" cmpd="sng" algn="ctr">
                          <a:solidFill>
                            <a:srgbClr val="D9D9D9"/>
                          </a:solidFill>
                          <a:prstDash val="solid"/>
                        </a:ln>
                      </a:top>
                      <a:bottom>
                        <a:ln w="6350" cap="flat" cmpd="sng" algn="ctr">
                          <a:solidFill>
                            <a:srgbClr val="D9D9D9"/>
                          </a:solidFill>
                          <a:prstDash val="solid"/>
                        </a:ln>
                      </a:bottom>
                    </a:tcBdr>
                  </a:tcPr>
                </a:tc>
                <a:tc>
                  <a:txBody>
                    <a:bodyPr anchor="ctr" anchorCtr="1"/>
                    <a:lstStyle/>
                    <a:p>
                      <a:pPr algn="ctr"/>
                      <a:r>
                        <a:rPr sz="1100" b="1">
                          <a:latin typeface="Calibri"/>
                        </a:rPr>
                        <a:t>15.7</a:t>
                      </a:r>
                      <a:endParaRPr lang="en-US"/>
                    </a:p>
                  </a:txBody>
                  <a:tcPr anchor="ctr" anchorCtr="1">
                    <a:tcBdr>
                      <a:left>
                        <a:ln w="6350" cap="flat" cmpd="sng" algn="ctr">
                          <a:solidFill>
                            <a:srgbClr val="D9D9D9"/>
                          </a:solidFill>
                          <a:prstDash val="solid"/>
                        </a:ln>
                      </a:left>
                      <a:right>
                        <a:ln w="6350" cap="flat" cmpd="sng" algn="ctr">
                          <a:solidFill>
                            <a:srgbClr val="D9D9D9"/>
                          </a:solidFill>
                          <a:prstDash val="solid"/>
                        </a:ln>
                      </a:right>
                      <a:top>
                        <a:ln w="6350" cap="flat" cmpd="sng" algn="ctr">
                          <a:solidFill>
                            <a:srgbClr val="D9D9D9"/>
                          </a:solidFill>
                          <a:prstDash val="solid"/>
                        </a:ln>
                      </a:top>
                      <a:bottom>
                        <a:ln w="6350" cap="flat" cmpd="sng" algn="ctr">
                          <a:solidFill>
                            <a:srgbClr val="D9D9D9"/>
                          </a:solidFill>
                          <a:prstDash val="solid"/>
                        </a:ln>
                      </a:bottom>
                    </a:tcBdr>
                  </a:tcPr>
                </a:tc>
                <a:tc>
                  <a:txBody>
                    <a:bodyPr anchor="ctr" anchorCtr="1"/>
                    <a:lstStyle/>
                    <a:p>
                      <a:pPr algn="ctr"/>
                      <a:r>
                        <a:rPr sz="1100" b="1">
                          <a:latin typeface="Calibri"/>
                        </a:rPr>
                        <a:t>15.6</a:t>
                      </a:r>
                      <a:endParaRPr lang="en-US"/>
                    </a:p>
                  </a:txBody>
                  <a:tcPr anchor="ctr" anchorCtr="1">
                    <a:tcBdr>
                      <a:left>
                        <a:ln w="6350" cap="flat" cmpd="sng" algn="ctr">
                          <a:solidFill>
                            <a:srgbClr val="D9D9D9"/>
                          </a:solidFill>
                          <a:prstDash val="solid"/>
                        </a:ln>
                      </a:left>
                      <a:right>
                        <a:ln w="6350" cap="flat" cmpd="sng" algn="ctr">
                          <a:solidFill>
                            <a:srgbClr val="D9D9D9"/>
                          </a:solidFill>
                          <a:prstDash val="solid"/>
                        </a:ln>
                      </a:right>
                      <a:top>
                        <a:ln w="6350" cap="flat" cmpd="sng" algn="ctr">
                          <a:solidFill>
                            <a:srgbClr val="D9D9D9"/>
                          </a:solidFill>
                          <a:prstDash val="solid"/>
                        </a:ln>
                      </a:top>
                      <a:bottom>
                        <a:ln w="6350" cap="flat" cmpd="sng" algn="ctr">
                          <a:solidFill>
                            <a:srgbClr val="D9D9D9"/>
                          </a:solidFill>
                          <a:prstDash val="solid"/>
                        </a:ln>
                      </a:bottom>
                    </a:tcBdr>
                  </a:tcPr>
                </a:tc>
                <a:tc>
                  <a:txBody>
                    <a:bodyPr anchor="ctr" anchorCtr="1"/>
                    <a:lstStyle/>
                    <a:p>
                      <a:pPr algn="ctr"/>
                      <a:r>
                        <a:rPr sz="1100" b="1">
                          <a:latin typeface="Calibri"/>
                        </a:rPr>
                        <a:t>16.2</a:t>
                      </a:r>
                      <a:endParaRPr lang="en-US"/>
                    </a:p>
                  </a:txBody>
                  <a:tcPr anchor="ctr" anchorCtr="1">
                    <a:tcBdr>
                      <a:left>
                        <a:ln w="6350" cap="flat" cmpd="sng" algn="ctr">
                          <a:solidFill>
                            <a:srgbClr val="D9D9D9"/>
                          </a:solidFill>
                          <a:prstDash val="solid"/>
                        </a:ln>
                      </a:left>
                      <a:right>
                        <a:ln w="6350" cap="flat" cmpd="sng" algn="ctr">
                          <a:solidFill>
                            <a:srgbClr val="D9D9D9"/>
                          </a:solidFill>
                          <a:prstDash val="solid"/>
                        </a:ln>
                      </a:right>
                      <a:top>
                        <a:ln w="6350" cap="flat" cmpd="sng" algn="ctr">
                          <a:solidFill>
                            <a:srgbClr val="D9D9D9"/>
                          </a:solidFill>
                          <a:prstDash val="solid"/>
                        </a:ln>
                      </a:top>
                      <a:bottom>
                        <a:ln w="6350" cap="flat" cmpd="sng" algn="ctr">
                          <a:solidFill>
                            <a:srgbClr val="D9D9D9"/>
                          </a:solidFill>
                          <a:prstDash val="solid"/>
                        </a:ln>
                      </a:bottom>
                    </a:tcBdr>
                  </a:tcPr>
                </a:tc>
                <a:tc>
                  <a:txBody>
                    <a:bodyPr anchor="ctr" anchorCtr="1"/>
                    <a:lstStyle/>
                    <a:p>
                      <a:pPr algn="ctr"/>
                      <a:r>
                        <a:rPr sz="1100" b="1">
                          <a:latin typeface="Calibri"/>
                        </a:rPr>
                        <a:t>16.7</a:t>
                      </a:r>
                      <a:endParaRPr lang="en-US"/>
                    </a:p>
                  </a:txBody>
                  <a:tcPr anchor="ctr" anchorCtr="1">
                    <a:tcBdr>
                      <a:left>
                        <a:ln w="6350" cap="flat" cmpd="sng" algn="ctr">
                          <a:solidFill>
                            <a:srgbClr val="D9D9D9"/>
                          </a:solidFill>
                          <a:prstDash val="solid"/>
                        </a:ln>
                      </a:left>
                      <a:right>
                        <a:ln w="6350" cap="flat" cmpd="sng" algn="ctr">
                          <a:solidFill>
                            <a:srgbClr val="D9D9D9"/>
                          </a:solidFill>
                          <a:prstDash val="solid"/>
                        </a:ln>
                      </a:right>
                      <a:top>
                        <a:ln w="6350" cap="flat" cmpd="sng" algn="ctr">
                          <a:solidFill>
                            <a:srgbClr val="D9D9D9"/>
                          </a:solidFill>
                          <a:prstDash val="solid"/>
                        </a:ln>
                      </a:top>
                      <a:bottom>
                        <a:ln w="6350" cap="flat" cmpd="sng" algn="ctr">
                          <a:solidFill>
                            <a:srgbClr val="D9D9D9"/>
                          </a:solidFill>
                          <a:prstDash val="solid"/>
                        </a:ln>
                      </a:bottom>
                    </a:tcBdr>
                  </a:tcPr>
                </a:tc>
                <a:tc>
                  <a:txBody>
                    <a:bodyPr anchor="ctr" anchorCtr="1"/>
                    <a:lstStyle/>
                    <a:p>
                      <a:pPr algn="ctr"/>
                      <a:r>
                        <a:rPr sz="1100" b="1">
                          <a:latin typeface="Calibri"/>
                        </a:rPr>
                        <a:t>dBm</a:t>
                      </a:r>
                      <a:endParaRPr lang="en-US"/>
                    </a:p>
                  </a:txBody>
                  <a:tcPr anchor="ctr" anchorCtr="1">
                    <a:tcBdr>
                      <a:left>
                        <a:ln w="6350" cap="flat" cmpd="sng" algn="ctr">
                          <a:solidFill>
                            <a:srgbClr val="D9D9D9"/>
                          </a:solidFill>
                          <a:prstDash val="solid"/>
                        </a:ln>
                      </a:left>
                      <a:right>
                        <a:ln w="6350" cap="flat" cmpd="sng" algn="ctr">
                          <a:solidFill>
                            <a:srgbClr val="D9D9D9"/>
                          </a:solidFill>
                          <a:prstDash val="solid"/>
                        </a:ln>
                      </a:right>
                      <a:top>
                        <a:ln w="6350" cap="flat" cmpd="sng" algn="ctr">
                          <a:solidFill>
                            <a:srgbClr val="D9D9D9"/>
                          </a:solidFill>
                          <a:prstDash val="solid"/>
                        </a:ln>
                      </a:top>
                      <a:bottom>
                        <a:ln w="6350" cap="flat" cmpd="sng" algn="ctr">
                          <a:solidFill>
                            <a:srgbClr val="D9D9D9"/>
                          </a:solidFill>
                          <a:prstDash val="solid"/>
                        </a:ln>
                      </a:bottom>
                    </a:tcBdr>
                  </a:tcPr>
                </a:tc>
              </a:tr>
              <a:tr h="350000">
                <a:tc>
                  <a:txBody>
                    <a:bodyPr anchor="ctr" anchorCtr="1"/>
                    <a:lstStyle/>
                    <a:p>
                      <a:pPr algn="ctr"/>
                      <a:r>
                        <a:rPr sz="1100" b="1">
                          <a:latin typeface="Calibri"/>
                        </a:rPr>
                        <a:t>OIP3 - Output Third Order Intercept</a:t>
                      </a:r>
                      <a:endParaRPr lang="en-US"/>
                    </a:p>
                  </a:txBody>
                  <a:tcPr anchor="ctr" anchorCtr="1">
                    <a:tcBdr>
                      <a:left>
                        <a:ln w="6350" cap="flat" cmpd="sng" algn="ctr">
                          <a:solidFill>
                            <a:srgbClr val="D9D9D9"/>
                          </a:solidFill>
                          <a:prstDash val="solid"/>
                        </a:ln>
                      </a:left>
                      <a:right>
                        <a:ln w="6350" cap="flat" cmpd="sng" algn="ctr">
                          <a:solidFill>
                            <a:srgbClr val="D9D9D9"/>
                          </a:solidFill>
                          <a:prstDash val="solid"/>
                        </a:ln>
                      </a:right>
                      <a:top>
                        <a:ln w="6350" cap="flat" cmpd="sng" algn="ctr">
                          <a:solidFill>
                            <a:srgbClr val="D9D9D9"/>
                          </a:solidFill>
                          <a:prstDash val="solid"/>
                        </a:ln>
                      </a:top>
                      <a:bottom>
                        <a:ln w="6350" cap="flat" cmpd="sng" algn="ctr">
                          <a:solidFill>
                            <a:srgbClr val="D9D9D9"/>
                          </a:solidFill>
                          <a:prstDash val="solid"/>
                        </a:ln>
                      </a:bottom>
                    </a:tcBdr>
                  </a:tcPr>
                </a:tc>
                <a:tc>
                  <a:txBody>
                    <a:bodyPr anchor="ctr" anchorCtr="1"/>
                    <a:lstStyle/>
                    <a:p>
                      <a:pPr algn="ctr"/>
                      <a:r>
                        <a:rPr sz="1100" b="1">
                          <a:latin typeface="Calibri"/>
                        </a:rPr>
                        <a:t>18.2</a:t>
                      </a:r>
                      <a:endParaRPr lang="en-US"/>
                    </a:p>
                  </a:txBody>
                  <a:tcPr anchor="ctr" anchorCtr="1">
                    <a:tcBdr>
                      <a:left>
                        <a:ln w="6350" cap="flat" cmpd="sng" algn="ctr">
                          <a:solidFill>
                            <a:srgbClr val="D9D9D9"/>
                          </a:solidFill>
                          <a:prstDash val="solid"/>
                        </a:ln>
                      </a:left>
                      <a:right>
                        <a:ln w="6350" cap="flat" cmpd="sng" algn="ctr">
                          <a:solidFill>
                            <a:srgbClr val="D9D9D9"/>
                          </a:solidFill>
                          <a:prstDash val="solid"/>
                        </a:ln>
                      </a:right>
                      <a:top>
                        <a:ln w="6350" cap="flat" cmpd="sng" algn="ctr">
                          <a:solidFill>
                            <a:srgbClr val="D9D9D9"/>
                          </a:solidFill>
                          <a:prstDash val="solid"/>
                        </a:ln>
                      </a:top>
                      <a:bottom>
                        <a:ln w="6350" cap="flat" cmpd="sng" algn="ctr">
                          <a:solidFill>
                            <a:srgbClr val="D9D9D9"/>
                          </a:solidFill>
                          <a:prstDash val="solid"/>
                        </a:ln>
                      </a:bottom>
                    </a:tcBdr>
                  </a:tcPr>
                </a:tc>
                <a:tc>
                  <a:txBody>
                    <a:bodyPr anchor="ctr" anchorCtr="1"/>
                    <a:lstStyle/>
                    <a:p>
                      <a:pPr algn="ctr"/>
                      <a:r>
                        <a:rPr sz="1100" b="1">
                          <a:latin typeface="Calibri"/>
                        </a:rPr>
                        <a:t>23.2</a:t>
                      </a:r>
                      <a:endParaRPr lang="en-US"/>
                    </a:p>
                  </a:txBody>
                  <a:tcPr anchor="ctr" anchorCtr="1">
                    <a:tcBdr>
                      <a:left>
                        <a:ln w="6350" cap="flat" cmpd="sng" algn="ctr">
                          <a:solidFill>
                            <a:srgbClr val="D9D9D9"/>
                          </a:solidFill>
                          <a:prstDash val="solid"/>
                        </a:ln>
                      </a:left>
                      <a:right>
                        <a:ln w="6350" cap="flat" cmpd="sng" algn="ctr">
                          <a:solidFill>
                            <a:srgbClr val="D9D9D9"/>
                          </a:solidFill>
                          <a:prstDash val="solid"/>
                        </a:ln>
                      </a:right>
                      <a:top>
                        <a:ln w="6350" cap="flat" cmpd="sng" algn="ctr">
                          <a:solidFill>
                            <a:srgbClr val="D9D9D9"/>
                          </a:solidFill>
                          <a:prstDash val="solid"/>
                        </a:ln>
                      </a:top>
                      <a:bottom>
                        <a:ln w="6350" cap="flat" cmpd="sng" algn="ctr">
                          <a:solidFill>
                            <a:srgbClr val="D9D9D9"/>
                          </a:solidFill>
                          <a:prstDash val="solid"/>
                        </a:ln>
                      </a:bottom>
                    </a:tcBdr>
                  </a:tcPr>
                </a:tc>
                <a:tc>
                  <a:txBody>
                    <a:bodyPr anchor="ctr" anchorCtr="1"/>
                    <a:lstStyle/>
                    <a:p>
                      <a:pPr algn="ctr"/>
                      <a:r>
                        <a:rPr sz="1100" b="1">
                          <a:latin typeface="Calibri"/>
                        </a:rPr>
                        <a:t>28.1</a:t>
                      </a:r>
                      <a:endParaRPr lang="en-US"/>
                    </a:p>
                  </a:txBody>
                  <a:tcPr anchor="ctr" anchorCtr="1">
                    <a:tcBdr>
                      <a:left>
                        <a:ln w="6350" cap="flat" cmpd="sng" algn="ctr">
                          <a:solidFill>
                            <a:srgbClr val="D9D9D9"/>
                          </a:solidFill>
                          <a:prstDash val="solid"/>
                        </a:ln>
                      </a:left>
                      <a:right>
                        <a:ln w="6350" cap="flat" cmpd="sng" algn="ctr">
                          <a:solidFill>
                            <a:srgbClr val="D9D9D9"/>
                          </a:solidFill>
                          <a:prstDash val="solid"/>
                        </a:ln>
                      </a:right>
                      <a:top>
                        <a:ln w="6350" cap="flat" cmpd="sng" algn="ctr">
                          <a:solidFill>
                            <a:srgbClr val="D9D9D9"/>
                          </a:solidFill>
                          <a:prstDash val="solid"/>
                        </a:ln>
                      </a:top>
                      <a:bottom>
                        <a:ln w="6350" cap="flat" cmpd="sng" algn="ctr">
                          <a:solidFill>
                            <a:srgbClr val="D9D9D9"/>
                          </a:solidFill>
                          <a:prstDash val="solid"/>
                        </a:ln>
                      </a:bottom>
                    </a:tcBdr>
                  </a:tcPr>
                </a:tc>
                <a:tc>
                  <a:txBody>
                    <a:bodyPr anchor="ctr" anchorCtr="1"/>
                    <a:lstStyle/>
                    <a:p>
                      <a:pPr algn="ctr"/>
                      <a:r>
                        <a:rPr sz="1100" b="1">
                          <a:latin typeface="Calibri"/>
                        </a:rPr>
                        <a:t>27.4</a:t>
                      </a:r>
                      <a:endParaRPr lang="en-US"/>
                    </a:p>
                  </a:txBody>
                  <a:tcPr anchor="ctr" anchorCtr="1">
                    <a:tcBdr>
                      <a:left>
                        <a:ln w="6350" cap="flat" cmpd="sng" algn="ctr">
                          <a:solidFill>
                            <a:srgbClr val="D9D9D9"/>
                          </a:solidFill>
                          <a:prstDash val="solid"/>
                        </a:ln>
                      </a:left>
                      <a:right>
                        <a:ln w="6350" cap="flat" cmpd="sng" algn="ctr">
                          <a:solidFill>
                            <a:srgbClr val="D9D9D9"/>
                          </a:solidFill>
                          <a:prstDash val="solid"/>
                        </a:ln>
                      </a:right>
                      <a:top>
                        <a:ln w="6350" cap="flat" cmpd="sng" algn="ctr">
                          <a:solidFill>
                            <a:srgbClr val="D9D9D9"/>
                          </a:solidFill>
                          <a:prstDash val="solid"/>
                        </a:ln>
                      </a:top>
                      <a:bottom>
                        <a:ln w="6350" cap="flat" cmpd="sng" algn="ctr">
                          <a:solidFill>
                            <a:srgbClr val="D9D9D9"/>
                          </a:solidFill>
                          <a:prstDash val="solid"/>
                        </a:ln>
                      </a:bottom>
                    </a:tcBdr>
                  </a:tcPr>
                </a:tc>
                <a:tc>
                  <a:txBody>
                    <a:bodyPr anchor="ctr" anchorCtr="1"/>
                    <a:lstStyle/>
                    <a:p>
                      <a:pPr algn="ctr"/>
                      <a:r>
                        <a:rPr sz="1100" b="1">
                          <a:latin typeface="Calibri"/>
                        </a:rPr>
                        <a:t>28.8</a:t>
                      </a:r>
                      <a:endParaRPr lang="en-US"/>
                    </a:p>
                  </a:txBody>
                  <a:tcPr anchor="ctr" anchorCtr="1">
                    <a:tcBdr>
                      <a:left>
                        <a:ln w="6350" cap="flat" cmpd="sng" algn="ctr">
                          <a:solidFill>
                            <a:srgbClr val="D9D9D9"/>
                          </a:solidFill>
                          <a:prstDash val="solid"/>
                        </a:ln>
                      </a:left>
                      <a:right>
                        <a:ln w="6350" cap="flat" cmpd="sng" algn="ctr">
                          <a:solidFill>
                            <a:srgbClr val="D9D9D9"/>
                          </a:solidFill>
                          <a:prstDash val="solid"/>
                        </a:ln>
                      </a:right>
                      <a:top>
                        <a:ln w="6350" cap="flat" cmpd="sng" algn="ctr">
                          <a:solidFill>
                            <a:srgbClr val="D9D9D9"/>
                          </a:solidFill>
                          <a:prstDash val="solid"/>
                        </a:ln>
                      </a:top>
                      <a:bottom>
                        <a:ln w="6350" cap="flat" cmpd="sng" algn="ctr">
                          <a:solidFill>
                            <a:srgbClr val="D9D9D9"/>
                          </a:solidFill>
                          <a:prstDash val="solid"/>
                        </a:ln>
                      </a:bottom>
                    </a:tcBdr>
                  </a:tcPr>
                </a:tc>
                <a:tc>
                  <a:txBody>
                    <a:bodyPr anchor="ctr" anchorCtr="1"/>
                    <a:lstStyle/>
                    <a:p>
                      <a:pPr algn="ctr"/>
                      <a:r>
                        <a:rPr sz="1100" b="1">
                          <a:latin typeface="Calibri"/>
                        </a:rPr>
                        <a:t>30.3</a:t>
                      </a:r>
                      <a:endParaRPr lang="en-US"/>
                    </a:p>
                  </a:txBody>
                  <a:tcPr anchor="ctr" anchorCtr="1">
                    <a:tcBdr>
                      <a:left>
                        <a:ln w="6350" cap="flat" cmpd="sng" algn="ctr">
                          <a:solidFill>
                            <a:srgbClr val="D9D9D9"/>
                          </a:solidFill>
                          <a:prstDash val="solid"/>
                        </a:ln>
                      </a:left>
                      <a:right>
                        <a:ln w="6350" cap="flat" cmpd="sng" algn="ctr">
                          <a:solidFill>
                            <a:srgbClr val="D9D9D9"/>
                          </a:solidFill>
                          <a:prstDash val="solid"/>
                        </a:ln>
                      </a:right>
                      <a:top>
                        <a:ln w="6350" cap="flat" cmpd="sng" algn="ctr">
                          <a:solidFill>
                            <a:srgbClr val="D9D9D9"/>
                          </a:solidFill>
                          <a:prstDash val="solid"/>
                        </a:ln>
                      </a:top>
                      <a:bottom>
                        <a:ln w="6350" cap="flat" cmpd="sng" algn="ctr">
                          <a:solidFill>
                            <a:srgbClr val="D9D9D9"/>
                          </a:solidFill>
                          <a:prstDash val="solid"/>
                        </a:ln>
                      </a:bottom>
                    </a:tcBdr>
                  </a:tcPr>
                </a:tc>
                <a:tc>
                  <a:txBody>
                    <a:bodyPr anchor="ctr" anchorCtr="1"/>
                    <a:lstStyle/>
                    <a:p>
                      <a:pPr algn="ctr"/>
                      <a:r>
                        <a:rPr sz="1100" b="1">
                          <a:latin typeface="Calibri"/>
                        </a:rPr>
                        <a:t>dBm</a:t>
                      </a:r>
                      <a:endParaRPr lang="en-US"/>
                    </a:p>
                  </a:txBody>
                  <a:tcPr anchor="ctr" anchorCtr="1">
                    <a:tcBdr>
                      <a:left>
                        <a:ln w="6350" cap="flat" cmpd="sng" algn="ctr">
                          <a:solidFill>
                            <a:srgbClr val="D9D9D9"/>
                          </a:solidFill>
                          <a:prstDash val="solid"/>
                        </a:ln>
                      </a:left>
                      <a:right>
                        <a:ln w="6350" cap="flat" cmpd="sng" algn="ctr">
                          <a:solidFill>
                            <a:srgbClr val="D9D9D9"/>
                          </a:solidFill>
                          <a:prstDash val="solid"/>
                        </a:ln>
                      </a:right>
                      <a:top>
                        <a:ln w="6350" cap="flat" cmpd="sng" algn="ctr">
                          <a:solidFill>
                            <a:srgbClr val="D9D9D9"/>
                          </a:solidFill>
                          <a:prstDash val="solid"/>
                        </a:ln>
                      </a:top>
                      <a:bottom>
                        <a:ln w="6350" cap="flat" cmpd="sng" algn="ctr">
                          <a:solidFill>
                            <a:srgbClr val="D9D9D9"/>
                          </a:solidFill>
                          <a:prstDash val="solid"/>
                        </a:ln>
                      </a:bottom>
                    </a:tcBdr>
                  </a:tcPr>
                </a:tc>
              </a:tr>
              <a:tr h="350000">
                <a:tc>
                  <a:txBody>
                    <a:bodyPr anchor="ctr" anchorCtr="1"/>
                    <a:lstStyle/>
                    <a:p>
                      <a:pPr algn="ctr"/>
                      <a:r>
                        <a:rPr sz="1100" b="1">
                          <a:latin typeface="Calibri"/>
                        </a:rPr>
                        <a:t>Input Return Loss</a:t>
                      </a:r>
                      <a:endParaRPr lang="en-US"/>
                    </a:p>
                  </a:txBody>
                  <a:tcPr anchor="ctr" anchorCtr="1">
                    <a:tcBdr>
                      <a:left>
                        <a:ln w="6350" cap="flat" cmpd="sng" algn="ctr">
                          <a:solidFill>
                            <a:srgbClr val="D9D9D9"/>
                          </a:solidFill>
                          <a:prstDash val="solid"/>
                        </a:ln>
                      </a:left>
                      <a:right>
                        <a:ln w="6350" cap="flat" cmpd="sng" algn="ctr">
                          <a:solidFill>
                            <a:srgbClr val="D9D9D9"/>
                          </a:solidFill>
                          <a:prstDash val="solid"/>
                        </a:ln>
                      </a:right>
                      <a:top>
                        <a:ln w="6350" cap="flat" cmpd="sng" algn="ctr">
                          <a:solidFill>
                            <a:srgbClr val="D9D9D9"/>
                          </a:solidFill>
                          <a:prstDash val="solid"/>
                        </a:ln>
                      </a:top>
                      <a:bottom>
                        <a:ln w="6350" cap="flat" cmpd="sng" algn="ctr">
                          <a:solidFill>
                            <a:srgbClr val="D9D9D9"/>
                          </a:solidFill>
                          <a:prstDash val="solid"/>
                        </a:ln>
                      </a:bottom>
                    </a:tcBdr>
                  </a:tcPr>
                </a:tc>
                <a:tc>
                  <a:txBody>
                    <a:bodyPr anchor="ctr" anchorCtr="1"/>
                    <a:lstStyle/>
                    <a:p>
                      <a:pPr algn="ctr"/>
                      <a:r>
                        <a:rPr sz="1100" b="1">
                          <a:latin typeface="Calibri"/>
                        </a:rPr>
                        <a:t>-16.1</a:t>
                      </a:r>
                      <a:endParaRPr lang="en-US"/>
                    </a:p>
                  </a:txBody>
                  <a:tcPr anchor="ctr" anchorCtr="1">
                    <a:tcBdr>
                      <a:left>
                        <a:ln w="6350" cap="flat" cmpd="sng" algn="ctr">
                          <a:solidFill>
                            <a:srgbClr val="D9D9D9"/>
                          </a:solidFill>
                          <a:prstDash val="solid"/>
                        </a:ln>
                      </a:left>
                      <a:right>
                        <a:ln w="6350" cap="flat" cmpd="sng" algn="ctr">
                          <a:solidFill>
                            <a:srgbClr val="D9D9D9"/>
                          </a:solidFill>
                          <a:prstDash val="solid"/>
                        </a:ln>
                      </a:right>
                      <a:top>
                        <a:ln w="6350" cap="flat" cmpd="sng" algn="ctr">
                          <a:solidFill>
                            <a:srgbClr val="D9D9D9"/>
                          </a:solidFill>
                          <a:prstDash val="solid"/>
                        </a:ln>
                      </a:top>
                      <a:bottom>
                        <a:ln w="6350" cap="flat" cmpd="sng" algn="ctr">
                          <a:solidFill>
                            <a:srgbClr val="D9D9D9"/>
                          </a:solidFill>
                          <a:prstDash val="solid"/>
                        </a:ln>
                      </a:bottom>
                    </a:tcBdr>
                  </a:tcPr>
                </a:tc>
                <a:tc>
                  <a:txBody>
                    <a:bodyPr anchor="ctr" anchorCtr="1"/>
                    <a:lstStyle/>
                    <a:p>
                      <a:pPr algn="ctr"/>
                      <a:r>
                        <a:rPr sz="1100" b="1">
                          <a:latin typeface="Calibri"/>
                        </a:rPr>
                        <a:t>-8.3</a:t>
                      </a:r>
                      <a:endParaRPr lang="en-US"/>
                    </a:p>
                  </a:txBody>
                  <a:tcPr anchor="ctr" anchorCtr="1">
                    <a:tcBdr>
                      <a:left>
                        <a:ln w="6350" cap="flat" cmpd="sng" algn="ctr">
                          <a:solidFill>
                            <a:srgbClr val="D9D9D9"/>
                          </a:solidFill>
                          <a:prstDash val="solid"/>
                        </a:ln>
                      </a:left>
                      <a:right>
                        <a:ln w="6350" cap="flat" cmpd="sng" algn="ctr">
                          <a:solidFill>
                            <a:srgbClr val="D9D9D9"/>
                          </a:solidFill>
                          <a:prstDash val="solid"/>
                        </a:ln>
                      </a:right>
                      <a:top>
                        <a:ln w="6350" cap="flat" cmpd="sng" algn="ctr">
                          <a:solidFill>
                            <a:srgbClr val="D9D9D9"/>
                          </a:solidFill>
                          <a:prstDash val="solid"/>
                        </a:ln>
                      </a:top>
                      <a:bottom>
                        <a:ln w="6350" cap="flat" cmpd="sng" algn="ctr">
                          <a:solidFill>
                            <a:srgbClr val="D9D9D9"/>
                          </a:solidFill>
                          <a:prstDash val="solid"/>
                        </a:ln>
                      </a:bottom>
                    </a:tcBdr>
                  </a:tcPr>
                </a:tc>
                <a:tc>
                  <a:txBody>
                    <a:bodyPr anchor="ctr" anchorCtr="1"/>
                    <a:lstStyle/>
                    <a:p>
                      <a:pPr algn="ctr"/>
                      <a:r>
                        <a:rPr sz="1100" b="1">
                          <a:latin typeface="Calibri"/>
                        </a:rPr>
                        <a:t>-0.5</a:t>
                      </a:r>
                      <a:endParaRPr lang="en-US"/>
                    </a:p>
                  </a:txBody>
                  <a:tcPr anchor="ctr" anchorCtr="1">
                    <a:tcBdr>
                      <a:left>
                        <a:ln w="6350" cap="flat" cmpd="sng" algn="ctr">
                          <a:solidFill>
                            <a:srgbClr val="D9D9D9"/>
                          </a:solidFill>
                          <a:prstDash val="solid"/>
                        </a:ln>
                      </a:left>
                      <a:right>
                        <a:ln w="6350" cap="flat" cmpd="sng" algn="ctr">
                          <a:solidFill>
                            <a:srgbClr val="D9D9D9"/>
                          </a:solidFill>
                          <a:prstDash val="solid"/>
                        </a:ln>
                      </a:right>
                      <a:top>
                        <a:ln w="6350" cap="flat" cmpd="sng" algn="ctr">
                          <a:solidFill>
                            <a:srgbClr val="D9D9D9"/>
                          </a:solidFill>
                          <a:prstDash val="solid"/>
                        </a:ln>
                      </a:top>
                      <a:bottom>
                        <a:ln w="6350" cap="flat" cmpd="sng" algn="ctr">
                          <a:solidFill>
                            <a:srgbClr val="D9D9D9"/>
                          </a:solidFill>
                          <a:prstDash val="solid"/>
                        </a:ln>
                      </a:bottom>
                    </a:tcBdr>
                  </a:tcPr>
                </a:tc>
                <a:tc>
                  <a:txBody>
                    <a:bodyPr anchor="ctr" anchorCtr="1"/>
                    <a:lstStyle/>
                    <a:p>
                      <a:pPr algn="ctr"/>
                      <a:r>
                        <a:rPr sz="1100" b="1">
                          <a:latin typeface="Calibri"/>
                        </a:rPr>
                        <a:t>-17.0</a:t>
                      </a:r>
                      <a:endParaRPr lang="en-US"/>
                    </a:p>
                  </a:txBody>
                  <a:tcPr anchor="ctr" anchorCtr="1">
                    <a:tcBdr>
                      <a:left>
                        <a:ln w="6350" cap="flat" cmpd="sng" algn="ctr">
                          <a:solidFill>
                            <a:srgbClr val="D9D9D9"/>
                          </a:solidFill>
                          <a:prstDash val="solid"/>
                        </a:ln>
                      </a:left>
                      <a:right>
                        <a:ln w="6350" cap="flat" cmpd="sng" algn="ctr">
                          <a:solidFill>
                            <a:srgbClr val="D9D9D9"/>
                          </a:solidFill>
                          <a:prstDash val="solid"/>
                        </a:ln>
                      </a:right>
                      <a:top>
                        <a:ln w="6350" cap="flat" cmpd="sng" algn="ctr">
                          <a:solidFill>
                            <a:srgbClr val="D9D9D9"/>
                          </a:solidFill>
                          <a:prstDash val="solid"/>
                        </a:ln>
                      </a:top>
                      <a:bottom>
                        <a:ln w="6350" cap="flat" cmpd="sng" algn="ctr">
                          <a:solidFill>
                            <a:srgbClr val="D9D9D9"/>
                          </a:solidFill>
                          <a:prstDash val="solid"/>
                        </a:ln>
                      </a:bottom>
                    </a:tcBdr>
                  </a:tcPr>
                </a:tc>
                <a:tc>
                  <a:txBody>
                    <a:bodyPr anchor="ctr" anchorCtr="1"/>
                    <a:lstStyle/>
                    <a:p>
                      <a:pPr algn="ctr"/>
                      <a:r>
                        <a:rPr sz="1100" b="1">
                          <a:latin typeface="Calibri"/>
                        </a:rPr>
                        <a:t>-14.2</a:t>
                      </a:r>
                      <a:endParaRPr lang="en-US"/>
                    </a:p>
                  </a:txBody>
                  <a:tcPr anchor="ctr" anchorCtr="1">
                    <a:tcBdr>
                      <a:left>
                        <a:ln w="6350" cap="flat" cmpd="sng" algn="ctr">
                          <a:solidFill>
                            <a:srgbClr val="D9D9D9"/>
                          </a:solidFill>
                          <a:prstDash val="solid"/>
                        </a:ln>
                      </a:left>
                      <a:right>
                        <a:ln w="6350" cap="flat" cmpd="sng" algn="ctr">
                          <a:solidFill>
                            <a:srgbClr val="D9D9D9"/>
                          </a:solidFill>
                          <a:prstDash val="solid"/>
                        </a:ln>
                      </a:right>
                      <a:top>
                        <a:ln w="6350" cap="flat" cmpd="sng" algn="ctr">
                          <a:solidFill>
                            <a:srgbClr val="D9D9D9"/>
                          </a:solidFill>
                          <a:prstDash val="solid"/>
                        </a:ln>
                      </a:top>
                      <a:bottom>
                        <a:ln w="6350" cap="flat" cmpd="sng" algn="ctr">
                          <a:solidFill>
                            <a:srgbClr val="D9D9D9"/>
                          </a:solidFill>
                          <a:prstDash val="solid"/>
                        </a:ln>
                      </a:bottom>
                    </a:tcBdr>
                  </a:tcPr>
                </a:tc>
                <a:tc>
                  <a:txBody>
                    <a:bodyPr anchor="ctr" anchorCtr="1"/>
                    <a:lstStyle/>
                    <a:p>
                      <a:pPr algn="ctr"/>
                      <a:r>
                        <a:rPr sz="1100" b="1">
                          <a:latin typeface="Calibri"/>
                        </a:rPr>
                        <a:t>-11.3</a:t>
                      </a:r>
                      <a:endParaRPr lang="en-US"/>
                    </a:p>
                  </a:txBody>
                  <a:tcPr anchor="ctr" anchorCtr="1">
                    <a:tcBdr>
                      <a:left>
                        <a:ln w="6350" cap="flat" cmpd="sng" algn="ctr">
                          <a:solidFill>
                            <a:srgbClr val="D9D9D9"/>
                          </a:solidFill>
                          <a:prstDash val="solid"/>
                        </a:ln>
                      </a:left>
                      <a:right>
                        <a:ln w="6350" cap="flat" cmpd="sng" algn="ctr">
                          <a:solidFill>
                            <a:srgbClr val="D9D9D9"/>
                          </a:solidFill>
                          <a:prstDash val="solid"/>
                        </a:ln>
                      </a:right>
                      <a:top>
                        <a:ln w="6350" cap="flat" cmpd="sng" algn="ctr">
                          <a:solidFill>
                            <a:srgbClr val="D9D9D9"/>
                          </a:solidFill>
                          <a:prstDash val="solid"/>
                        </a:ln>
                      </a:top>
                      <a:bottom>
                        <a:ln w="6350" cap="flat" cmpd="sng" algn="ctr">
                          <a:solidFill>
                            <a:srgbClr val="D9D9D9"/>
                          </a:solidFill>
                          <a:prstDash val="solid"/>
                        </a:ln>
                      </a:bottom>
                    </a:tcBdr>
                  </a:tcPr>
                </a:tc>
                <a:tc>
                  <a:txBody>
                    <a:bodyPr anchor="ctr" anchorCtr="1"/>
                    <a:lstStyle/>
                    <a:p>
                      <a:pPr algn="ctr"/>
                      <a:r>
                        <a:rPr sz="1100" b="1">
                          <a:latin typeface="Calibri"/>
                        </a:rPr>
                        <a:t>dB</a:t>
                      </a:r>
                      <a:endParaRPr lang="en-US"/>
                    </a:p>
                  </a:txBody>
                  <a:tcPr anchor="ctr" anchorCtr="1">
                    <a:tcBdr>
                      <a:left>
                        <a:ln w="6350" cap="flat" cmpd="sng" algn="ctr">
                          <a:solidFill>
                            <a:srgbClr val="D9D9D9"/>
                          </a:solidFill>
                          <a:prstDash val="solid"/>
                        </a:ln>
                      </a:left>
                      <a:right>
                        <a:ln w="6350" cap="flat" cmpd="sng" algn="ctr">
                          <a:solidFill>
                            <a:srgbClr val="D9D9D9"/>
                          </a:solidFill>
                          <a:prstDash val="solid"/>
                        </a:ln>
                      </a:right>
                      <a:top>
                        <a:ln w="6350" cap="flat" cmpd="sng" algn="ctr">
                          <a:solidFill>
                            <a:srgbClr val="D9D9D9"/>
                          </a:solidFill>
                          <a:prstDash val="solid"/>
                        </a:ln>
                      </a:top>
                      <a:bottom>
                        <a:ln w="6350" cap="flat" cmpd="sng" algn="ctr">
                          <a:solidFill>
                            <a:srgbClr val="D9D9D9"/>
                          </a:solidFill>
                          <a:prstDash val="solid"/>
                        </a:ln>
                      </a:bottom>
                    </a:tcBdr>
                  </a:tcPr>
                </a:tc>
              </a:tr>
              <a:tr h="350000">
                <a:tc>
                  <a:txBody>
                    <a:bodyPr anchor="ctr" anchorCtr="1"/>
                    <a:lstStyle/>
                    <a:p>
                      <a:pPr algn="ctr"/>
                      <a:r>
                        <a:rPr sz="1100" b="1">
                          <a:latin typeface="Calibri"/>
                        </a:rPr>
                        <a:t>Output Return Loss</a:t>
                      </a:r>
                      <a:endParaRPr lang="en-US"/>
                    </a:p>
                  </a:txBody>
                  <a:tcPr anchor="ctr" anchorCtr="1">
                    <a:tcBdr>
                      <a:left>
                        <a:ln w="6350" cap="flat" cmpd="sng" algn="ctr">
                          <a:solidFill>
                            <a:srgbClr val="D9D9D9"/>
                          </a:solidFill>
                          <a:prstDash val="solid"/>
                        </a:ln>
                      </a:left>
                      <a:right>
                        <a:ln w="6350" cap="flat" cmpd="sng" algn="ctr">
                          <a:solidFill>
                            <a:srgbClr val="D9D9D9"/>
                          </a:solidFill>
                          <a:prstDash val="solid"/>
                        </a:ln>
                      </a:right>
                      <a:top>
                        <a:ln w="6350" cap="flat" cmpd="sng" algn="ctr">
                          <a:solidFill>
                            <a:srgbClr val="D9D9D9"/>
                          </a:solidFill>
                          <a:prstDash val="solid"/>
                        </a:ln>
                      </a:top>
                      <a:bottom>
                        <a:ln w="6350" cap="flat" cmpd="sng" algn="ctr">
                          <a:solidFill>
                            <a:srgbClr val="D9D9D9"/>
                          </a:solidFill>
                          <a:prstDash val="solid"/>
                        </a:ln>
                      </a:bottom>
                    </a:tcBdr>
                  </a:tcPr>
                </a:tc>
                <a:tc>
                  <a:txBody>
                    <a:bodyPr anchor="ctr" anchorCtr="1"/>
                    <a:lstStyle/>
                    <a:p>
                      <a:pPr algn="ctr"/>
                      <a:r>
                        <a:rPr sz="1100" b="1">
                          <a:latin typeface="Calibri"/>
                        </a:rPr>
                        <a:t>-12.6</a:t>
                      </a:r>
                      <a:endParaRPr lang="en-US"/>
                    </a:p>
                  </a:txBody>
                  <a:tcPr anchor="ctr" anchorCtr="1">
                    <a:tcBdr>
                      <a:left>
                        <a:ln w="6350" cap="flat" cmpd="sng" algn="ctr">
                          <a:solidFill>
                            <a:srgbClr val="D9D9D9"/>
                          </a:solidFill>
                          <a:prstDash val="solid"/>
                        </a:ln>
                      </a:left>
                      <a:right>
                        <a:ln w="6350" cap="flat" cmpd="sng" algn="ctr">
                          <a:solidFill>
                            <a:srgbClr val="D9D9D9"/>
                          </a:solidFill>
                          <a:prstDash val="solid"/>
                        </a:ln>
                      </a:right>
                      <a:top>
                        <a:ln w="6350" cap="flat" cmpd="sng" algn="ctr">
                          <a:solidFill>
                            <a:srgbClr val="D9D9D9"/>
                          </a:solidFill>
                          <a:prstDash val="solid"/>
                        </a:ln>
                      </a:top>
                      <a:bottom>
                        <a:ln w="6350" cap="flat" cmpd="sng" algn="ctr">
                          <a:solidFill>
                            <a:srgbClr val="D9D9D9"/>
                          </a:solidFill>
                          <a:prstDash val="solid"/>
                        </a:ln>
                      </a:bottom>
                    </a:tcBdr>
                  </a:tcPr>
                </a:tc>
                <a:tc>
                  <a:txBody>
                    <a:bodyPr anchor="ctr" anchorCtr="1"/>
                    <a:lstStyle/>
                    <a:p>
                      <a:pPr algn="ctr"/>
                      <a:r>
                        <a:rPr sz="1100" b="1">
                          <a:latin typeface="Calibri"/>
                        </a:rPr>
                        <a:t>-6.3</a:t>
                      </a:r>
                      <a:endParaRPr lang="en-US"/>
                    </a:p>
                  </a:txBody>
                  <a:tcPr anchor="ctr" anchorCtr="1">
                    <a:tcBdr>
                      <a:left>
                        <a:ln w="6350" cap="flat" cmpd="sng" algn="ctr">
                          <a:solidFill>
                            <a:srgbClr val="D9D9D9"/>
                          </a:solidFill>
                          <a:prstDash val="solid"/>
                        </a:ln>
                      </a:left>
                      <a:right>
                        <a:ln w="6350" cap="flat" cmpd="sng" algn="ctr">
                          <a:solidFill>
                            <a:srgbClr val="D9D9D9"/>
                          </a:solidFill>
                          <a:prstDash val="solid"/>
                        </a:ln>
                      </a:right>
                      <a:top>
                        <a:ln w="6350" cap="flat" cmpd="sng" algn="ctr">
                          <a:solidFill>
                            <a:srgbClr val="D9D9D9"/>
                          </a:solidFill>
                          <a:prstDash val="solid"/>
                        </a:ln>
                      </a:top>
                      <a:bottom>
                        <a:ln w="6350" cap="flat" cmpd="sng" algn="ctr">
                          <a:solidFill>
                            <a:srgbClr val="D9D9D9"/>
                          </a:solidFill>
                          <a:prstDash val="solid"/>
                        </a:ln>
                      </a:bottom>
                    </a:tcBdr>
                  </a:tcPr>
                </a:tc>
                <a:tc>
                  <a:txBody>
                    <a:bodyPr anchor="ctr" anchorCtr="1"/>
                    <a:lstStyle/>
                    <a:p>
                      <a:pPr algn="ctr"/>
                      <a:r>
                        <a:rPr sz="1100" b="1">
                          <a:latin typeface="Calibri"/>
                        </a:rPr>
                        <a:t>-0.1</a:t>
                      </a:r>
                      <a:endParaRPr lang="en-US"/>
                    </a:p>
                  </a:txBody>
                  <a:tcPr anchor="ctr" anchorCtr="1">
                    <a:tcBdr>
                      <a:left>
                        <a:ln w="6350" cap="flat" cmpd="sng" algn="ctr">
                          <a:solidFill>
                            <a:srgbClr val="D9D9D9"/>
                          </a:solidFill>
                          <a:prstDash val="solid"/>
                        </a:ln>
                      </a:left>
                      <a:right>
                        <a:ln w="6350" cap="flat" cmpd="sng" algn="ctr">
                          <a:solidFill>
                            <a:srgbClr val="D9D9D9"/>
                          </a:solidFill>
                          <a:prstDash val="solid"/>
                        </a:ln>
                      </a:right>
                      <a:top>
                        <a:ln w="6350" cap="flat" cmpd="sng" algn="ctr">
                          <a:solidFill>
                            <a:srgbClr val="D9D9D9"/>
                          </a:solidFill>
                          <a:prstDash val="solid"/>
                        </a:ln>
                      </a:top>
                      <a:bottom>
                        <a:ln w="6350" cap="flat" cmpd="sng" algn="ctr">
                          <a:solidFill>
                            <a:srgbClr val="D9D9D9"/>
                          </a:solidFill>
                          <a:prstDash val="solid"/>
                        </a:ln>
                      </a:bottom>
                    </a:tcBdr>
                  </a:tcPr>
                </a:tc>
                <a:tc>
                  <a:txBody>
                    <a:bodyPr anchor="ctr" anchorCtr="1"/>
                    <a:lstStyle/>
                    <a:p>
                      <a:pPr algn="ctr"/>
                      <a:r>
                        <a:rPr sz="1100" b="1">
                          <a:latin typeface="Calibri"/>
                        </a:rPr>
                        <a:t>-16.3</a:t>
                      </a:r>
                      <a:endParaRPr lang="en-US"/>
                    </a:p>
                  </a:txBody>
                  <a:tcPr anchor="ctr" anchorCtr="1">
                    <a:tcBdr>
                      <a:left>
                        <a:ln w="6350" cap="flat" cmpd="sng" algn="ctr">
                          <a:solidFill>
                            <a:srgbClr val="D9D9D9"/>
                          </a:solidFill>
                          <a:prstDash val="solid"/>
                        </a:ln>
                      </a:left>
                      <a:right>
                        <a:ln w="6350" cap="flat" cmpd="sng" algn="ctr">
                          <a:solidFill>
                            <a:srgbClr val="D9D9D9"/>
                          </a:solidFill>
                          <a:prstDash val="solid"/>
                        </a:ln>
                      </a:right>
                      <a:top>
                        <a:ln w="6350" cap="flat" cmpd="sng" algn="ctr">
                          <a:solidFill>
                            <a:srgbClr val="D9D9D9"/>
                          </a:solidFill>
                          <a:prstDash val="solid"/>
                        </a:ln>
                      </a:top>
                      <a:bottom>
                        <a:ln w="6350" cap="flat" cmpd="sng" algn="ctr">
                          <a:solidFill>
                            <a:srgbClr val="D9D9D9"/>
                          </a:solidFill>
                          <a:prstDash val="solid"/>
                        </a:ln>
                      </a:bottom>
                    </a:tcBdr>
                  </a:tcPr>
                </a:tc>
                <a:tc>
                  <a:txBody>
                    <a:bodyPr anchor="ctr" anchorCtr="1"/>
                    <a:lstStyle/>
                    <a:p>
                      <a:pPr algn="ctr"/>
                      <a:r>
                        <a:rPr sz="1100" b="1">
                          <a:latin typeface="Calibri"/>
                        </a:rPr>
                        <a:t>-10.8</a:t>
                      </a:r>
                      <a:endParaRPr lang="en-US"/>
                    </a:p>
                  </a:txBody>
                  <a:tcPr anchor="ctr" anchorCtr="1">
                    <a:tcBdr>
                      <a:left>
                        <a:ln w="6350" cap="flat" cmpd="sng" algn="ctr">
                          <a:solidFill>
                            <a:srgbClr val="D9D9D9"/>
                          </a:solidFill>
                          <a:prstDash val="solid"/>
                        </a:ln>
                      </a:left>
                      <a:right>
                        <a:ln w="6350" cap="flat" cmpd="sng" algn="ctr">
                          <a:solidFill>
                            <a:srgbClr val="D9D9D9"/>
                          </a:solidFill>
                          <a:prstDash val="solid"/>
                        </a:ln>
                      </a:right>
                      <a:top>
                        <a:ln w="6350" cap="flat" cmpd="sng" algn="ctr">
                          <a:solidFill>
                            <a:srgbClr val="D9D9D9"/>
                          </a:solidFill>
                          <a:prstDash val="solid"/>
                        </a:ln>
                      </a:top>
                      <a:bottom>
                        <a:ln w="6350" cap="flat" cmpd="sng" algn="ctr">
                          <a:solidFill>
                            <a:srgbClr val="D9D9D9"/>
                          </a:solidFill>
                          <a:prstDash val="solid"/>
                        </a:ln>
                      </a:bottom>
                    </a:tcBdr>
                  </a:tcPr>
                </a:tc>
                <a:tc>
                  <a:txBody>
                    <a:bodyPr anchor="ctr" anchorCtr="1"/>
                    <a:lstStyle/>
                    <a:p>
                      <a:pPr algn="ctr"/>
                      <a:r>
                        <a:rPr sz="1100" b="1">
                          <a:latin typeface="Calibri"/>
                        </a:rPr>
                        <a:t>-5.4</a:t>
                      </a:r>
                      <a:endParaRPr lang="en-US"/>
                    </a:p>
                  </a:txBody>
                  <a:tcPr anchor="ctr" anchorCtr="1">
                    <a:tcBdr>
                      <a:left>
                        <a:ln w="6350" cap="flat" cmpd="sng" algn="ctr">
                          <a:solidFill>
                            <a:srgbClr val="D9D9D9"/>
                          </a:solidFill>
                          <a:prstDash val="solid"/>
                        </a:ln>
                      </a:left>
                      <a:right>
                        <a:ln w="6350" cap="flat" cmpd="sng" algn="ctr">
                          <a:solidFill>
                            <a:srgbClr val="D9D9D9"/>
                          </a:solidFill>
                          <a:prstDash val="solid"/>
                        </a:ln>
                      </a:right>
                      <a:top>
                        <a:ln w="6350" cap="flat" cmpd="sng" algn="ctr">
                          <a:solidFill>
                            <a:srgbClr val="D9D9D9"/>
                          </a:solidFill>
                          <a:prstDash val="solid"/>
                        </a:ln>
                      </a:top>
                      <a:bottom>
                        <a:ln w="6350" cap="flat" cmpd="sng" algn="ctr">
                          <a:solidFill>
                            <a:srgbClr val="D9D9D9"/>
                          </a:solidFill>
                          <a:prstDash val="solid"/>
                        </a:ln>
                      </a:bottom>
                    </a:tcBdr>
                  </a:tcPr>
                </a:tc>
                <a:tc>
                  <a:txBody>
                    <a:bodyPr anchor="ctr" anchorCtr="1"/>
                    <a:lstStyle/>
                    <a:p>
                      <a:pPr algn="ctr"/>
                      <a:r>
                        <a:rPr sz="1100" b="1">
                          <a:latin typeface="Calibri"/>
                        </a:rPr>
                        <a:t>dB</a:t>
                      </a:r>
                      <a:endParaRPr lang="en-US"/>
                    </a:p>
                  </a:txBody>
                  <a:tcPr anchor="ctr" anchorCtr="1">
                    <a:tcBdr>
                      <a:left>
                        <a:ln w="6350" cap="flat" cmpd="sng" algn="ctr">
                          <a:solidFill>
                            <a:srgbClr val="D9D9D9"/>
                          </a:solidFill>
                          <a:prstDash val="solid"/>
                        </a:ln>
                      </a:left>
                      <a:right>
                        <a:ln w="6350" cap="flat" cmpd="sng" algn="ctr">
                          <a:solidFill>
                            <a:srgbClr val="D9D9D9"/>
                          </a:solidFill>
                          <a:prstDash val="solid"/>
                        </a:ln>
                      </a:right>
                      <a:top>
                        <a:ln w="6350" cap="flat" cmpd="sng" algn="ctr">
                          <a:solidFill>
                            <a:srgbClr val="D9D9D9"/>
                          </a:solidFill>
                          <a:prstDash val="solid"/>
                        </a:ln>
                      </a:top>
                      <a:bottom>
                        <a:ln w="6350" cap="flat" cmpd="sng" algn="ctr">
                          <a:solidFill>
                            <a:srgbClr val="D9D9D9"/>
                          </a:solidFill>
                          <a:prstDash val="solid"/>
                        </a:ln>
                      </a:bottom>
                    </a:tcBdr>
                  </a:tcPr>
                </a:tc>
              </a:tr>
            </a:tbl>
          </a:graphicData>
        </a:graphic>
      </p:graphicFrame>
      <p:sp>
        <p:nvSpPr>
          <p:cNvPr id="1120" name="TextBox 1120"/>
          <p:cNvSpPr>
            <a:spLocks noGrp="1"/>
          </p:cNvSpPr>
          <p:nvPr/>
        </p:nvSpPr>
        <p:spPr>
          <a:xfrm>
            <a:off x="4164400" y="1464000"/>
            <a:ext cx="6000000" cy="350000"/>
          </a:xfrm>
          <a:prstGeom prst="rect">
            <a:avLst/>
          </a:prstGeom>
        </p:spPr>
        <p:txBody>
          <a:bodyPr/>
          <a:lstStyle/>
          <a:p>
            <a:pPr algn="l"/>
            <a:r>
              <a:rPr sz="1400" b="1">
                <a:latin typeface="Calibri"/>
              </a:rPr>
              <a:t>Functional Block Diagram</a:t>
            </a:r>
          </a:p>
        </p:txBody>
      </p:sp>
      <p:pic>
        <p:nvPicPr>
          <p:cNvPr id="100" name="功能图.png"/>
          <p:cNvPicPr>
            <a:picLocks noChangeAspect="1"/>
          </p:cNvPicPr>
          <p:nvPr/>
        </p:nvPicPr>
        <p:blipFill>
          <a:blip r:embed="Rc2b90f80dbed4f3d"/>
          <a:stretch>
            <a:fillRect/>
          </a:stretch>
        </p:blipFill>
        <p:spPr>
          <a:xfrm>
            <a:off x="4114400" y="1714000"/>
            <a:ext cx="2400000" cy="2700000"/>
          </a:xfrm>
          <a:prstGeom prst="rect">
            <a:avLst/>
          </a:prstGeom>
        </p:spPr>
      </p:pic>
    </p:spTree>
  </p:cSld>
  <p:clrMapOvr>
    <a:masterClrMapping/>
  </p:clrMapOvr>
</p:sld>
</file>

<file path=ppt/slides/slide2.xml><?xml version="1.0" encoding="utf-8"?>
<p:sld xmlns:p="http://schemas.openxmlformats.org/presentationml/2006/main">
  <p:cSld name="Blank">
    <p:spTree>
      <p:nvGrpSpPr>
        <p:cNvPr id="1" name=""/>
        <p:cNvGrpSpPr/>
        <p:nvPr/>
      </p:nvGrpSpPr>
      <p:grpSpPr>
        <a:xfrm xmlns:a="http://schemas.openxmlformats.org/drawingml/2006/main">
          <a:off x="0" y="0"/>
          <a:ext cx="0" cy="0"/>
          <a:chOff x="0" y="0"/>
          <a:chExt cx="0" cy="0"/>
        </a:xfrm>
      </p:grpSpPr>
      <p:pic>
        <p:nvPicPr>
          <p:cNvPr id="100" name="0.png"/>
          <p:cNvPicPr>
            <a:picLocks xmlns:a="http://schemas.openxmlformats.org/drawingml/2006/main" noChangeAspect="1"/>
          </p:cNvPicPr>
          <p:nvPr/>
        </p:nvPicPr>
        <p:blipFill>
          <a:blip xmlns:r="http://schemas.openxmlformats.org/officeDocument/2006/relationships" xmlns:a="http://schemas.openxmlformats.org/drawingml/2006/main" r:embed="Rc0692c046b1f4cda"/>
          <a:stretch xmlns:a="http://schemas.openxmlformats.org/drawingml/2006/main">
            <a:fillRect/>
          </a:stretch>
        </p:blipFill>
        <p:spPr>
          <a:xfrm xmlns:a="http://schemas.openxmlformats.org/drawingml/2006/main">
            <a:off x="914400" y="1814000"/>
            <a:ext cx="2500000" cy="2000000"/>
          </a:xfrm>
          <a:prstGeom xmlns:a="http://schemas.openxmlformats.org/drawingml/2006/main" prst="rect">
            <a:avLst/>
          </a:prstGeom>
        </p:spPr>
      </p:pic>
      <p:sp>
        <p:nvSpPr>
          <p:cNvPr id="101" name="TextBox 101"/>
          <p:cNvSpPr>
            <a:spLocks xmlns:a="http://schemas.openxmlformats.org/drawingml/2006/main" noGrp="1"/>
          </p:cNvSpPr>
          <p:nvPr/>
        </p:nvSpPr>
        <p:spPr>
          <a:xfrm xmlns:a="http://schemas.openxmlformats.org/drawingml/2006/main">
            <a:off x="914400" y="1314000"/>
            <a:ext cx="5000000" cy="500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pPr algn="ctr"/>
            <a:r>
              <a:rPr sz="1200" b="1" u="sng">
                <a:latin typeface="Calibri"/>
              </a:rPr>
              <a:t>Measurement Plots: S-parameters</a:t>
            </a:r>
          </a:p>
          <a:p xmlns:a="http://schemas.openxmlformats.org/drawingml/2006/main">
            <a:pPr indent="-180000" algn="ctr"/>
            <a:r>
              <a:rPr sz="1200" b="1" u="sng">
                <a:latin typeface="Calibri"/>
              </a:rPr>
              <a:t>VD=3V,ID=43mA</a:t>
            </a:r>
          </a:p>
        </p:txBody>
      </p:sp>
      <p:pic>
        <p:nvPicPr>
          <p:cNvPr id="100" name="1.png"/>
          <p:cNvPicPr>
            <a:picLocks xmlns:a="http://schemas.openxmlformats.org/drawingml/2006/main" noChangeAspect="1"/>
          </p:cNvPicPr>
          <p:nvPr/>
        </p:nvPicPr>
        <p:blipFill>
          <a:blip xmlns:r="http://schemas.openxmlformats.org/officeDocument/2006/relationships" xmlns:a="http://schemas.openxmlformats.org/drawingml/2006/main" r:embed="R86c19d5ae98f4b2d"/>
          <a:stretch xmlns:a="http://schemas.openxmlformats.org/drawingml/2006/main">
            <a:fillRect/>
          </a:stretch>
        </p:blipFill>
        <p:spPr>
          <a:xfrm xmlns:a="http://schemas.openxmlformats.org/drawingml/2006/main">
            <a:off x="4114400" y="1814000"/>
            <a:ext cx="2500000" cy="2000000"/>
          </a:xfrm>
          <a:prstGeom xmlns:a="http://schemas.openxmlformats.org/drawingml/2006/main" prst="rect">
            <a:avLst/>
          </a:prstGeom>
        </p:spPr>
      </p:pic>
      <p:pic>
        <p:nvPicPr>
          <p:cNvPr id="100" name="2.png"/>
          <p:cNvPicPr>
            <a:picLocks xmlns:a="http://schemas.openxmlformats.org/drawingml/2006/main" noChangeAspect="1"/>
          </p:cNvPicPr>
          <p:nvPr/>
        </p:nvPicPr>
        <p:blipFill>
          <a:blip xmlns:r="http://schemas.openxmlformats.org/officeDocument/2006/relationships" xmlns:a="http://schemas.openxmlformats.org/drawingml/2006/main" r:embed="R39298324b4e24351"/>
          <a:stretch xmlns:a="http://schemas.openxmlformats.org/drawingml/2006/main">
            <a:fillRect/>
          </a:stretch>
        </p:blipFill>
        <p:spPr>
          <a:xfrm xmlns:a="http://schemas.openxmlformats.org/drawingml/2006/main">
            <a:off x="914400" y="4414000"/>
            <a:ext cx="2500000" cy="2000000"/>
          </a:xfrm>
          <a:prstGeom xmlns:a="http://schemas.openxmlformats.org/drawingml/2006/main" prst="rect">
            <a:avLst/>
          </a:prstGeom>
        </p:spPr>
      </p:pic>
      <p:pic>
        <p:nvPicPr>
          <p:cNvPr id="100" name="3.png"/>
          <p:cNvPicPr>
            <a:picLocks xmlns:a="http://schemas.openxmlformats.org/drawingml/2006/main" noChangeAspect="1"/>
          </p:cNvPicPr>
          <p:nvPr/>
        </p:nvPicPr>
        <p:blipFill>
          <a:blip xmlns:r="http://schemas.openxmlformats.org/officeDocument/2006/relationships" xmlns:a="http://schemas.openxmlformats.org/drawingml/2006/main" r:embed="Rd4be2fd6c14f48ac"/>
          <a:stretch xmlns:a="http://schemas.openxmlformats.org/drawingml/2006/main">
            <a:fillRect/>
          </a:stretch>
        </p:blipFill>
        <p:spPr>
          <a:xfrm xmlns:a="http://schemas.openxmlformats.org/drawingml/2006/main">
            <a:off x="4114400" y="4414000"/>
            <a:ext cx="2500000" cy="2000000"/>
          </a:xfrm>
          <a:prstGeom xmlns:a="http://schemas.openxmlformats.org/drawingml/2006/main" prst="rect">
            <a:avLst/>
          </a:prstGeom>
        </p:spPr>
      </p:pic>
      <p:pic>
        <p:nvPicPr>
          <p:cNvPr id="100" name="4.png"/>
          <p:cNvPicPr>
            <a:picLocks xmlns:a="http://schemas.openxmlformats.org/drawingml/2006/main" noChangeAspect="1"/>
          </p:cNvPicPr>
          <p:nvPr/>
        </p:nvPicPr>
        <p:blipFill>
          <a:blip xmlns:r="http://schemas.openxmlformats.org/officeDocument/2006/relationships" xmlns:a="http://schemas.openxmlformats.org/drawingml/2006/main" r:embed="R8ff9ede4fc924132"/>
          <a:stretch xmlns:a="http://schemas.openxmlformats.org/drawingml/2006/main">
            <a:fillRect/>
          </a:stretch>
        </p:blipFill>
        <p:spPr>
          <a:xfrm xmlns:a="http://schemas.openxmlformats.org/drawingml/2006/main">
            <a:off x="914400" y="7014000"/>
            <a:ext cx="2500000" cy="2000000"/>
          </a:xfrm>
          <a:prstGeom xmlns:a="http://schemas.openxmlformats.org/drawingml/2006/main" prst="rect">
            <a:avLst/>
          </a:prstGeom>
        </p:spPr>
      </p:pic>
      <p:sp>
        <p:nvSpPr>
          <p:cNvPr id="102" name="TextBox 102"/>
          <p:cNvSpPr>
            <a:spLocks xmlns:a="http://schemas.openxmlformats.org/drawingml/2006/main" noGrp="1"/>
          </p:cNvSpPr>
          <p:nvPr/>
        </p:nvSpPr>
        <p:spPr>
          <a:xfrm xmlns:a="http://schemas.openxmlformats.org/drawingml/2006/main">
            <a:off x="914400" y="6514000"/>
            <a:ext cx="5000000" cy="500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pPr algn="ctr"/>
            <a:r>
              <a:rPr sz="1200" b="1" u="sng">
                <a:latin typeface="Calibri"/>
              </a:rPr>
              <a:t>Measurement Plots: S-parameters</a:t>
            </a:r>
          </a:p>
          <a:p xmlns:a="http://schemas.openxmlformats.org/drawingml/2006/main">
            <a:pPr indent="-180000" algn="ctr"/>
            <a:r>
              <a:rPr sz="1200" b="1" u="sng">
                <a:latin typeface="Calibri"/>
              </a:rPr>
              <a:t>TA = +25℃</a:t>
            </a:r>
          </a:p>
        </p:txBody>
      </p:sp>
      <p:pic>
        <p:nvPicPr>
          <p:cNvPr id="100" name="5.png"/>
          <p:cNvPicPr>
            <a:picLocks xmlns:a="http://schemas.openxmlformats.org/drawingml/2006/main" noChangeAspect="1"/>
          </p:cNvPicPr>
          <p:nvPr/>
        </p:nvPicPr>
        <p:blipFill>
          <a:blip xmlns:r="http://schemas.openxmlformats.org/officeDocument/2006/relationships" xmlns:a="http://schemas.openxmlformats.org/drawingml/2006/main" r:embed="R24b23123625b40b9"/>
          <a:stretch xmlns:a="http://schemas.openxmlformats.org/drawingml/2006/main">
            <a:fillRect/>
          </a:stretch>
        </p:blipFill>
        <p:spPr>
          <a:xfrm xmlns:a="http://schemas.openxmlformats.org/drawingml/2006/main">
            <a:off x="4114400" y="7014000"/>
            <a:ext cx="2500000" cy="2000000"/>
          </a:xfrm>
          <a:prstGeom xmlns:a="http://schemas.openxmlformats.org/drawingml/2006/main" prst="rect">
            <a:avLst/>
          </a:prstGeom>
        </p:spPr>
      </p:pic>
    </p:spTree>
  </p:cSld>
  <p:clrMapOvr>
    <a:masterClrMapping xmlns:a="http://schemas.openxmlformats.org/drawingml/2006/main"/>
  </p:clrMapOvr>
</p:sld>
</file>

<file path=ppt/slides/slide3.xml><?xml version="1.0" encoding="utf-8"?>
<p:sld xmlns:p="http://schemas.openxmlformats.org/presentationml/2006/main">
  <p:cSld name="Blank">
    <p:spTree>
      <p:nvGrpSpPr>
        <p:cNvPr id="1" name=""/>
        <p:cNvGrpSpPr/>
        <p:nvPr/>
      </p:nvGrpSpPr>
      <p:grpSpPr>
        <a:xfrm xmlns:a="http://schemas.openxmlformats.org/drawingml/2006/main">
          <a:off x="0" y="0"/>
          <a:ext cx="0" cy="0"/>
          <a:chOff x="0" y="0"/>
          <a:chExt cx="0" cy="0"/>
        </a:xfrm>
      </p:grpSpPr>
      <p:pic>
        <p:nvPicPr>
          <p:cNvPr id="100" name="6.png"/>
          <p:cNvPicPr>
            <a:picLocks xmlns:a="http://schemas.openxmlformats.org/drawingml/2006/main" noChangeAspect="1"/>
          </p:cNvPicPr>
          <p:nvPr/>
        </p:nvPicPr>
        <p:blipFill>
          <a:blip xmlns:r="http://schemas.openxmlformats.org/officeDocument/2006/relationships" xmlns:a="http://schemas.openxmlformats.org/drawingml/2006/main" r:embed="Rf15dee3a0a6149ba"/>
          <a:stretch xmlns:a="http://schemas.openxmlformats.org/drawingml/2006/main">
            <a:fillRect/>
          </a:stretch>
        </p:blipFill>
        <p:spPr>
          <a:xfrm xmlns:a="http://schemas.openxmlformats.org/drawingml/2006/main">
            <a:off x="914400" y="1814000"/>
            <a:ext cx="2500000" cy="2000000"/>
          </a:xfrm>
          <a:prstGeom xmlns:a="http://schemas.openxmlformats.org/drawingml/2006/main" prst="rect">
            <a:avLst/>
          </a:prstGeom>
        </p:spPr>
      </p:pic>
      <p:pic>
        <p:nvPicPr>
          <p:cNvPr id="100" name="7.png"/>
          <p:cNvPicPr>
            <a:picLocks xmlns:a="http://schemas.openxmlformats.org/drawingml/2006/main" noChangeAspect="1"/>
          </p:cNvPicPr>
          <p:nvPr/>
        </p:nvPicPr>
        <p:blipFill>
          <a:blip xmlns:r="http://schemas.openxmlformats.org/officeDocument/2006/relationships" xmlns:a="http://schemas.openxmlformats.org/drawingml/2006/main" r:embed="R8c29d65eff4a4a97"/>
          <a:stretch xmlns:a="http://schemas.openxmlformats.org/drawingml/2006/main">
            <a:fillRect/>
          </a:stretch>
        </p:blipFill>
        <p:spPr>
          <a:xfrm xmlns:a="http://schemas.openxmlformats.org/drawingml/2006/main">
            <a:off x="4114400" y="1814000"/>
            <a:ext cx="2500000" cy="2000000"/>
          </a:xfrm>
          <a:prstGeom xmlns:a="http://schemas.openxmlformats.org/drawingml/2006/main" prst="rect">
            <a:avLst/>
          </a:prstGeom>
        </p:spPr>
      </p:pic>
      <p:pic>
        <p:nvPicPr>
          <p:cNvPr id="100" name="8.png"/>
          <p:cNvPicPr>
            <a:picLocks xmlns:a="http://schemas.openxmlformats.org/drawingml/2006/main" noChangeAspect="1"/>
          </p:cNvPicPr>
          <p:nvPr/>
        </p:nvPicPr>
        <p:blipFill>
          <a:blip xmlns:r="http://schemas.openxmlformats.org/officeDocument/2006/relationships" xmlns:a="http://schemas.openxmlformats.org/drawingml/2006/main" r:embed="R20596bd6f4bd46fa"/>
          <a:stretch xmlns:a="http://schemas.openxmlformats.org/drawingml/2006/main">
            <a:fillRect/>
          </a:stretch>
        </p:blipFill>
        <p:spPr>
          <a:xfrm xmlns:a="http://schemas.openxmlformats.org/drawingml/2006/main">
            <a:off x="914400" y="4414000"/>
            <a:ext cx="2500000" cy="2000000"/>
          </a:xfrm>
          <a:prstGeom xmlns:a="http://schemas.openxmlformats.org/drawingml/2006/main" prst="rect">
            <a:avLst/>
          </a:prstGeom>
        </p:spPr>
      </p:pic>
      <p:sp>
        <p:nvSpPr>
          <p:cNvPr id="101" name="TextBox 101"/>
          <p:cNvSpPr>
            <a:spLocks xmlns:a="http://schemas.openxmlformats.org/drawingml/2006/main" noGrp="1"/>
          </p:cNvSpPr>
          <p:nvPr/>
        </p:nvSpPr>
        <p:spPr>
          <a:xfrm xmlns:a="http://schemas.openxmlformats.org/drawingml/2006/main">
            <a:off x="914400" y="3914000"/>
            <a:ext cx="2400000" cy="500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pPr algn="ctr"/>
            <a:r>
              <a:rPr sz="1200" b="1" u="sng">
                <a:latin typeface="Calibri"/>
              </a:rPr>
              <a:t>Measurement Plots: P1dB</a:t>
            </a:r>
          </a:p>
          <a:p xmlns:a="http://schemas.openxmlformats.org/drawingml/2006/main">
            <a:pPr indent="-180000" algn="ctr"/>
            <a:r>
              <a:rPr sz="1200" b="1" u="sng">
                <a:latin typeface="Calibri"/>
              </a:rPr>
              <a:t>TA = +25℃</a:t>
            </a:r>
          </a:p>
        </p:txBody>
      </p:sp>
      <p:pic>
        <p:nvPicPr>
          <p:cNvPr id="100" name="9.png"/>
          <p:cNvPicPr>
            <a:picLocks xmlns:a="http://schemas.openxmlformats.org/drawingml/2006/main" noChangeAspect="1"/>
          </p:cNvPicPr>
          <p:nvPr/>
        </p:nvPicPr>
        <p:blipFill>
          <a:blip xmlns:r="http://schemas.openxmlformats.org/officeDocument/2006/relationships" xmlns:a="http://schemas.openxmlformats.org/drawingml/2006/main" r:embed="R396f41873ef0438c"/>
          <a:stretch xmlns:a="http://schemas.openxmlformats.org/drawingml/2006/main">
            <a:fillRect/>
          </a:stretch>
        </p:blipFill>
        <p:spPr>
          <a:xfrm xmlns:a="http://schemas.openxmlformats.org/drawingml/2006/main">
            <a:off x="4114400" y="4414000"/>
            <a:ext cx="2500000" cy="2000000"/>
          </a:xfrm>
          <a:prstGeom xmlns:a="http://schemas.openxmlformats.org/drawingml/2006/main" prst="rect">
            <a:avLst/>
          </a:prstGeom>
        </p:spPr>
      </p:pic>
      <p:sp>
        <p:nvSpPr>
          <p:cNvPr id="102" name="TextBox 102"/>
          <p:cNvSpPr>
            <a:spLocks xmlns:a="http://schemas.openxmlformats.org/drawingml/2006/main" noGrp="1"/>
          </p:cNvSpPr>
          <p:nvPr/>
        </p:nvSpPr>
        <p:spPr>
          <a:xfrm xmlns:a="http://schemas.openxmlformats.org/drawingml/2006/main">
            <a:off x="4114400" y="3914000"/>
            <a:ext cx="2400000" cy="500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pPr algn="ctr"/>
            <a:r>
              <a:rPr sz="1200" b="1" u="sng">
                <a:latin typeface="Calibri"/>
              </a:rPr>
              <a:t>Measurement Plots: OIP3</a:t>
            </a:r>
          </a:p>
          <a:p xmlns:a="http://schemas.openxmlformats.org/drawingml/2006/main">
            <a:pPr indent="-180000" algn="ctr"/>
            <a:r>
              <a:rPr sz="1200" b="1" u="sng">
                <a:latin typeface="Calibri"/>
              </a:rPr>
              <a:t>TA = +25℃</a:t>
            </a:r>
          </a:p>
        </p:txBody>
      </p:sp>
      <p:pic>
        <p:nvPicPr>
          <p:cNvPr id="100" name="10.png"/>
          <p:cNvPicPr>
            <a:picLocks xmlns:a="http://schemas.openxmlformats.org/drawingml/2006/main" noChangeAspect="1"/>
          </p:cNvPicPr>
          <p:nvPr/>
        </p:nvPicPr>
        <p:blipFill>
          <a:blip xmlns:r="http://schemas.openxmlformats.org/officeDocument/2006/relationships" xmlns:a="http://schemas.openxmlformats.org/drawingml/2006/main" r:embed="R6fb66380e83f450a"/>
          <a:stretch xmlns:a="http://schemas.openxmlformats.org/drawingml/2006/main">
            <a:fillRect/>
          </a:stretch>
        </p:blipFill>
        <p:spPr>
          <a:xfrm xmlns:a="http://schemas.openxmlformats.org/drawingml/2006/main">
            <a:off x="914400" y="7014000"/>
            <a:ext cx="2500000" cy="2000000"/>
          </a:xfrm>
          <a:prstGeom xmlns:a="http://schemas.openxmlformats.org/drawingml/2006/main" prst="rect">
            <a:avLst/>
          </a:prstGeom>
        </p:spPr>
      </p:pic>
      <p:sp>
        <p:nvSpPr>
          <p:cNvPr id="103" name="TextBox 103"/>
          <p:cNvSpPr>
            <a:spLocks xmlns:a="http://schemas.openxmlformats.org/drawingml/2006/main" noGrp="1"/>
          </p:cNvSpPr>
          <p:nvPr/>
        </p:nvSpPr>
        <p:spPr>
          <a:xfrm xmlns:a="http://schemas.openxmlformats.org/drawingml/2006/main">
            <a:off x="914400" y="6514000"/>
            <a:ext cx="2400000" cy="500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pPr algn="ctr"/>
            <a:r>
              <a:rPr sz="1200" b="1" u="sng">
                <a:latin typeface="Calibri"/>
              </a:rPr>
              <a:t>Measurement Plots: Psat</a:t>
            </a:r>
          </a:p>
          <a:p xmlns:a="http://schemas.openxmlformats.org/drawingml/2006/main">
            <a:pPr indent="-180000" algn="ctr"/>
            <a:r>
              <a:rPr sz="1200" b="1" u="sng">
                <a:latin typeface="Calibri"/>
              </a:rPr>
              <a:t>TA = +25℃</a:t>
            </a:r>
          </a:p>
        </p:txBody>
      </p:sp>
      <p:pic>
        <p:nvPicPr>
          <p:cNvPr id="100" name="11.png"/>
          <p:cNvPicPr>
            <a:picLocks xmlns:a="http://schemas.openxmlformats.org/drawingml/2006/main" noChangeAspect="1"/>
          </p:cNvPicPr>
          <p:nvPr/>
        </p:nvPicPr>
        <p:blipFill>
          <a:blip xmlns:r="http://schemas.openxmlformats.org/officeDocument/2006/relationships" xmlns:a="http://schemas.openxmlformats.org/drawingml/2006/main" r:embed="R9c2a698ffd6f45c4"/>
          <a:stretch xmlns:a="http://schemas.openxmlformats.org/drawingml/2006/main">
            <a:fillRect/>
          </a:stretch>
        </p:blipFill>
        <p:spPr>
          <a:xfrm xmlns:a="http://schemas.openxmlformats.org/drawingml/2006/main">
            <a:off x="4114400" y="7014000"/>
            <a:ext cx="2500000" cy="2000000"/>
          </a:xfrm>
          <a:prstGeom xmlns:a="http://schemas.openxmlformats.org/drawingml/2006/main" prst="rect">
            <a:avLst/>
          </a:prstGeom>
        </p:spPr>
      </p:pic>
      <p:sp>
        <p:nvSpPr>
          <p:cNvPr id="104" name="TextBox 104"/>
          <p:cNvSpPr>
            <a:spLocks xmlns:a="http://schemas.openxmlformats.org/drawingml/2006/main" noGrp="1"/>
          </p:cNvSpPr>
          <p:nvPr/>
        </p:nvSpPr>
        <p:spPr>
          <a:xfrm xmlns:a="http://schemas.openxmlformats.org/drawingml/2006/main">
            <a:off x="4114400" y="6514000"/>
            <a:ext cx="2400000" cy="500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pPr algn="ctr"/>
            <a:r>
              <a:rPr sz="1200" b="1" u="sng">
                <a:latin typeface="Calibri"/>
              </a:rPr>
              <a:t>Measurement Plots: Noise Figure</a:t>
            </a:r>
          </a:p>
          <a:p xmlns:a="http://schemas.openxmlformats.org/drawingml/2006/main">
            <a:pPr indent="-180000" algn="ctr"/>
            <a:r>
              <a:rPr sz="1200" b="1" u="sng">
                <a:latin typeface="Calibri"/>
              </a:rPr>
              <a:t>TA = +25℃</a:t>
            </a:r>
          </a:p>
        </p:txBody>
      </p:sp>
    </p:spTree>
  </p:cSld>
  <p:clrMapOvr>
    <a:masterClrMapping xmlns:a="http://schemas.openxmlformats.org/drawingml/2006/main"/>
  </p:clrMapOvr>
</p:sld>
</file>

<file path=ppt/slides/slide4.xml><?xml version="1.0" encoding="utf-8"?>
<p:sld xmlns:p="http://schemas.openxmlformats.org/presentationml/2006/main">
  <p:cSld name="Blank">
    <p:spTree>
      <p:nvGrpSpPr>
        <p:cNvPr id="1" name=""/>
        <p:cNvGrpSpPr/>
        <p:nvPr/>
      </p:nvGrpSpPr>
      <p:grpSpPr>
        <a:xfrm xmlns:a="http://schemas.openxmlformats.org/drawingml/2006/main">
          <a:off x="0" y="0"/>
          <a:ext cx="0" cy="0"/>
          <a:chOff x="0" y="0"/>
          <a:chExt cx="0" cy="0"/>
        </a:xfrm>
      </p:grpSpPr>
      <p:pic>
        <p:nvPicPr>
          <p:cNvPr id="100" name="12.png"/>
          <p:cNvPicPr>
            <a:picLocks xmlns:a="http://schemas.openxmlformats.org/drawingml/2006/main" noChangeAspect="1"/>
          </p:cNvPicPr>
          <p:nvPr/>
        </p:nvPicPr>
        <p:blipFill>
          <a:blip xmlns:r="http://schemas.openxmlformats.org/officeDocument/2006/relationships" xmlns:a="http://schemas.openxmlformats.org/drawingml/2006/main" r:embed="R34776636c2db4fc1"/>
          <a:stretch xmlns:a="http://schemas.openxmlformats.org/drawingml/2006/main">
            <a:fillRect/>
          </a:stretch>
        </p:blipFill>
        <p:spPr>
          <a:xfrm xmlns:a="http://schemas.openxmlformats.org/drawingml/2006/main">
            <a:off x="914400" y="1814000"/>
            <a:ext cx="2500000" cy="2000000"/>
          </a:xfrm>
          <a:prstGeom xmlns:a="http://schemas.openxmlformats.org/drawingml/2006/main" prst="rect">
            <a:avLst/>
          </a:prstGeom>
        </p:spPr>
      </p:pic>
      <p:sp>
        <p:nvSpPr>
          <p:cNvPr id="101" name="TextBox 101"/>
          <p:cNvSpPr>
            <a:spLocks xmlns:a="http://schemas.openxmlformats.org/drawingml/2006/main" noGrp="1"/>
          </p:cNvSpPr>
          <p:nvPr/>
        </p:nvSpPr>
        <p:spPr>
          <a:xfrm xmlns:a="http://schemas.openxmlformats.org/drawingml/2006/main">
            <a:off x="914400" y="1314000"/>
            <a:ext cx="5000000" cy="500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pPr algn="ctr"/>
            <a:r>
              <a:rPr sz="1200" b="1" u="sng">
                <a:latin typeface="Calibri"/>
              </a:rPr>
              <a:t>Measurement Plots: S-parameters</a:t>
            </a:r>
          </a:p>
          <a:p xmlns:a="http://schemas.openxmlformats.org/drawingml/2006/main">
            <a:pPr indent="-180000" algn="ctr"/>
            <a:r>
              <a:rPr sz="1200" b="1" u="sng">
                <a:latin typeface="Calibri"/>
              </a:rPr>
              <a:t>VD=3V,ID=43mA</a:t>
            </a:r>
          </a:p>
        </p:txBody>
      </p:sp>
      <p:pic>
        <p:nvPicPr>
          <p:cNvPr id="100" name="13.png"/>
          <p:cNvPicPr>
            <a:picLocks xmlns:a="http://schemas.openxmlformats.org/drawingml/2006/main" noChangeAspect="1"/>
          </p:cNvPicPr>
          <p:nvPr/>
        </p:nvPicPr>
        <p:blipFill>
          <a:blip xmlns:r="http://schemas.openxmlformats.org/officeDocument/2006/relationships" xmlns:a="http://schemas.openxmlformats.org/drawingml/2006/main" r:embed="Re8f88e70848d4f4e"/>
          <a:stretch xmlns:a="http://schemas.openxmlformats.org/drawingml/2006/main">
            <a:fillRect/>
          </a:stretch>
        </p:blipFill>
        <p:spPr>
          <a:xfrm xmlns:a="http://schemas.openxmlformats.org/drawingml/2006/main">
            <a:off x="4114400" y="1814000"/>
            <a:ext cx="2500000" cy="2000000"/>
          </a:xfrm>
          <a:prstGeom xmlns:a="http://schemas.openxmlformats.org/drawingml/2006/main" prst="rect">
            <a:avLst/>
          </a:prstGeom>
        </p:spPr>
      </p:pic>
      <p:pic>
        <p:nvPicPr>
          <p:cNvPr id="100" name="14.png"/>
          <p:cNvPicPr>
            <a:picLocks xmlns:a="http://schemas.openxmlformats.org/drawingml/2006/main" noChangeAspect="1"/>
          </p:cNvPicPr>
          <p:nvPr/>
        </p:nvPicPr>
        <p:blipFill>
          <a:blip xmlns:r="http://schemas.openxmlformats.org/officeDocument/2006/relationships" xmlns:a="http://schemas.openxmlformats.org/drawingml/2006/main" r:embed="Rcfe300253bee44d1"/>
          <a:stretch xmlns:a="http://schemas.openxmlformats.org/drawingml/2006/main">
            <a:fillRect/>
          </a:stretch>
        </p:blipFill>
        <p:spPr>
          <a:xfrm xmlns:a="http://schemas.openxmlformats.org/drawingml/2006/main">
            <a:off x="914400" y="4414000"/>
            <a:ext cx="2500000" cy="2000000"/>
          </a:xfrm>
          <a:prstGeom xmlns:a="http://schemas.openxmlformats.org/drawingml/2006/main" prst="rect">
            <a:avLst/>
          </a:prstGeom>
        </p:spPr>
      </p:pic>
      <p:pic>
        <p:nvPicPr>
          <p:cNvPr id="100" name="15.png"/>
          <p:cNvPicPr>
            <a:picLocks xmlns:a="http://schemas.openxmlformats.org/drawingml/2006/main" noChangeAspect="1"/>
          </p:cNvPicPr>
          <p:nvPr/>
        </p:nvPicPr>
        <p:blipFill>
          <a:blip xmlns:r="http://schemas.openxmlformats.org/officeDocument/2006/relationships" xmlns:a="http://schemas.openxmlformats.org/drawingml/2006/main" r:embed="R14e6e36723a14cb6"/>
          <a:stretch xmlns:a="http://schemas.openxmlformats.org/drawingml/2006/main">
            <a:fillRect/>
          </a:stretch>
        </p:blipFill>
        <p:spPr>
          <a:xfrm xmlns:a="http://schemas.openxmlformats.org/drawingml/2006/main">
            <a:off x="4114400" y="4414000"/>
            <a:ext cx="2500000" cy="2000000"/>
          </a:xfrm>
          <a:prstGeom xmlns:a="http://schemas.openxmlformats.org/drawingml/2006/main" prst="rect">
            <a:avLst/>
          </a:prstGeom>
        </p:spPr>
      </p:pic>
      <p:pic>
        <p:nvPicPr>
          <p:cNvPr id="100" name="16.png"/>
          <p:cNvPicPr>
            <a:picLocks xmlns:a="http://schemas.openxmlformats.org/drawingml/2006/main" noChangeAspect="1"/>
          </p:cNvPicPr>
          <p:nvPr/>
        </p:nvPicPr>
        <p:blipFill>
          <a:blip xmlns:r="http://schemas.openxmlformats.org/officeDocument/2006/relationships" xmlns:a="http://schemas.openxmlformats.org/drawingml/2006/main" r:embed="R3283dad6a3cb4f48"/>
          <a:stretch xmlns:a="http://schemas.openxmlformats.org/drawingml/2006/main">
            <a:fillRect/>
          </a:stretch>
        </p:blipFill>
        <p:spPr>
          <a:xfrm xmlns:a="http://schemas.openxmlformats.org/drawingml/2006/main">
            <a:off x="914400" y="7014000"/>
            <a:ext cx="2500000" cy="2000000"/>
          </a:xfrm>
          <a:prstGeom xmlns:a="http://schemas.openxmlformats.org/drawingml/2006/main" prst="rect">
            <a:avLst/>
          </a:prstGeom>
        </p:spPr>
      </p:pic>
      <p:sp>
        <p:nvSpPr>
          <p:cNvPr id="102" name="TextBox 102"/>
          <p:cNvSpPr>
            <a:spLocks xmlns:a="http://schemas.openxmlformats.org/drawingml/2006/main" noGrp="1"/>
          </p:cNvSpPr>
          <p:nvPr/>
        </p:nvSpPr>
        <p:spPr>
          <a:xfrm xmlns:a="http://schemas.openxmlformats.org/drawingml/2006/main">
            <a:off x="914400" y="6514000"/>
            <a:ext cx="2400000" cy="500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pPr algn="ctr"/>
            <a:r>
              <a:rPr sz="1200" b="1" u="sng">
                <a:latin typeface="Calibri"/>
              </a:rPr>
              <a:t>Measurement Plots: P1dB</a:t>
            </a:r>
          </a:p>
          <a:p xmlns:a="http://schemas.openxmlformats.org/drawingml/2006/main">
            <a:pPr indent="-180000" algn="ctr"/>
            <a:r>
              <a:rPr sz="1200" b="1" u="sng">
                <a:latin typeface="Calibri"/>
              </a:rPr>
              <a:t>VD=3V,ID=43mA</a:t>
            </a:r>
          </a:p>
        </p:txBody>
      </p:sp>
      <p:pic>
        <p:nvPicPr>
          <p:cNvPr id="100" name="17.png"/>
          <p:cNvPicPr>
            <a:picLocks xmlns:a="http://schemas.openxmlformats.org/drawingml/2006/main" noChangeAspect="1"/>
          </p:cNvPicPr>
          <p:nvPr/>
        </p:nvPicPr>
        <p:blipFill>
          <a:blip xmlns:r="http://schemas.openxmlformats.org/officeDocument/2006/relationships" xmlns:a="http://schemas.openxmlformats.org/drawingml/2006/main" r:embed="R4e90bb15dc1949e6"/>
          <a:stretch xmlns:a="http://schemas.openxmlformats.org/drawingml/2006/main">
            <a:fillRect/>
          </a:stretch>
        </p:blipFill>
        <p:spPr>
          <a:xfrm xmlns:a="http://schemas.openxmlformats.org/drawingml/2006/main">
            <a:off x="4114400" y="7014000"/>
            <a:ext cx="2500000" cy="2000000"/>
          </a:xfrm>
          <a:prstGeom xmlns:a="http://schemas.openxmlformats.org/drawingml/2006/main" prst="rect">
            <a:avLst/>
          </a:prstGeom>
        </p:spPr>
      </p:pic>
      <p:sp>
        <p:nvSpPr>
          <p:cNvPr id="103" name="TextBox 103"/>
          <p:cNvSpPr>
            <a:spLocks xmlns:a="http://schemas.openxmlformats.org/drawingml/2006/main" noGrp="1"/>
          </p:cNvSpPr>
          <p:nvPr/>
        </p:nvSpPr>
        <p:spPr>
          <a:xfrm xmlns:a="http://schemas.openxmlformats.org/drawingml/2006/main">
            <a:off x="4114400" y="6514000"/>
            <a:ext cx="2400000" cy="500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pPr algn="ctr"/>
            <a:r>
              <a:rPr sz="1200" b="1" u="sng">
                <a:latin typeface="Calibri"/>
              </a:rPr>
              <a:t>Measurement Plots: OIP3</a:t>
            </a:r>
          </a:p>
          <a:p xmlns:a="http://schemas.openxmlformats.org/drawingml/2006/main">
            <a:pPr indent="-180000" algn="ctr"/>
            <a:r>
              <a:rPr sz="1200" b="1" u="sng">
                <a:latin typeface="Calibri"/>
              </a:rPr>
              <a:t>VD=3V,ID=43mA</a:t>
            </a:r>
          </a:p>
        </p:txBody>
      </p:sp>
    </p:spTree>
  </p:cSld>
  <p:clrMapOvr>
    <a:masterClrMapping xmlns:a="http://schemas.openxmlformats.org/drawingml/2006/main"/>
  </p:clrMapOvr>
</p:sld>
</file>

<file path=ppt/slides/slide5.xml><?xml version="1.0" encoding="utf-8"?>
<p:sld xmlns:p="http://schemas.openxmlformats.org/presentationml/2006/main">
  <p:cSld name="Blank">
    <p:spTree>
      <p:nvGrpSpPr>
        <p:cNvPr id="1" name=""/>
        <p:cNvGrpSpPr/>
        <p:nvPr/>
      </p:nvGrpSpPr>
      <p:grpSpPr>
        <a:xfrm xmlns:a="http://schemas.openxmlformats.org/drawingml/2006/main">
          <a:off x="0" y="0"/>
          <a:ext cx="0" cy="0"/>
          <a:chOff x="0" y="0"/>
          <a:chExt cx="0" cy="0"/>
        </a:xfrm>
      </p:grpSpPr>
      <p:pic>
        <p:nvPicPr>
          <p:cNvPr id="100" name="18.png"/>
          <p:cNvPicPr>
            <a:picLocks xmlns:a="http://schemas.openxmlformats.org/drawingml/2006/main" noChangeAspect="1"/>
          </p:cNvPicPr>
          <p:nvPr/>
        </p:nvPicPr>
        <p:blipFill>
          <a:blip xmlns:r="http://schemas.openxmlformats.org/officeDocument/2006/relationships" xmlns:a="http://schemas.openxmlformats.org/drawingml/2006/main" r:embed="Rc3a68e7be1e54b06"/>
          <a:stretch xmlns:a="http://schemas.openxmlformats.org/drawingml/2006/main">
            <a:fillRect/>
          </a:stretch>
        </p:blipFill>
        <p:spPr>
          <a:xfrm xmlns:a="http://schemas.openxmlformats.org/drawingml/2006/main">
            <a:off x="914400" y="1814000"/>
            <a:ext cx="2500000" cy="2000000"/>
          </a:xfrm>
          <a:prstGeom xmlns:a="http://schemas.openxmlformats.org/drawingml/2006/main" prst="rect">
            <a:avLst/>
          </a:prstGeom>
        </p:spPr>
      </p:pic>
      <p:sp>
        <p:nvSpPr>
          <p:cNvPr id="101" name="TextBox 101"/>
          <p:cNvSpPr>
            <a:spLocks xmlns:a="http://schemas.openxmlformats.org/drawingml/2006/main" noGrp="1"/>
          </p:cNvSpPr>
          <p:nvPr/>
        </p:nvSpPr>
        <p:spPr>
          <a:xfrm xmlns:a="http://schemas.openxmlformats.org/drawingml/2006/main">
            <a:off x="914400" y="1314000"/>
            <a:ext cx="2400000" cy="500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pPr algn="ctr"/>
            <a:r>
              <a:rPr sz="1200" b="1" u="sng">
                <a:latin typeface="Calibri"/>
              </a:rPr>
              <a:t>Measurement Plots: Psat</a:t>
            </a:r>
          </a:p>
          <a:p xmlns:a="http://schemas.openxmlformats.org/drawingml/2006/main">
            <a:pPr indent="-180000" algn="ctr"/>
            <a:r>
              <a:rPr sz="1200" b="1" u="sng">
                <a:latin typeface="Calibri"/>
              </a:rPr>
              <a:t>VD=3V,ID=43mA</a:t>
            </a:r>
          </a:p>
        </p:txBody>
      </p:sp>
      <p:pic>
        <p:nvPicPr>
          <p:cNvPr id="100" name="19.png"/>
          <p:cNvPicPr>
            <a:picLocks xmlns:a="http://schemas.openxmlformats.org/drawingml/2006/main" noChangeAspect="1"/>
          </p:cNvPicPr>
          <p:nvPr/>
        </p:nvPicPr>
        <p:blipFill>
          <a:blip xmlns:r="http://schemas.openxmlformats.org/officeDocument/2006/relationships" xmlns:a="http://schemas.openxmlformats.org/drawingml/2006/main" r:embed="Rd14d3ae8a52e48c1"/>
          <a:stretch xmlns:a="http://schemas.openxmlformats.org/drawingml/2006/main">
            <a:fillRect/>
          </a:stretch>
        </p:blipFill>
        <p:spPr>
          <a:xfrm xmlns:a="http://schemas.openxmlformats.org/drawingml/2006/main">
            <a:off x="4114400" y="1814000"/>
            <a:ext cx="2500000" cy="2000000"/>
          </a:xfrm>
          <a:prstGeom xmlns:a="http://schemas.openxmlformats.org/drawingml/2006/main" prst="rect">
            <a:avLst/>
          </a:prstGeom>
        </p:spPr>
      </p:pic>
      <p:sp>
        <p:nvSpPr>
          <p:cNvPr id="102" name="TextBox 102"/>
          <p:cNvSpPr>
            <a:spLocks xmlns:a="http://schemas.openxmlformats.org/drawingml/2006/main" noGrp="1"/>
          </p:cNvSpPr>
          <p:nvPr/>
        </p:nvSpPr>
        <p:spPr>
          <a:xfrm xmlns:a="http://schemas.openxmlformats.org/drawingml/2006/main">
            <a:off x="4114400" y="1314000"/>
            <a:ext cx="2400000" cy="500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pPr algn="ctr"/>
            <a:r>
              <a:rPr sz="1200" b="1" u="sng">
                <a:latin typeface="Calibri"/>
              </a:rPr>
              <a:t>Measurement Plots: Noise Figure</a:t>
            </a:r>
          </a:p>
          <a:p xmlns:a="http://schemas.openxmlformats.org/drawingml/2006/main">
            <a:pPr indent="-180000" algn="ctr"/>
            <a:r>
              <a:rPr sz="1200" b="1" u="sng">
                <a:latin typeface="Calibri"/>
              </a:rPr>
              <a:t>VD=3V,ID=43mA</a:t>
            </a:r>
          </a:p>
        </p:txBody>
      </p:sp>
      <p:pic>
        <p:nvPicPr>
          <p:cNvPr id="100" name="20.png"/>
          <p:cNvPicPr>
            <a:picLocks xmlns:a="http://schemas.openxmlformats.org/drawingml/2006/main" noChangeAspect="1"/>
          </p:cNvPicPr>
          <p:nvPr/>
        </p:nvPicPr>
        <p:blipFill>
          <a:blip xmlns:r="http://schemas.openxmlformats.org/officeDocument/2006/relationships" xmlns:a="http://schemas.openxmlformats.org/drawingml/2006/main" r:embed="R6561da4384764bc5"/>
          <a:stretch xmlns:a="http://schemas.openxmlformats.org/drawingml/2006/main">
            <a:fillRect/>
          </a:stretch>
        </p:blipFill>
        <p:spPr>
          <a:xfrm xmlns:a="http://schemas.openxmlformats.org/drawingml/2006/main">
            <a:off x="914400" y="4414000"/>
            <a:ext cx="2500000" cy="2000000"/>
          </a:xfrm>
          <a:prstGeom xmlns:a="http://schemas.openxmlformats.org/drawingml/2006/main" prst="rect">
            <a:avLst/>
          </a:prstGeom>
        </p:spPr>
      </p:pic>
      <p:sp>
        <p:nvSpPr>
          <p:cNvPr id="103" name="TextBox 103"/>
          <p:cNvSpPr>
            <a:spLocks xmlns:a="http://schemas.openxmlformats.org/drawingml/2006/main" noGrp="1"/>
          </p:cNvSpPr>
          <p:nvPr/>
        </p:nvSpPr>
        <p:spPr>
          <a:xfrm xmlns:a="http://schemas.openxmlformats.org/drawingml/2006/main">
            <a:off x="914400" y="3914000"/>
            <a:ext cx="5000000" cy="500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pPr algn="ctr"/>
            <a:r>
              <a:rPr sz="1200" b="1" u="sng">
                <a:latin typeface="Calibri"/>
              </a:rPr>
              <a:t>Measurement Plots: S-parameters</a:t>
            </a:r>
          </a:p>
          <a:p xmlns:a="http://schemas.openxmlformats.org/drawingml/2006/main">
            <a:pPr indent="-180000" algn="ctr"/>
            <a:r>
              <a:rPr sz="1200" b="1" u="sng">
                <a:latin typeface="Calibri"/>
              </a:rPr>
              <a:t>VD=4V,ID=67mA</a:t>
            </a:r>
          </a:p>
        </p:txBody>
      </p:sp>
      <p:pic>
        <p:nvPicPr>
          <p:cNvPr id="100" name="21.png"/>
          <p:cNvPicPr>
            <a:picLocks xmlns:a="http://schemas.openxmlformats.org/drawingml/2006/main" noChangeAspect="1"/>
          </p:cNvPicPr>
          <p:nvPr/>
        </p:nvPicPr>
        <p:blipFill>
          <a:blip xmlns:r="http://schemas.openxmlformats.org/officeDocument/2006/relationships" xmlns:a="http://schemas.openxmlformats.org/drawingml/2006/main" r:embed="R7ef82e6c18a34d55"/>
          <a:stretch xmlns:a="http://schemas.openxmlformats.org/drawingml/2006/main">
            <a:fillRect/>
          </a:stretch>
        </p:blipFill>
        <p:spPr>
          <a:xfrm xmlns:a="http://schemas.openxmlformats.org/drawingml/2006/main">
            <a:off x="4114400" y="4414000"/>
            <a:ext cx="2500000" cy="2000000"/>
          </a:xfrm>
          <a:prstGeom xmlns:a="http://schemas.openxmlformats.org/drawingml/2006/main" prst="rect">
            <a:avLst/>
          </a:prstGeom>
        </p:spPr>
      </p:pic>
      <p:pic>
        <p:nvPicPr>
          <p:cNvPr id="100" name="22.png"/>
          <p:cNvPicPr>
            <a:picLocks xmlns:a="http://schemas.openxmlformats.org/drawingml/2006/main" noChangeAspect="1"/>
          </p:cNvPicPr>
          <p:nvPr/>
        </p:nvPicPr>
        <p:blipFill>
          <a:blip xmlns:r="http://schemas.openxmlformats.org/officeDocument/2006/relationships" xmlns:a="http://schemas.openxmlformats.org/drawingml/2006/main" r:embed="R3c86e24327d944a0"/>
          <a:stretch xmlns:a="http://schemas.openxmlformats.org/drawingml/2006/main">
            <a:fillRect/>
          </a:stretch>
        </p:blipFill>
        <p:spPr>
          <a:xfrm xmlns:a="http://schemas.openxmlformats.org/drawingml/2006/main">
            <a:off x="914400" y="7014000"/>
            <a:ext cx="2500000" cy="2000000"/>
          </a:xfrm>
          <a:prstGeom xmlns:a="http://schemas.openxmlformats.org/drawingml/2006/main" prst="rect">
            <a:avLst/>
          </a:prstGeom>
        </p:spPr>
      </p:pic>
      <p:pic>
        <p:nvPicPr>
          <p:cNvPr id="100" name="23.png"/>
          <p:cNvPicPr>
            <a:picLocks xmlns:a="http://schemas.openxmlformats.org/drawingml/2006/main" noChangeAspect="1"/>
          </p:cNvPicPr>
          <p:nvPr/>
        </p:nvPicPr>
        <p:blipFill>
          <a:blip xmlns:r="http://schemas.openxmlformats.org/officeDocument/2006/relationships" xmlns:a="http://schemas.openxmlformats.org/drawingml/2006/main" r:embed="R66a9ad71e3234174"/>
          <a:stretch xmlns:a="http://schemas.openxmlformats.org/drawingml/2006/main">
            <a:fillRect/>
          </a:stretch>
        </p:blipFill>
        <p:spPr>
          <a:xfrm xmlns:a="http://schemas.openxmlformats.org/drawingml/2006/main">
            <a:off x="4114400" y="7014000"/>
            <a:ext cx="2500000" cy="2000000"/>
          </a:xfrm>
          <a:prstGeom xmlns:a="http://schemas.openxmlformats.org/drawingml/2006/main" prst="rect">
            <a:avLst/>
          </a:prstGeom>
        </p:spPr>
      </p:pic>
    </p:spTree>
  </p:cSld>
  <p:clrMapOvr>
    <a:masterClrMapping xmlns:a="http://schemas.openxmlformats.org/drawingml/2006/main"/>
  </p:clrMapOvr>
</p:sld>
</file>

<file path=ppt/slides/slide6.xml><?xml version="1.0" encoding="utf-8"?>
<p:sld xmlns:p="http://schemas.openxmlformats.org/presentationml/2006/main">
  <p:cSld name="Blank">
    <p:spTree>
      <p:nvGrpSpPr>
        <p:cNvPr id="1" name=""/>
        <p:cNvGrpSpPr/>
        <p:nvPr/>
      </p:nvGrpSpPr>
      <p:grpSpPr>
        <a:xfrm xmlns:a="http://schemas.openxmlformats.org/drawingml/2006/main">
          <a:off x="0" y="0"/>
          <a:ext cx="0" cy="0"/>
          <a:chOff x="0" y="0"/>
          <a:chExt cx="0" cy="0"/>
        </a:xfrm>
      </p:grpSpPr>
      <p:pic>
        <p:nvPicPr>
          <p:cNvPr id="100" name="24.png"/>
          <p:cNvPicPr>
            <a:picLocks xmlns:a="http://schemas.openxmlformats.org/drawingml/2006/main" noChangeAspect="1"/>
          </p:cNvPicPr>
          <p:nvPr/>
        </p:nvPicPr>
        <p:blipFill>
          <a:blip xmlns:r="http://schemas.openxmlformats.org/officeDocument/2006/relationships" xmlns:a="http://schemas.openxmlformats.org/drawingml/2006/main" r:embed="Rce0785cdade84aa8"/>
          <a:stretch xmlns:a="http://schemas.openxmlformats.org/drawingml/2006/main">
            <a:fillRect/>
          </a:stretch>
        </p:blipFill>
        <p:spPr>
          <a:xfrm xmlns:a="http://schemas.openxmlformats.org/drawingml/2006/main">
            <a:off x="914400" y="1814000"/>
            <a:ext cx="2500000" cy="2000000"/>
          </a:xfrm>
          <a:prstGeom xmlns:a="http://schemas.openxmlformats.org/drawingml/2006/main" prst="rect">
            <a:avLst/>
          </a:prstGeom>
        </p:spPr>
      </p:pic>
      <p:sp>
        <p:nvSpPr>
          <p:cNvPr id="101" name="TextBox 101"/>
          <p:cNvSpPr>
            <a:spLocks xmlns:a="http://schemas.openxmlformats.org/drawingml/2006/main" noGrp="1"/>
          </p:cNvSpPr>
          <p:nvPr/>
        </p:nvSpPr>
        <p:spPr>
          <a:xfrm xmlns:a="http://schemas.openxmlformats.org/drawingml/2006/main">
            <a:off x="914400" y="1314000"/>
            <a:ext cx="2400000" cy="500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pPr algn="ctr"/>
            <a:r>
              <a:rPr sz="1200" b="1" u="sng">
                <a:latin typeface="Calibri"/>
              </a:rPr>
              <a:t>Measurement Plots: P1dB</a:t>
            </a:r>
          </a:p>
          <a:p xmlns:a="http://schemas.openxmlformats.org/drawingml/2006/main">
            <a:pPr indent="-180000" algn="ctr"/>
            <a:r>
              <a:rPr sz="1200" b="1" u="sng">
                <a:latin typeface="Calibri"/>
              </a:rPr>
              <a:t>VD=4V,ID=67mA</a:t>
            </a:r>
          </a:p>
        </p:txBody>
      </p:sp>
      <p:pic>
        <p:nvPicPr>
          <p:cNvPr id="100" name="25.png"/>
          <p:cNvPicPr>
            <a:picLocks xmlns:a="http://schemas.openxmlformats.org/drawingml/2006/main" noChangeAspect="1"/>
          </p:cNvPicPr>
          <p:nvPr/>
        </p:nvPicPr>
        <p:blipFill>
          <a:blip xmlns:r="http://schemas.openxmlformats.org/officeDocument/2006/relationships" xmlns:a="http://schemas.openxmlformats.org/drawingml/2006/main" r:embed="R8e736f858cdc464a"/>
          <a:stretch xmlns:a="http://schemas.openxmlformats.org/drawingml/2006/main">
            <a:fillRect/>
          </a:stretch>
        </p:blipFill>
        <p:spPr>
          <a:xfrm xmlns:a="http://schemas.openxmlformats.org/drawingml/2006/main">
            <a:off x="4114400" y="1814000"/>
            <a:ext cx="2500000" cy="2000000"/>
          </a:xfrm>
          <a:prstGeom xmlns:a="http://schemas.openxmlformats.org/drawingml/2006/main" prst="rect">
            <a:avLst/>
          </a:prstGeom>
        </p:spPr>
      </p:pic>
      <p:sp>
        <p:nvSpPr>
          <p:cNvPr id="102" name="TextBox 102"/>
          <p:cNvSpPr>
            <a:spLocks xmlns:a="http://schemas.openxmlformats.org/drawingml/2006/main" noGrp="1"/>
          </p:cNvSpPr>
          <p:nvPr/>
        </p:nvSpPr>
        <p:spPr>
          <a:xfrm xmlns:a="http://schemas.openxmlformats.org/drawingml/2006/main">
            <a:off x="4114400" y="1314000"/>
            <a:ext cx="2400000" cy="500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pPr algn="ctr"/>
            <a:r>
              <a:rPr sz="1200" b="1" u="sng">
                <a:latin typeface="Calibri"/>
              </a:rPr>
              <a:t>Measurement Plots: OIP3</a:t>
            </a:r>
          </a:p>
          <a:p xmlns:a="http://schemas.openxmlformats.org/drawingml/2006/main">
            <a:pPr indent="-180000" algn="ctr"/>
            <a:r>
              <a:rPr sz="1200" b="1" u="sng">
                <a:latin typeface="Calibri"/>
              </a:rPr>
              <a:t>VD=4V,ID=67mA</a:t>
            </a:r>
          </a:p>
        </p:txBody>
      </p:sp>
      <p:pic>
        <p:nvPicPr>
          <p:cNvPr id="100" name="26.png"/>
          <p:cNvPicPr>
            <a:picLocks xmlns:a="http://schemas.openxmlformats.org/drawingml/2006/main" noChangeAspect="1"/>
          </p:cNvPicPr>
          <p:nvPr/>
        </p:nvPicPr>
        <p:blipFill>
          <a:blip xmlns:r="http://schemas.openxmlformats.org/officeDocument/2006/relationships" xmlns:a="http://schemas.openxmlformats.org/drawingml/2006/main" r:embed="R9ec0d94a05164131"/>
          <a:stretch xmlns:a="http://schemas.openxmlformats.org/drawingml/2006/main">
            <a:fillRect/>
          </a:stretch>
        </p:blipFill>
        <p:spPr>
          <a:xfrm xmlns:a="http://schemas.openxmlformats.org/drawingml/2006/main">
            <a:off x="914400" y="4414000"/>
            <a:ext cx="2500000" cy="2000000"/>
          </a:xfrm>
          <a:prstGeom xmlns:a="http://schemas.openxmlformats.org/drawingml/2006/main" prst="rect">
            <a:avLst/>
          </a:prstGeom>
        </p:spPr>
      </p:pic>
      <p:sp>
        <p:nvSpPr>
          <p:cNvPr id="103" name="TextBox 103"/>
          <p:cNvSpPr>
            <a:spLocks xmlns:a="http://schemas.openxmlformats.org/drawingml/2006/main" noGrp="1"/>
          </p:cNvSpPr>
          <p:nvPr/>
        </p:nvSpPr>
        <p:spPr>
          <a:xfrm xmlns:a="http://schemas.openxmlformats.org/drawingml/2006/main">
            <a:off x="914400" y="3914000"/>
            <a:ext cx="2400000" cy="500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pPr algn="ctr"/>
            <a:r>
              <a:rPr sz="1200" b="1" u="sng">
                <a:latin typeface="Calibri"/>
              </a:rPr>
              <a:t>Measurement Plots: Psat</a:t>
            </a:r>
          </a:p>
          <a:p xmlns:a="http://schemas.openxmlformats.org/drawingml/2006/main">
            <a:pPr indent="-180000" algn="ctr"/>
            <a:r>
              <a:rPr sz="1200" b="1" u="sng">
                <a:latin typeface="Calibri"/>
              </a:rPr>
              <a:t>VD=4V,ID=67mA</a:t>
            </a:r>
          </a:p>
        </p:txBody>
      </p:sp>
      <p:pic>
        <p:nvPicPr>
          <p:cNvPr id="100" name="27.png"/>
          <p:cNvPicPr>
            <a:picLocks xmlns:a="http://schemas.openxmlformats.org/drawingml/2006/main" noChangeAspect="1"/>
          </p:cNvPicPr>
          <p:nvPr/>
        </p:nvPicPr>
        <p:blipFill>
          <a:blip xmlns:r="http://schemas.openxmlformats.org/officeDocument/2006/relationships" xmlns:a="http://schemas.openxmlformats.org/drawingml/2006/main" r:embed="R18fe985d41914e5c"/>
          <a:stretch xmlns:a="http://schemas.openxmlformats.org/drawingml/2006/main">
            <a:fillRect/>
          </a:stretch>
        </p:blipFill>
        <p:spPr>
          <a:xfrm xmlns:a="http://schemas.openxmlformats.org/drawingml/2006/main">
            <a:off x="4114400" y="4414000"/>
            <a:ext cx="2500000" cy="2000000"/>
          </a:xfrm>
          <a:prstGeom xmlns:a="http://schemas.openxmlformats.org/drawingml/2006/main" prst="rect">
            <a:avLst/>
          </a:prstGeom>
        </p:spPr>
      </p:pic>
      <p:sp>
        <p:nvSpPr>
          <p:cNvPr id="104" name="TextBox 104"/>
          <p:cNvSpPr>
            <a:spLocks xmlns:a="http://schemas.openxmlformats.org/drawingml/2006/main" noGrp="1"/>
          </p:cNvSpPr>
          <p:nvPr/>
        </p:nvSpPr>
        <p:spPr>
          <a:xfrm xmlns:a="http://schemas.openxmlformats.org/drawingml/2006/main">
            <a:off x="4114400" y="3914000"/>
            <a:ext cx="2400000" cy="500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pPr algn="ctr"/>
            <a:r>
              <a:rPr sz="1200" b="1" u="sng">
                <a:latin typeface="Calibri"/>
              </a:rPr>
              <a:t>Measurement Plots: Noise Figure</a:t>
            </a:r>
          </a:p>
          <a:p xmlns:a="http://schemas.openxmlformats.org/drawingml/2006/main">
            <a:pPr indent="-180000" algn="ctr"/>
            <a:r>
              <a:rPr sz="1200" b="1" u="sng">
                <a:latin typeface="Calibri"/>
              </a:rPr>
              <a:t>VD=4V,ID=67mA</a:t>
            </a:r>
          </a:p>
        </p:txBody>
      </p:sp>
      <p:pic>
        <p:nvPicPr>
          <p:cNvPr id="100" name="28.png"/>
          <p:cNvPicPr>
            <a:picLocks xmlns:a="http://schemas.openxmlformats.org/drawingml/2006/main" noChangeAspect="1"/>
          </p:cNvPicPr>
          <p:nvPr/>
        </p:nvPicPr>
        <p:blipFill>
          <a:blip xmlns:r="http://schemas.openxmlformats.org/officeDocument/2006/relationships" xmlns:a="http://schemas.openxmlformats.org/drawingml/2006/main" r:embed="R23999b9052ff4f2b"/>
          <a:stretch xmlns:a="http://schemas.openxmlformats.org/drawingml/2006/main">
            <a:fillRect/>
          </a:stretch>
        </p:blipFill>
        <p:spPr>
          <a:xfrm xmlns:a="http://schemas.openxmlformats.org/drawingml/2006/main">
            <a:off x="914400" y="7014000"/>
            <a:ext cx="2500000" cy="2000000"/>
          </a:xfrm>
          <a:prstGeom xmlns:a="http://schemas.openxmlformats.org/drawingml/2006/main" prst="rect">
            <a:avLst/>
          </a:prstGeom>
        </p:spPr>
      </p:pic>
      <p:sp>
        <p:nvSpPr>
          <p:cNvPr id="105" name="TextBox 105"/>
          <p:cNvSpPr>
            <a:spLocks xmlns:a="http://schemas.openxmlformats.org/drawingml/2006/main" noGrp="1"/>
          </p:cNvSpPr>
          <p:nvPr/>
        </p:nvSpPr>
        <p:spPr>
          <a:xfrm xmlns:a="http://schemas.openxmlformats.org/drawingml/2006/main">
            <a:off x="914400" y="6514000"/>
            <a:ext cx="5000000" cy="500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pPr algn="ctr"/>
            <a:r>
              <a:rPr sz="1200" b="1" u="sng">
                <a:latin typeface="Calibri"/>
              </a:rPr>
              <a:t>Measurement Plots: S-parameters</a:t>
            </a:r>
          </a:p>
          <a:p xmlns:a="http://schemas.openxmlformats.org/drawingml/2006/main">
            <a:pPr indent="-180000" algn="ctr"/>
            <a:r>
              <a:rPr sz="1200" b="1" u="sng">
                <a:latin typeface="Calibri"/>
              </a:rPr>
              <a:t>VD=5V,ID=90mA</a:t>
            </a:r>
          </a:p>
        </p:txBody>
      </p:sp>
      <p:pic>
        <p:nvPicPr>
          <p:cNvPr id="100" name="29.png"/>
          <p:cNvPicPr>
            <a:picLocks xmlns:a="http://schemas.openxmlformats.org/drawingml/2006/main" noChangeAspect="1"/>
          </p:cNvPicPr>
          <p:nvPr/>
        </p:nvPicPr>
        <p:blipFill>
          <a:blip xmlns:r="http://schemas.openxmlformats.org/officeDocument/2006/relationships" xmlns:a="http://schemas.openxmlformats.org/drawingml/2006/main" r:embed="R0f3b10b9a1d349e0"/>
          <a:stretch xmlns:a="http://schemas.openxmlformats.org/drawingml/2006/main">
            <a:fillRect/>
          </a:stretch>
        </p:blipFill>
        <p:spPr>
          <a:xfrm xmlns:a="http://schemas.openxmlformats.org/drawingml/2006/main">
            <a:off x="4114400" y="7014000"/>
            <a:ext cx="2500000" cy="2000000"/>
          </a:xfrm>
          <a:prstGeom xmlns:a="http://schemas.openxmlformats.org/drawingml/2006/main" prst="rect">
            <a:avLst/>
          </a:prstGeom>
        </p:spPr>
      </p:pic>
    </p:spTree>
  </p:cSld>
  <p:clrMapOvr>
    <a:masterClrMapping xmlns:a="http://schemas.openxmlformats.org/drawingml/2006/main"/>
  </p:clrMapOvr>
</p:sld>
</file>

<file path=ppt/slides/slide7.xml><?xml version="1.0" encoding="utf-8"?>
<p:sld xmlns:p="http://schemas.openxmlformats.org/presentationml/2006/main">
  <p:cSld name="Blank">
    <p:spTree>
      <p:nvGrpSpPr>
        <p:cNvPr id="1" name=""/>
        <p:cNvGrpSpPr/>
        <p:nvPr/>
      </p:nvGrpSpPr>
      <p:grpSpPr>
        <a:xfrm xmlns:a="http://schemas.openxmlformats.org/drawingml/2006/main">
          <a:off x="0" y="0"/>
          <a:ext cx="0" cy="0"/>
          <a:chOff x="0" y="0"/>
          <a:chExt cx="0" cy="0"/>
        </a:xfrm>
      </p:grpSpPr>
      <p:pic>
        <p:nvPicPr>
          <p:cNvPr id="100" name="30.png"/>
          <p:cNvPicPr>
            <a:picLocks xmlns:a="http://schemas.openxmlformats.org/drawingml/2006/main" noChangeAspect="1"/>
          </p:cNvPicPr>
          <p:nvPr/>
        </p:nvPicPr>
        <p:blipFill>
          <a:blip xmlns:r="http://schemas.openxmlformats.org/officeDocument/2006/relationships" xmlns:a="http://schemas.openxmlformats.org/drawingml/2006/main" r:embed="Rded085f6824c4a26"/>
          <a:stretch xmlns:a="http://schemas.openxmlformats.org/drawingml/2006/main">
            <a:fillRect/>
          </a:stretch>
        </p:blipFill>
        <p:spPr>
          <a:xfrm xmlns:a="http://schemas.openxmlformats.org/drawingml/2006/main">
            <a:off x="914400" y="1814000"/>
            <a:ext cx="2500000" cy="2000000"/>
          </a:xfrm>
          <a:prstGeom xmlns:a="http://schemas.openxmlformats.org/drawingml/2006/main" prst="rect">
            <a:avLst/>
          </a:prstGeom>
        </p:spPr>
      </p:pic>
      <p:pic>
        <p:nvPicPr>
          <p:cNvPr id="100" name="31.png"/>
          <p:cNvPicPr>
            <a:picLocks xmlns:a="http://schemas.openxmlformats.org/drawingml/2006/main" noChangeAspect="1"/>
          </p:cNvPicPr>
          <p:nvPr/>
        </p:nvPicPr>
        <p:blipFill>
          <a:blip xmlns:r="http://schemas.openxmlformats.org/officeDocument/2006/relationships" xmlns:a="http://schemas.openxmlformats.org/drawingml/2006/main" r:embed="Ra5faf90b884d4696"/>
          <a:stretch xmlns:a="http://schemas.openxmlformats.org/drawingml/2006/main">
            <a:fillRect/>
          </a:stretch>
        </p:blipFill>
        <p:spPr>
          <a:xfrm xmlns:a="http://schemas.openxmlformats.org/drawingml/2006/main">
            <a:off x="4114400" y="1814000"/>
            <a:ext cx="2500000" cy="2000000"/>
          </a:xfrm>
          <a:prstGeom xmlns:a="http://schemas.openxmlformats.org/drawingml/2006/main" prst="rect">
            <a:avLst/>
          </a:prstGeom>
        </p:spPr>
      </p:pic>
      <p:pic>
        <p:nvPicPr>
          <p:cNvPr id="100" name="32.png"/>
          <p:cNvPicPr>
            <a:picLocks xmlns:a="http://schemas.openxmlformats.org/drawingml/2006/main" noChangeAspect="1"/>
          </p:cNvPicPr>
          <p:nvPr/>
        </p:nvPicPr>
        <p:blipFill>
          <a:blip xmlns:r="http://schemas.openxmlformats.org/officeDocument/2006/relationships" xmlns:a="http://schemas.openxmlformats.org/drawingml/2006/main" r:embed="Rcd008b95308a4995"/>
          <a:stretch xmlns:a="http://schemas.openxmlformats.org/drawingml/2006/main">
            <a:fillRect/>
          </a:stretch>
        </p:blipFill>
        <p:spPr>
          <a:xfrm xmlns:a="http://schemas.openxmlformats.org/drawingml/2006/main">
            <a:off x="914400" y="4414000"/>
            <a:ext cx="2500000" cy="2000000"/>
          </a:xfrm>
          <a:prstGeom xmlns:a="http://schemas.openxmlformats.org/drawingml/2006/main" prst="rect">
            <a:avLst/>
          </a:prstGeom>
        </p:spPr>
      </p:pic>
      <p:sp>
        <p:nvSpPr>
          <p:cNvPr id="101" name="TextBox 101"/>
          <p:cNvSpPr>
            <a:spLocks xmlns:a="http://schemas.openxmlformats.org/drawingml/2006/main" noGrp="1"/>
          </p:cNvSpPr>
          <p:nvPr/>
        </p:nvSpPr>
        <p:spPr>
          <a:xfrm xmlns:a="http://schemas.openxmlformats.org/drawingml/2006/main">
            <a:off x="914400" y="3914000"/>
            <a:ext cx="2400000" cy="500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pPr algn="ctr"/>
            <a:r>
              <a:rPr sz="1200" b="1" u="sng">
                <a:latin typeface="Calibri"/>
              </a:rPr>
              <a:t>Measurement Plots: P1dB</a:t>
            </a:r>
          </a:p>
          <a:p xmlns:a="http://schemas.openxmlformats.org/drawingml/2006/main">
            <a:pPr indent="-180000" algn="ctr"/>
            <a:r>
              <a:rPr sz="1200" b="1" u="sng">
                <a:latin typeface="Calibri"/>
              </a:rPr>
              <a:t>VD=5V,ID=90mA</a:t>
            </a:r>
          </a:p>
        </p:txBody>
      </p:sp>
      <p:pic>
        <p:nvPicPr>
          <p:cNvPr id="100" name="33.png"/>
          <p:cNvPicPr>
            <a:picLocks xmlns:a="http://schemas.openxmlformats.org/drawingml/2006/main" noChangeAspect="1"/>
          </p:cNvPicPr>
          <p:nvPr/>
        </p:nvPicPr>
        <p:blipFill>
          <a:blip xmlns:r="http://schemas.openxmlformats.org/officeDocument/2006/relationships" xmlns:a="http://schemas.openxmlformats.org/drawingml/2006/main" r:embed="R2a684733e05e4972"/>
          <a:stretch xmlns:a="http://schemas.openxmlformats.org/drawingml/2006/main">
            <a:fillRect/>
          </a:stretch>
        </p:blipFill>
        <p:spPr>
          <a:xfrm xmlns:a="http://schemas.openxmlformats.org/drawingml/2006/main">
            <a:off x="4114400" y="4414000"/>
            <a:ext cx="2500000" cy="2000000"/>
          </a:xfrm>
          <a:prstGeom xmlns:a="http://schemas.openxmlformats.org/drawingml/2006/main" prst="rect">
            <a:avLst/>
          </a:prstGeom>
        </p:spPr>
      </p:pic>
      <p:sp>
        <p:nvSpPr>
          <p:cNvPr id="102" name="TextBox 102"/>
          <p:cNvSpPr>
            <a:spLocks xmlns:a="http://schemas.openxmlformats.org/drawingml/2006/main" noGrp="1"/>
          </p:cNvSpPr>
          <p:nvPr/>
        </p:nvSpPr>
        <p:spPr>
          <a:xfrm xmlns:a="http://schemas.openxmlformats.org/drawingml/2006/main">
            <a:off x="4114400" y="3914000"/>
            <a:ext cx="2400000" cy="500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pPr algn="ctr"/>
            <a:r>
              <a:rPr sz="1200" b="1" u="sng">
                <a:latin typeface="Calibri"/>
              </a:rPr>
              <a:t>Measurement Plots: OIP3</a:t>
            </a:r>
          </a:p>
          <a:p xmlns:a="http://schemas.openxmlformats.org/drawingml/2006/main">
            <a:pPr indent="-180000" algn="ctr"/>
            <a:r>
              <a:rPr sz="1200" b="1" u="sng">
                <a:latin typeface="Calibri"/>
              </a:rPr>
              <a:t>VD=5V,ID=90mA</a:t>
            </a:r>
          </a:p>
        </p:txBody>
      </p:sp>
      <p:pic>
        <p:nvPicPr>
          <p:cNvPr id="100" name="34.png"/>
          <p:cNvPicPr>
            <a:picLocks xmlns:a="http://schemas.openxmlformats.org/drawingml/2006/main" noChangeAspect="1"/>
          </p:cNvPicPr>
          <p:nvPr/>
        </p:nvPicPr>
        <p:blipFill>
          <a:blip xmlns:r="http://schemas.openxmlformats.org/officeDocument/2006/relationships" xmlns:a="http://schemas.openxmlformats.org/drawingml/2006/main" r:embed="R48653e78bad44b0e"/>
          <a:stretch xmlns:a="http://schemas.openxmlformats.org/drawingml/2006/main">
            <a:fillRect/>
          </a:stretch>
        </p:blipFill>
        <p:spPr>
          <a:xfrm xmlns:a="http://schemas.openxmlformats.org/drawingml/2006/main">
            <a:off x="914400" y="7014000"/>
            <a:ext cx="2500000" cy="2000000"/>
          </a:xfrm>
          <a:prstGeom xmlns:a="http://schemas.openxmlformats.org/drawingml/2006/main" prst="rect">
            <a:avLst/>
          </a:prstGeom>
        </p:spPr>
      </p:pic>
      <p:sp>
        <p:nvSpPr>
          <p:cNvPr id="103" name="TextBox 103"/>
          <p:cNvSpPr>
            <a:spLocks xmlns:a="http://schemas.openxmlformats.org/drawingml/2006/main" noGrp="1"/>
          </p:cNvSpPr>
          <p:nvPr/>
        </p:nvSpPr>
        <p:spPr>
          <a:xfrm xmlns:a="http://schemas.openxmlformats.org/drawingml/2006/main">
            <a:off x="914400" y="6514000"/>
            <a:ext cx="2400000" cy="500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pPr algn="ctr"/>
            <a:r>
              <a:rPr sz="1200" b="1" u="sng">
                <a:latin typeface="Calibri"/>
              </a:rPr>
              <a:t>Measurement Plots: Psat</a:t>
            </a:r>
          </a:p>
          <a:p xmlns:a="http://schemas.openxmlformats.org/drawingml/2006/main">
            <a:pPr indent="-180000" algn="ctr"/>
            <a:r>
              <a:rPr sz="1200" b="1" u="sng">
                <a:latin typeface="Calibri"/>
              </a:rPr>
              <a:t>VD=5V,ID=90mA</a:t>
            </a:r>
          </a:p>
        </p:txBody>
      </p:sp>
      <p:pic>
        <p:nvPicPr>
          <p:cNvPr id="100" name="35.png"/>
          <p:cNvPicPr>
            <a:picLocks xmlns:a="http://schemas.openxmlformats.org/drawingml/2006/main" noChangeAspect="1"/>
          </p:cNvPicPr>
          <p:nvPr/>
        </p:nvPicPr>
        <p:blipFill>
          <a:blip xmlns:r="http://schemas.openxmlformats.org/officeDocument/2006/relationships" xmlns:a="http://schemas.openxmlformats.org/drawingml/2006/main" r:embed="R5a9e4040cbad4daf"/>
          <a:stretch xmlns:a="http://schemas.openxmlformats.org/drawingml/2006/main">
            <a:fillRect/>
          </a:stretch>
        </p:blipFill>
        <p:spPr>
          <a:xfrm xmlns:a="http://schemas.openxmlformats.org/drawingml/2006/main">
            <a:off x="4114400" y="7014000"/>
            <a:ext cx="2500000" cy="2000000"/>
          </a:xfrm>
          <a:prstGeom xmlns:a="http://schemas.openxmlformats.org/drawingml/2006/main" prst="rect">
            <a:avLst/>
          </a:prstGeom>
        </p:spPr>
      </p:pic>
      <p:sp>
        <p:nvSpPr>
          <p:cNvPr id="104" name="TextBox 104"/>
          <p:cNvSpPr>
            <a:spLocks xmlns:a="http://schemas.openxmlformats.org/drawingml/2006/main" noGrp="1"/>
          </p:cNvSpPr>
          <p:nvPr/>
        </p:nvSpPr>
        <p:spPr>
          <a:xfrm xmlns:a="http://schemas.openxmlformats.org/drawingml/2006/main">
            <a:off x="4114400" y="6514000"/>
            <a:ext cx="2400000" cy="500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pPr algn="ctr"/>
            <a:r>
              <a:rPr sz="1200" b="1" u="sng">
                <a:latin typeface="Calibri"/>
              </a:rPr>
              <a:t>Measurement Plots: Noise Figure</a:t>
            </a:r>
          </a:p>
          <a:p xmlns:a="http://schemas.openxmlformats.org/drawingml/2006/main">
            <a:pPr indent="-180000" algn="ctr"/>
            <a:r>
              <a:rPr sz="1200" b="1" u="sng">
                <a:latin typeface="Calibri"/>
              </a:rPr>
              <a:t>VD=5V,ID=90mA</a:t>
            </a:r>
          </a:p>
        </p:txBody>
      </p:sp>
    </p:spTree>
  </p:cSld>
  <p:clrMapOvr>
    <a:masterClrMapping xmlns:a="http://schemas.openxmlformats.org/drawingml/2006/main"/>
  </p:clrMapOvr>
</p:sld>
</file>

<file path=ppt/slides/slide8.xml><?xml version="1.0" encoding="utf-8"?>
<p:sld xmlns:p="http://schemas.openxmlformats.org/presentationml/2006/main">
  <p:cSld name="Blank">
    <p:spTree>
      <p:nvGrpSpPr>
        <p:cNvPr id="1" name=""/>
        <p:cNvGrpSpPr/>
        <p:nvPr/>
      </p:nvGrpSpPr>
      <p:grpSpPr>
        <a:xfrm xmlns:a="http://schemas.openxmlformats.org/drawingml/2006/main">
          <a:off x="0" y="0"/>
          <a:ext cx="0" cy="0"/>
          <a:chOff x="0" y="0"/>
          <a:chExt cx="0" cy="0"/>
        </a:xfrm>
      </p:grpSpPr>
      <p:sp>
        <p:nvSpPr>
          <p:cNvPr id="2" name="TextBox 2"/>
          <p:cNvSpPr>
            <a:spLocks xmlns:a="http://schemas.openxmlformats.org/drawingml/2006/main" noGrp="1"/>
          </p:cNvSpPr>
          <p:nvPr/>
        </p:nvSpPr>
        <p:spPr>
          <a:xfrm xmlns:a="http://schemas.openxmlformats.org/drawingml/2006/main">
            <a:off x="814400" y="1314000"/>
            <a:ext cx="3500000" cy="350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pPr algn="l"/>
            <a:r>
              <a:rPr sz="1400" b="1" u="sng">
                <a:latin typeface="Calibri"/>
              </a:rPr>
              <a:t>Absolute Maximum Ratings</a:t>
            </a:r>
          </a:p>
        </p:txBody>
      </p:sp>
      <p:sp>
        <p:nvSpPr>
          <p:cNvPr id="3" name="TextBox 3"/>
          <p:cNvSpPr>
            <a:spLocks xmlns:a="http://schemas.openxmlformats.org/drawingml/2006/main" noGrp="1"/>
          </p:cNvSpPr>
          <p:nvPr/>
        </p:nvSpPr>
        <p:spPr>
          <a:xfrm xmlns:a="http://schemas.openxmlformats.org/drawingml/2006/main">
            <a:off x="4314400" y="1314000"/>
            <a:ext cx="3500000" cy="350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pPr algn="l"/>
            <a:r>
              <a:rPr sz="1400" b="1" u="sng">
                <a:latin typeface="Calibri"/>
              </a:rPr>
              <a:t>Typical Supply Current</a:t>
            </a:r>
          </a:p>
        </p:txBody>
      </p:sp>
      <p:graphicFrame>
        <p:nvGraphicFramePr>
          <p:cNvPr id="4" name="Table 4"/>
          <p:cNvGraphicFramePr/>
          <p:nvPr/>
        </p:nvGraphicFramePr>
        <p:xfrm>
          <a:off xmlns:a="http://schemas.openxmlformats.org/drawingml/2006/main" x="814400" y="1714000"/>
          <a:ext xmlns:a="http://schemas.openxmlformats.org/drawingml/2006/main" cx="3300000" cy="3000000"/>
        </p:xfrm>
        <p:spPr/>
        <a:graphic xmlns:a="http://schemas.openxmlformats.org/drawingml/2006/main">
          <a:graphicData uri="http://schemas.openxmlformats.org/drawingml/2006/table">
            <a:tbl>
              <a:tblGrid>
                <a:gridCol w="2121426"/>
                <a:gridCol w="1178574"/>
              </a:tblGrid>
              <a:tr h="428571">
                <a:tc>
                  <a:txBody>
                    <a:bodyPr lIns="0" anchor="ctr"/>
                    <a:lstStyle/>
                    <a:p>
                      <a:pPr algn="l"/>
                      <a:r>
                        <a:rPr sz="1000" b="1">
                          <a:solidFill>
                            <a:srgbClr val="FFFFFF"/>
                          </a:solidFill>
                        </a:rPr>
                        <a:t>Drain Bias Voltage (VD)</a:t>
                      </a:r>
                      <a:endParaRPr lang="en-US"/>
                    </a:p>
                  </a:txBody>
                  <a:tcPr anchor="ctr">
                    <a:tcBdr>
                      <a:left>
                        <a:solidFill>
                          <a:srgbClr val="D0D0D0"/>
                        </a:solidFill>
                      </a:left>
                      <a:right>
                        <a:solidFill>
                          <a:srgbClr val="D0D0D0"/>
                        </a:solidFill>
                      </a:right>
                      <a:top>
                        <a:solidFill>
                          <a:srgbClr val="D0D0D0"/>
                        </a:solidFill>
                      </a:top>
                      <a:bottom>
                        <a:solidFill>
                          <a:srgbClr val="D0D0D0"/>
                        </a:solidFill>
                      </a:bottom>
                    </a:tcBdr>
                    <a:solidFill>
                      <a:srgbClr val="757171"/>
                    </a:solidFill>
                  </a:tcPr>
                </a:tc>
                <a:tc>
                  <a:txBody>
                    <a:bodyPr lIns="0" anchor="ctr"/>
                    <a:lstStyle/>
                    <a:p>
                      <a:pPr algn="l"/>
                      <a:r>
                        <a:rPr sz="1000" b="1"/>
                        <a:t>+4.5V</a:t>
                      </a:r>
                      <a:endParaRPr lang="en-US"/>
                    </a:p>
                  </a:txBody>
                  <a:tcPr anchor="ctr">
                    <a:tcBdr>
                      <a:left>
                        <a:solidFill>
                          <a:srgbClr val="D0D0D0"/>
                        </a:solidFill>
                      </a:left>
                      <a:right>
                        <a:solidFill>
                          <a:srgbClr val="D0D0D0"/>
                        </a:solidFill>
                      </a:right>
                      <a:top>
                        <a:solidFill>
                          <a:srgbClr val="D0D0D0"/>
                        </a:solidFill>
                      </a:top>
                      <a:bottom>
                        <a:solidFill>
                          <a:srgbClr val="D0D0D0"/>
                        </a:solidFill>
                      </a:bottom>
                    </a:tcBdr>
                  </a:tcPr>
                </a:tc>
              </a:tr>
              <a:tr h="428571">
                <a:tc>
                  <a:txBody>
                    <a:bodyPr lIns="0" anchor="ctr"/>
                    <a:lstStyle/>
                    <a:p>
                      <a:pPr algn="l"/>
                      <a:r>
                        <a:rPr sz="1000" b="1">
                          <a:solidFill>
                            <a:srgbClr val="FFFFFF"/>
                          </a:solidFill>
                        </a:rPr>
                        <a:t>Gate Bias Voltage (VG)</a:t>
                      </a:r>
                      <a:endParaRPr lang="en-US"/>
                    </a:p>
                  </a:txBody>
                  <a:tcPr anchor="ctr">
                    <a:tcBdr>
                      <a:left>
                        <a:solidFill>
                          <a:srgbClr val="D0D0D0"/>
                        </a:solidFill>
                      </a:left>
                      <a:right>
                        <a:solidFill>
                          <a:srgbClr val="D0D0D0"/>
                        </a:solidFill>
                      </a:right>
                      <a:top>
                        <a:solidFill>
                          <a:srgbClr val="D0D0D0"/>
                        </a:solidFill>
                      </a:top>
                      <a:bottom>
                        <a:solidFill>
                          <a:srgbClr val="D0D0D0"/>
                        </a:solidFill>
                      </a:bottom>
                    </a:tcBdr>
                    <a:solidFill>
                      <a:srgbClr val="757171"/>
                    </a:solidFill>
                  </a:tcPr>
                </a:tc>
                <a:tc>
                  <a:txBody>
                    <a:bodyPr lIns="0" anchor="ctr"/>
                    <a:lstStyle/>
                    <a:p>
                      <a:pPr algn="l"/>
                      <a:r>
                        <a:rPr sz="1000" b="1"/>
                        <a:t>-2V to 0V</a:t>
                      </a:r>
                      <a:endParaRPr lang="en-US"/>
                    </a:p>
                  </a:txBody>
                  <a:tcPr anchor="ctr">
                    <a:tcBdr>
                      <a:left>
                        <a:solidFill>
                          <a:srgbClr val="D0D0D0"/>
                        </a:solidFill>
                      </a:left>
                      <a:right>
                        <a:solidFill>
                          <a:srgbClr val="D0D0D0"/>
                        </a:solidFill>
                      </a:right>
                      <a:top>
                        <a:solidFill>
                          <a:srgbClr val="D0D0D0"/>
                        </a:solidFill>
                      </a:top>
                      <a:bottom>
                        <a:solidFill>
                          <a:srgbClr val="D0D0D0"/>
                        </a:solidFill>
                      </a:bottom>
                    </a:tcBdr>
                  </a:tcPr>
                </a:tc>
              </a:tr>
              <a:tr h="428571">
                <a:tc>
                  <a:txBody>
                    <a:bodyPr lIns="0" anchor="ctr"/>
                    <a:lstStyle/>
                    <a:p>
                      <a:pPr algn="l"/>
                      <a:r>
                        <a:rPr sz="1000" b="1">
                          <a:solidFill>
                            <a:srgbClr val="FFFFFF"/>
                          </a:solidFill>
                        </a:rPr>
                        <a:t>RF Input Power (RFIN)</a:t>
                      </a:r>
                      <a:endParaRPr lang="en-US"/>
                    </a:p>
                  </a:txBody>
                  <a:tcPr anchor="ctr">
                    <a:tcBdr>
                      <a:left>
                        <a:solidFill>
                          <a:srgbClr val="D0D0D0"/>
                        </a:solidFill>
                      </a:left>
                      <a:right>
                        <a:solidFill>
                          <a:srgbClr val="D0D0D0"/>
                        </a:solidFill>
                      </a:right>
                      <a:top>
                        <a:solidFill>
                          <a:srgbClr val="D0D0D0"/>
                        </a:solidFill>
                      </a:top>
                      <a:bottom>
                        <a:solidFill>
                          <a:srgbClr val="D0D0D0"/>
                        </a:solidFill>
                      </a:bottom>
                    </a:tcBdr>
                    <a:solidFill>
                      <a:srgbClr val="757171"/>
                    </a:solidFill>
                  </a:tcPr>
                </a:tc>
                <a:tc>
                  <a:txBody>
                    <a:bodyPr lIns="0" anchor="ctr"/>
                    <a:lstStyle/>
                    <a:p>
                      <a:pPr algn="l"/>
                      <a:r>
                        <a:rPr sz="1000" b="1"/>
                        <a:t>+15dBm</a:t>
                      </a:r>
                      <a:endParaRPr lang="en-US"/>
                    </a:p>
                  </a:txBody>
                  <a:tcPr anchor="ctr">
                    <a:tcBdr>
                      <a:left>
                        <a:solidFill>
                          <a:srgbClr val="D0D0D0"/>
                        </a:solidFill>
                      </a:left>
                      <a:right>
                        <a:solidFill>
                          <a:srgbClr val="D0D0D0"/>
                        </a:solidFill>
                      </a:right>
                      <a:top>
                        <a:solidFill>
                          <a:srgbClr val="D0D0D0"/>
                        </a:solidFill>
                      </a:top>
                      <a:bottom>
                        <a:solidFill>
                          <a:srgbClr val="D0D0D0"/>
                        </a:solidFill>
                      </a:bottom>
                    </a:tcBdr>
                  </a:tcPr>
                </a:tc>
              </a:tr>
              <a:tr h="428571">
                <a:tc>
                  <a:txBody>
                    <a:bodyPr lIns="0" anchor="ctr"/>
                    <a:lstStyle/>
                    <a:p>
                      <a:pPr algn="l"/>
                      <a:r>
                        <a:rPr sz="1000" b="1">
                          <a:solidFill>
                            <a:srgbClr val="FFFFFF"/>
                          </a:solidFill>
                        </a:rPr>
                        <a:t>Continuous Pdiss (T = 85 °C)
 (derate 6.1mW/°C above 85 °C) </a:t>
                      </a:r>
                      <a:endParaRPr lang="en-US"/>
                    </a:p>
                  </a:txBody>
                  <a:tcPr anchor="ctr">
                    <a:tcBdr>
                      <a:left>
                        <a:solidFill>
                          <a:srgbClr val="D0D0D0"/>
                        </a:solidFill>
                      </a:left>
                      <a:right>
                        <a:solidFill>
                          <a:srgbClr val="D0D0D0"/>
                        </a:solidFill>
                      </a:right>
                      <a:top>
                        <a:solidFill>
                          <a:srgbClr val="D0D0D0"/>
                        </a:solidFill>
                      </a:top>
                      <a:bottom>
                        <a:solidFill>
                          <a:srgbClr val="D0D0D0"/>
                        </a:solidFill>
                      </a:bottom>
                    </a:tcBdr>
                    <a:solidFill>
                      <a:srgbClr val="757171"/>
                    </a:solidFill>
                  </a:tcPr>
                </a:tc>
                <a:tc>
                  <a:txBody>
                    <a:bodyPr lIns="0" anchor="ctr"/>
                    <a:lstStyle/>
                    <a:p>
                      <a:pPr algn="l"/>
                      <a:r>
                        <a:rPr sz="1000" b="1"/>
                        <a:t>175°C</a:t>
                      </a:r>
                      <a:endParaRPr lang="en-US"/>
                    </a:p>
                  </a:txBody>
                  <a:tcPr anchor="ctr">
                    <a:tcBdr>
                      <a:left>
                        <a:solidFill>
                          <a:srgbClr val="D0D0D0"/>
                        </a:solidFill>
                      </a:left>
                      <a:right>
                        <a:solidFill>
                          <a:srgbClr val="D0D0D0"/>
                        </a:solidFill>
                      </a:right>
                      <a:top>
                        <a:solidFill>
                          <a:srgbClr val="D0D0D0"/>
                        </a:solidFill>
                      </a:top>
                      <a:bottom>
                        <a:solidFill>
                          <a:srgbClr val="D0D0D0"/>
                        </a:solidFill>
                      </a:bottom>
                    </a:tcBdr>
                  </a:tcPr>
                </a:tc>
              </a:tr>
              <a:tr h="428571">
                <a:tc>
                  <a:txBody>
                    <a:bodyPr lIns="0" anchor="ctr"/>
                    <a:lstStyle/>
                    <a:p>
                      <a:pPr algn="l"/>
                      <a:r>
                        <a:rPr sz="1000" b="1">
                          <a:solidFill>
                            <a:srgbClr val="FFFFFF"/>
                          </a:solidFill>
                        </a:rPr>
                        <a:t>Thermal Resistance
 (channel to die bottom)</a:t>
                      </a:r>
                      <a:endParaRPr lang="en-US"/>
                    </a:p>
                  </a:txBody>
                  <a:tcPr anchor="ctr">
                    <a:tcBdr>
                      <a:left>
                        <a:solidFill>
                          <a:srgbClr val="D0D0D0"/>
                        </a:solidFill>
                      </a:left>
                      <a:right>
                        <a:solidFill>
                          <a:srgbClr val="D0D0D0"/>
                        </a:solidFill>
                      </a:right>
                      <a:top>
                        <a:solidFill>
                          <a:srgbClr val="D0D0D0"/>
                        </a:solidFill>
                      </a:top>
                      <a:bottom>
                        <a:solidFill>
                          <a:srgbClr val="D0D0D0"/>
                        </a:solidFill>
                      </a:bottom>
                    </a:tcBdr>
                    <a:solidFill>
                      <a:srgbClr val="757171"/>
                    </a:solidFill>
                  </a:tcPr>
                </a:tc>
                <a:tc>
                  <a:txBody>
                    <a:bodyPr lIns="0" anchor="ctr"/>
                    <a:lstStyle/>
                    <a:p>
                      <a:pPr algn="l"/>
                      <a:r>
                        <a:rPr sz="1000" b="1"/>
                        <a:t>0.55W</a:t>
                      </a:r>
                      <a:endParaRPr lang="en-US"/>
                    </a:p>
                  </a:txBody>
                  <a:tcPr anchor="ctr">
                    <a:tcBdr>
                      <a:left>
                        <a:solidFill>
                          <a:srgbClr val="D0D0D0"/>
                        </a:solidFill>
                      </a:left>
                      <a:right>
                        <a:solidFill>
                          <a:srgbClr val="D0D0D0"/>
                        </a:solidFill>
                      </a:right>
                      <a:top>
                        <a:solidFill>
                          <a:srgbClr val="D0D0D0"/>
                        </a:solidFill>
                      </a:top>
                      <a:bottom>
                        <a:solidFill>
                          <a:srgbClr val="D0D0D0"/>
                        </a:solidFill>
                      </a:bottom>
                    </a:tcBdr>
                  </a:tcPr>
                </a:tc>
              </a:tr>
              <a:tr h="428571">
                <a:tc>
                  <a:txBody>
                    <a:bodyPr lIns="0" anchor="ctr"/>
                    <a:lstStyle/>
                    <a:p>
                      <a:pPr algn="l"/>
                      <a:r>
                        <a:rPr sz="1000" b="1">
                          <a:solidFill>
                            <a:srgbClr val="FFFFFF"/>
                          </a:solidFill>
                        </a:rPr>
                        <a:t>Operating Temperature</a:t>
                      </a:r>
                      <a:endParaRPr lang="en-US"/>
                    </a:p>
                  </a:txBody>
                  <a:tcPr anchor="ctr">
                    <a:tcBdr>
                      <a:left>
                        <a:solidFill>
                          <a:srgbClr val="D0D0D0"/>
                        </a:solidFill>
                      </a:left>
                      <a:right>
                        <a:solidFill>
                          <a:srgbClr val="D0D0D0"/>
                        </a:solidFill>
                      </a:right>
                      <a:top>
                        <a:solidFill>
                          <a:srgbClr val="D0D0D0"/>
                        </a:solidFill>
                      </a:top>
                      <a:bottom>
                        <a:solidFill>
                          <a:srgbClr val="D0D0D0"/>
                        </a:solidFill>
                      </a:bottom>
                    </a:tcBdr>
                    <a:solidFill>
                      <a:srgbClr val="757171"/>
                    </a:solidFill>
                  </a:tcPr>
                </a:tc>
                <a:tc>
                  <a:txBody>
                    <a:bodyPr lIns="0" anchor="ctr"/>
                    <a:lstStyle/>
                    <a:p>
                      <a:pPr algn="l"/>
                      <a:r>
                        <a:rPr sz="1000" b="1"/>
                        <a:t>-55°C to +85 °C</a:t>
                      </a:r>
                      <a:endParaRPr lang="en-US"/>
                    </a:p>
                  </a:txBody>
                  <a:tcPr anchor="ctr">
                    <a:tcBdr>
                      <a:left>
                        <a:solidFill>
                          <a:srgbClr val="D0D0D0"/>
                        </a:solidFill>
                      </a:left>
                      <a:right>
                        <a:solidFill>
                          <a:srgbClr val="D0D0D0"/>
                        </a:solidFill>
                      </a:right>
                      <a:top>
                        <a:solidFill>
                          <a:srgbClr val="D0D0D0"/>
                        </a:solidFill>
                      </a:top>
                      <a:bottom>
                        <a:solidFill>
                          <a:srgbClr val="D0D0D0"/>
                        </a:solidFill>
                      </a:bottom>
                    </a:tcBdr>
                  </a:tcPr>
                </a:tc>
              </a:tr>
              <a:tr h="428571">
                <a:tc>
                  <a:txBody>
                    <a:bodyPr lIns="0" anchor="ctr"/>
                    <a:lstStyle/>
                    <a:p>
                      <a:pPr algn="l"/>
                      <a:r>
                        <a:rPr sz="1000" b="1">
                          <a:solidFill>
                            <a:srgbClr val="FFFFFF"/>
                          </a:solidFill>
                        </a:rPr>
                        <a:t>Storage Temperature</a:t>
                      </a:r>
                      <a:endParaRPr lang="en-US"/>
                    </a:p>
                  </a:txBody>
                  <a:tcPr anchor="ctr">
                    <a:tcBdr>
                      <a:left>
                        <a:solidFill>
                          <a:srgbClr val="D0D0D0"/>
                        </a:solidFill>
                      </a:left>
                      <a:right>
                        <a:solidFill>
                          <a:srgbClr val="D0D0D0"/>
                        </a:solidFill>
                      </a:right>
                      <a:top>
                        <a:solidFill>
                          <a:srgbClr val="D0D0D0"/>
                        </a:solidFill>
                      </a:top>
                      <a:bottom>
                        <a:solidFill>
                          <a:srgbClr val="D0D0D0"/>
                        </a:solidFill>
                      </a:bottom>
                    </a:tcBdr>
                    <a:solidFill>
                      <a:srgbClr val="757171"/>
                    </a:solidFill>
                  </a:tcPr>
                </a:tc>
                <a:tc>
                  <a:txBody>
                    <a:bodyPr lIns="0" anchor="ctr"/>
                    <a:lstStyle/>
                    <a:p>
                      <a:pPr algn="l"/>
                      <a:r>
                        <a:rPr sz="1000" b="1"/>
                        <a:t>-65°C to +150 °C</a:t>
                      </a:r>
                      <a:endParaRPr lang="en-US"/>
                    </a:p>
                  </a:txBody>
                  <a:tcPr anchor="ctr">
                    <a:tcBdr>
                      <a:left>
                        <a:solidFill>
                          <a:srgbClr val="D0D0D0"/>
                        </a:solidFill>
                      </a:left>
                      <a:right>
                        <a:solidFill>
                          <a:srgbClr val="D0D0D0"/>
                        </a:solidFill>
                      </a:right>
                      <a:top>
                        <a:solidFill>
                          <a:srgbClr val="D0D0D0"/>
                        </a:solidFill>
                      </a:top>
                      <a:bottom>
                        <a:solidFill>
                          <a:srgbClr val="D0D0D0"/>
                        </a:solidFill>
                      </a:bottom>
                    </a:tcBdr>
                  </a:tcPr>
                </a:tc>
              </a:tr>
            </a:tbl>
          </a:graphicData>
        </a:graphic>
      </p:graphicFrame>
      <p:graphicFrame>
        <p:nvGraphicFramePr>
          <p:cNvPr id="5" name="Table 5"/>
          <p:cNvGraphicFramePr/>
          <p:nvPr/>
        </p:nvGraphicFramePr>
        <p:xfrm>
          <a:off xmlns:a="http://schemas.openxmlformats.org/drawingml/2006/main" x="4414400" y="1714000"/>
          <a:ext xmlns:a="http://schemas.openxmlformats.org/drawingml/2006/main" cx="2300000" cy="1100000"/>
        </p:xfrm>
        <p:spPr/>
        <a:graphic xmlns:a="http://schemas.openxmlformats.org/drawingml/2006/main">
          <a:graphicData uri="http://schemas.openxmlformats.org/drawingml/2006/table">
            <a:tbl>
              <a:tblGrid>
                <a:gridCol w="766666"/>
                <a:gridCol w="766666"/>
                <a:gridCol w="766666"/>
              </a:tblGrid>
              <a:tr h="275000">
                <a:tc>
                  <a:txBody>
                    <a:bodyPr/>
                    <a:lstStyle/>
                    <a:p>
                      <a:pPr algn="ctr"/>
                      <a:r>
                        <a:rPr sz="1200" b="1">
                          <a:solidFill>
                            <a:srgbClr val="FFFFFF"/>
                          </a:solidFill>
                          <a:latin typeface="Calibri"/>
                        </a:rPr>
                        <a:t>VD(V)</a:t>
                      </a:r>
                      <a:endParaRPr lang="en-US"/>
                    </a:p>
                  </a:txBody>
                  <a:tcPr>
                    <a:tcBdr>
                      <a:left>
                        <a:solidFill>
                          <a:srgbClr val="D0D0D0"/>
                        </a:solidFill>
                      </a:left>
                      <a:right>
                        <a:solidFill>
                          <a:srgbClr val="D0D0D0"/>
                        </a:solidFill>
                      </a:right>
                      <a:top>
                        <a:solidFill>
                          <a:srgbClr val="D0D0D0"/>
                        </a:solidFill>
                      </a:top>
                      <a:bottom>
                        <a:solidFill>
                          <a:srgbClr val="D0D0D0"/>
                        </a:solidFill>
                      </a:bottom>
                    </a:tcBdr>
                    <a:solidFill>
                      <a:srgbClr val="757171"/>
                    </a:solidFill>
                  </a:tcPr>
                </a:tc>
                <a:tc>
                  <a:txBody>
                    <a:bodyPr/>
                    <a:lstStyle/>
                    <a:p>
                      <a:pPr algn="ctr"/>
                      <a:r>
                        <a:rPr sz="1200" b="1">
                          <a:solidFill>
                            <a:srgbClr val="FFFFFF"/>
                          </a:solidFill>
                          <a:latin typeface="Calibri"/>
                        </a:rPr>
                        <a:t>VG(V)</a:t>
                      </a:r>
                      <a:endParaRPr lang="en-US"/>
                    </a:p>
                  </a:txBody>
                  <a:tcPr>
                    <a:tcBdr>
                      <a:left>
                        <a:solidFill>
                          <a:srgbClr val="D0D0D0"/>
                        </a:solidFill>
                      </a:left>
                      <a:right>
                        <a:solidFill>
                          <a:srgbClr val="D0D0D0"/>
                        </a:solidFill>
                      </a:right>
                      <a:top>
                        <a:solidFill>
                          <a:srgbClr val="D0D0D0"/>
                        </a:solidFill>
                      </a:top>
                      <a:bottom>
                        <a:solidFill>
                          <a:srgbClr val="D0D0D0"/>
                        </a:solidFill>
                      </a:bottom>
                    </a:tcBdr>
                    <a:solidFill>
                      <a:srgbClr val="757171"/>
                    </a:solidFill>
                  </a:tcPr>
                </a:tc>
                <a:tc>
                  <a:txBody>
                    <a:bodyPr/>
                    <a:lstStyle/>
                    <a:p>
                      <a:pPr algn="ctr"/>
                      <a:r>
                        <a:rPr sz="1200" b="1">
                          <a:solidFill>
                            <a:srgbClr val="FFFFFF"/>
                          </a:solidFill>
                          <a:latin typeface="Calibri"/>
                        </a:rPr>
                        <a:t>IDQ(mA)</a:t>
                      </a:r>
                      <a:endParaRPr lang="en-US"/>
                    </a:p>
                  </a:txBody>
                  <a:tcPr>
                    <a:tcBdr>
                      <a:left>
                        <a:solidFill>
                          <a:srgbClr val="D0D0D0"/>
                        </a:solidFill>
                      </a:left>
                      <a:right>
                        <a:solidFill>
                          <a:srgbClr val="D0D0D0"/>
                        </a:solidFill>
                      </a:right>
                      <a:top>
                        <a:solidFill>
                          <a:srgbClr val="D0D0D0"/>
                        </a:solidFill>
                      </a:top>
                      <a:bottom>
                        <a:solidFill>
                          <a:srgbClr val="D0D0D0"/>
                        </a:solidFill>
                      </a:bottom>
                    </a:tcBdr>
                    <a:solidFill>
                      <a:srgbClr val="757171"/>
                    </a:solidFill>
                  </a:tcPr>
                </a:tc>
              </a:tr>
              <a:tr h="275000">
                <a:tc>
                  <a:txBody>
                    <a:bodyPr/>
                    <a:lstStyle/>
                    <a:p>
                      <a:pPr algn="ctr"/>
                      <a:r>
                        <a:rPr sz="1100" b="1">
                          <a:latin typeface="Calibri"/>
                        </a:rPr>
                        <a:t>+3.5</a:t>
                      </a:r>
                      <a:endParaRPr lang="en-US"/>
                    </a:p>
                  </a:txBody>
                  <a:tcPr>
                    <a:tcBdr>
                      <a:left>
                        <a:solidFill>
                          <a:srgbClr val="D0D0D0"/>
                        </a:solidFill>
                      </a:left>
                      <a:right>
                        <a:solidFill>
                          <a:srgbClr val="D0D0D0"/>
                        </a:solidFill>
                      </a:right>
                      <a:top>
                        <a:solidFill>
                          <a:srgbClr val="D0D0D0"/>
                        </a:solidFill>
                      </a:top>
                      <a:bottom>
                        <a:solidFill>
                          <a:srgbClr val="D0D0D0"/>
                        </a:solidFill>
                      </a:bottom>
                    </a:tcBdr>
                  </a:tcPr>
                </a:tc>
                <a:tc>
                  <a:txBody>
                    <a:bodyPr/>
                    <a:lstStyle/>
                    <a:p>
                      <a:pPr algn="ctr"/>
                      <a:r>
                        <a:rPr sz="1100" b="1">
                          <a:latin typeface="Calibri"/>
                        </a:rPr>
                        <a:t>-0.38</a:t>
                      </a:r>
                      <a:endParaRPr lang="en-US"/>
                    </a:p>
                  </a:txBody>
                  <a:tcPr>
                    <a:tcBdr>
                      <a:left>
                        <a:solidFill>
                          <a:srgbClr val="D0D0D0"/>
                        </a:solidFill>
                      </a:left>
                      <a:right>
                        <a:solidFill>
                          <a:srgbClr val="D0D0D0"/>
                        </a:solidFill>
                      </a:right>
                      <a:top>
                        <a:solidFill>
                          <a:srgbClr val="D0D0D0"/>
                        </a:solidFill>
                      </a:top>
                      <a:bottom>
                        <a:solidFill>
                          <a:srgbClr val="D0D0D0"/>
                        </a:solidFill>
                      </a:bottom>
                    </a:tcBdr>
                  </a:tcPr>
                </a:tc>
                <a:tc>
                  <a:txBody>
                    <a:bodyPr/>
                    <a:lstStyle/>
                    <a:p>
                      <a:pPr algn="ctr"/>
                      <a:r>
                        <a:rPr sz="1100" b="1">
                          <a:latin typeface="Calibri"/>
                        </a:rPr>
                        <a:t>118</a:t>
                      </a:r>
                      <a:endParaRPr lang="en-US"/>
                    </a:p>
                  </a:txBody>
                  <a:tcPr>
                    <a:tcBdr>
                      <a:left>
                        <a:solidFill>
                          <a:srgbClr val="D0D0D0"/>
                        </a:solidFill>
                      </a:left>
                      <a:right>
                        <a:solidFill>
                          <a:srgbClr val="D0D0D0"/>
                        </a:solidFill>
                      </a:right>
                      <a:top>
                        <a:solidFill>
                          <a:srgbClr val="D0D0D0"/>
                        </a:solidFill>
                      </a:top>
                      <a:bottom>
                        <a:solidFill>
                          <a:srgbClr val="D0D0D0"/>
                        </a:solidFill>
                      </a:bottom>
                    </a:tcBdr>
                  </a:tcPr>
                </a:tc>
              </a:tr>
              <a:tr h="275000">
                <a:tc>
                  <a:txBody>
                    <a:bodyPr/>
                    <a:lstStyle/>
                    <a:p>
                      <a:pPr algn="ctr"/>
                      <a:r>
                        <a:rPr sz="1100" b="1">
                          <a:latin typeface="Calibri"/>
                        </a:rPr>
                        <a:t>4.0</a:t>
                      </a:r>
                      <a:endParaRPr lang="en-US"/>
                    </a:p>
                  </a:txBody>
                  <a:tcPr>
                    <a:tcBdr>
                      <a:left>
                        <a:solidFill>
                          <a:srgbClr val="D0D0D0"/>
                        </a:solidFill>
                      </a:left>
                      <a:right>
                        <a:solidFill>
                          <a:srgbClr val="D0D0D0"/>
                        </a:solidFill>
                      </a:right>
                      <a:top>
                        <a:solidFill>
                          <a:srgbClr val="D0D0D0"/>
                        </a:solidFill>
                      </a:top>
                      <a:bottom>
                        <a:solidFill>
                          <a:srgbClr val="D0D0D0"/>
                        </a:solidFill>
                      </a:bottom>
                    </a:tcBdr>
                  </a:tcPr>
                </a:tc>
                <a:tc>
                  <a:txBody>
                    <a:bodyPr/>
                    <a:lstStyle/>
                    <a:p>
                      <a:pPr algn="ctr"/>
                      <a:r>
                        <a:rPr sz="1100" b="1">
                          <a:latin typeface="Calibri"/>
                        </a:rPr>
                        <a:t>-0.40</a:t>
                      </a:r>
                      <a:endParaRPr lang="en-US"/>
                    </a:p>
                  </a:txBody>
                  <a:tcPr>
                    <a:tcBdr>
                      <a:left>
                        <a:solidFill>
                          <a:srgbClr val="D0D0D0"/>
                        </a:solidFill>
                      </a:left>
                      <a:right>
                        <a:solidFill>
                          <a:srgbClr val="D0D0D0"/>
                        </a:solidFill>
                      </a:right>
                      <a:top>
                        <a:solidFill>
                          <a:srgbClr val="D0D0D0"/>
                        </a:solidFill>
                      </a:top>
                      <a:bottom>
                        <a:solidFill>
                          <a:srgbClr val="D0D0D0"/>
                        </a:solidFill>
                      </a:bottom>
                    </a:tcBdr>
                  </a:tcPr>
                </a:tc>
                <a:tc>
                  <a:txBody>
                    <a:bodyPr/>
                    <a:lstStyle/>
                    <a:p>
                      <a:pPr algn="ctr"/>
                      <a:r>
                        <a:rPr sz="1100" b="1">
                          <a:latin typeface="Calibri"/>
                        </a:rPr>
                        <a:t>119</a:t>
                      </a:r>
                      <a:endParaRPr lang="en-US"/>
                    </a:p>
                  </a:txBody>
                  <a:tcPr>
                    <a:tcBdr>
                      <a:left>
                        <a:solidFill>
                          <a:srgbClr val="D0D0D0"/>
                        </a:solidFill>
                      </a:left>
                      <a:right>
                        <a:solidFill>
                          <a:srgbClr val="D0D0D0"/>
                        </a:solidFill>
                      </a:right>
                      <a:top>
                        <a:solidFill>
                          <a:srgbClr val="D0D0D0"/>
                        </a:solidFill>
                      </a:top>
                      <a:bottom>
                        <a:solidFill>
                          <a:srgbClr val="D0D0D0"/>
                        </a:solidFill>
                      </a:bottom>
                    </a:tcBdr>
                  </a:tcPr>
                </a:tc>
              </a:tr>
              <a:tr h="275000">
                <a:tc>
                  <a:txBody>
                    <a:bodyPr/>
                    <a:lstStyle/>
                    <a:p>
                      <a:pPr algn="ctr"/>
                      <a:r>
                        <a:rPr sz="1100" b="1">
                          <a:latin typeface="Calibri"/>
                        </a:rPr>
                        <a:t>4.0</a:t>
                      </a:r>
                      <a:endParaRPr lang="en-US"/>
                    </a:p>
                  </a:txBody>
                  <a:tcPr>
                    <a:tcBdr>
                      <a:left>
                        <a:solidFill>
                          <a:srgbClr val="D0D0D0"/>
                        </a:solidFill>
                      </a:left>
                      <a:right>
                        <a:solidFill>
                          <a:srgbClr val="D0D0D0"/>
                        </a:solidFill>
                      </a:right>
                      <a:top>
                        <a:solidFill>
                          <a:srgbClr val="D0D0D0"/>
                        </a:solidFill>
                      </a:top>
                      <a:bottom>
                        <a:solidFill>
                          <a:srgbClr val="D0D0D0"/>
                        </a:solidFill>
                      </a:bottom>
                    </a:tcBdr>
                  </a:tcPr>
                </a:tc>
                <a:tc>
                  <a:txBody>
                    <a:bodyPr/>
                    <a:lstStyle/>
                    <a:p>
                      <a:pPr algn="ctr"/>
                      <a:r>
                        <a:rPr sz="1100" b="1">
                          <a:latin typeface="Calibri"/>
                        </a:rPr>
                        <a:t>-0.50</a:t>
                      </a:r>
                      <a:endParaRPr lang="en-US"/>
                    </a:p>
                  </a:txBody>
                  <a:tcPr>
                    <a:tcBdr>
                      <a:left>
                        <a:solidFill>
                          <a:srgbClr val="D0D0D0"/>
                        </a:solidFill>
                      </a:left>
                      <a:right>
                        <a:solidFill>
                          <a:srgbClr val="D0D0D0"/>
                        </a:solidFill>
                      </a:right>
                      <a:top>
                        <a:solidFill>
                          <a:srgbClr val="D0D0D0"/>
                        </a:solidFill>
                      </a:top>
                      <a:bottom>
                        <a:solidFill>
                          <a:srgbClr val="D0D0D0"/>
                        </a:solidFill>
                      </a:bottom>
                    </a:tcBdr>
                  </a:tcPr>
                </a:tc>
                <a:tc>
                  <a:txBody>
                    <a:bodyPr/>
                    <a:lstStyle/>
                    <a:p>
                      <a:pPr algn="ctr"/>
                      <a:r>
                        <a:rPr sz="1100" b="1">
                          <a:latin typeface="Calibri"/>
                        </a:rPr>
                        <a:t>71</a:t>
                      </a:r>
                      <a:endParaRPr lang="en-US"/>
                    </a:p>
                  </a:txBody>
                  <a:tcPr>
                    <a:tcBdr>
                      <a:left>
                        <a:solidFill>
                          <a:srgbClr val="D0D0D0"/>
                        </a:solidFill>
                      </a:left>
                      <a:right>
                        <a:solidFill>
                          <a:srgbClr val="D0D0D0"/>
                        </a:solidFill>
                      </a:right>
                      <a:top>
                        <a:solidFill>
                          <a:srgbClr val="D0D0D0"/>
                        </a:solidFill>
                      </a:top>
                      <a:bottom>
                        <a:solidFill>
                          <a:srgbClr val="D0D0D0"/>
                        </a:solidFill>
                      </a:bottom>
                    </a:tcBdr>
                  </a:tcPr>
                </a:tc>
              </a:tr>
            </a:tbl>
          </a:graphicData>
        </a:graphic>
      </p:graphicFrame>
      <p:pic>
        <p:nvPicPr>
          <p:cNvPr id="100" name="防静电标志.jpg"/>
          <p:cNvPicPr>
            <a:picLocks xmlns:a="http://schemas.openxmlformats.org/drawingml/2006/main" noChangeAspect="1"/>
          </p:cNvPicPr>
          <p:nvPr/>
        </p:nvPicPr>
        <p:blipFill>
          <a:blip xmlns:r="http://schemas.openxmlformats.org/officeDocument/2006/relationships" xmlns:a="http://schemas.openxmlformats.org/drawingml/2006/main" r:embed="R0f36f1caa0dd4328"/>
          <a:stretch xmlns:a="http://schemas.openxmlformats.org/drawingml/2006/main">
            <a:fillRect/>
          </a:stretch>
        </p:blipFill>
        <p:spPr>
          <a:xfrm xmlns:a="http://schemas.openxmlformats.org/drawingml/2006/main">
            <a:off x="4214400" y="3914000"/>
            <a:ext cx="500000" cy="500000"/>
          </a:xfrm>
          <a:prstGeom xmlns:a="http://schemas.openxmlformats.org/drawingml/2006/main" prst="rect">
            <a:avLst/>
          </a:prstGeom>
        </p:spPr>
      </p:pic>
      <p:sp>
        <p:nvSpPr>
          <p:cNvPr id="101" name="TextBox 101"/>
          <p:cNvSpPr>
            <a:spLocks xmlns:a="http://schemas.openxmlformats.org/drawingml/2006/main" noGrp="1"/>
          </p:cNvSpPr>
          <p:nvPr/>
        </p:nvSpPr>
        <p:spPr>
          <a:xfrm xmlns:a="http://schemas.openxmlformats.org/drawingml/2006/main">
            <a:off x="4714400" y="3914000"/>
            <a:ext cx="6000000" cy="500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pPr algn="l"/>
            <a:r>
              <a:rPr sz="1200" b="1" u="sng">
                <a:latin typeface="Calibri"/>
              </a:rPr>
              <a:t>ELECTROSTATIC SENSITIVE DEVICE</a:t>
            </a:r>
          </a:p>
          <a:p xmlns:a="http://schemas.openxmlformats.org/drawingml/2006/main">
            <a:pPr indent="-180000" algn="l"/>
            <a:r>
              <a:rPr sz="1200" b="1" u="none">
                <a:latin typeface="Calibri"/>
              </a:rPr>
              <a:t> OBSERVE HANDLING PRECAUTIONS</a:t>
            </a:r>
          </a:p>
        </p:txBody>
      </p:sp>
    </p:spTree>
  </p:cSld>
  <p:clrMapOvr>
    <a:masterClrMapping xmlns:a="http://schemas.openxmlformats.org/drawingml/2006/main"/>
  </p:clrMapOvr>
</p:sld>
</file>

<file path=ppt/slides/slide9.xml><?xml version="1.0" encoding="utf-8"?>
<p:sld xmlns:p="http://schemas.openxmlformats.org/presentationml/2006/main">
  <p:cSld name="Blank">
    <p:spTree>
      <p:nvGrpSpPr>
        <p:cNvPr id="1" name=""/>
        <p:cNvGrpSpPr/>
        <p:nvPr/>
      </p:nvGrpSpPr>
      <p:grpSpPr>
        <a:xfrm xmlns:a="http://schemas.openxmlformats.org/drawingml/2006/main">
          <a:off x="0" y="0"/>
          <a:ext cx="0" cy="0"/>
          <a:chOff x="0" y="0"/>
          <a:chExt cx="0" cy="0"/>
        </a:xfrm>
      </p:grpSpPr>
      <p:sp>
        <p:nvSpPr>
          <p:cNvPr id="2" name="TextBox 2"/>
          <p:cNvSpPr>
            <a:spLocks xmlns:a="http://schemas.openxmlformats.org/drawingml/2006/main" noGrp="1"/>
          </p:cNvSpPr>
          <p:nvPr/>
        </p:nvSpPr>
        <p:spPr>
          <a:xfrm xmlns:a="http://schemas.openxmlformats.org/drawingml/2006/main">
            <a:off x="914400" y="1314000"/>
            <a:ext cx="6000000" cy="500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pPr algn="ctr"/>
            <a:r>
              <a:rPr sz="1400" b="1">
                <a:latin typeface="Calibri"/>
              </a:rPr>
              <a:t>Outline Drawing: </a:t>
            </a:r>
          </a:p>
          <a:p xmlns:a="http://schemas.openxmlformats.org/drawingml/2006/main">
            <a:pPr indent="-180000" algn="ctr"/>
            <a:r>
              <a:rPr sz="1400" b="0">
                <a:latin typeface="Calibri"/>
              </a:rPr>
              <a:t>All Dimensions in μm</a:t>
            </a:r>
          </a:p>
        </p:txBody>
      </p:sp>
      <p:pic>
        <p:nvPicPr>
          <p:cNvPr id="100" name="外形图.png"/>
          <p:cNvPicPr>
            <a:picLocks xmlns:a="http://schemas.openxmlformats.org/drawingml/2006/main" noChangeAspect="1"/>
          </p:cNvPicPr>
          <p:nvPr/>
        </p:nvPicPr>
        <p:blipFill>
          <a:blip xmlns:r="http://schemas.openxmlformats.org/officeDocument/2006/relationships" xmlns:a="http://schemas.openxmlformats.org/drawingml/2006/main" r:embed="Rc8880ea8e57340a1"/>
          <a:stretch xmlns:a="http://schemas.openxmlformats.org/drawingml/2006/main">
            <a:fillRect/>
          </a:stretch>
        </p:blipFill>
        <p:spPr>
          <a:xfrm xmlns:a="http://schemas.openxmlformats.org/drawingml/2006/main">
            <a:off x="1014400" y="1764000"/>
            <a:ext cx="5000000" cy="5000000"/>
          </a:xfrm>
          <a:prstGeom xmlns:a="http://schemas.openxmlformats.org/drawingml/2006/main" prst="rect">
            <a:avLst/>
          </a:prstGeom>
        </p:spPr>
      </p:pic>
      <p:sp>
        <p:nvSpPr>
          <p:cNvPr id="101" name="TextBox 101"/>
          <p:cNvSpPr>
            <a:spLocks xmlns:a="http://schemas.openxmlformats.org/drawingml/2006/main" noGrp="1"/>
          </p:cNvSpPr>
          <p:nvPr/>
        </p:nvSpPr>
        <p:spPr>
          <a:xfrm xmlns:a="http://schemas.openxmlformats.org/drawingml/2006/main">
            <a:off x="914400" y="7214000"/>
            <a:ext cx="6000000" cy="1250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pPr algn="l"/>
            <a:r>
              <a:rPr sz="1200" b="1" u="sng">
                <a:latin typeface="Calibri"/>
              </a:rPr>
              <a:t>Notes:</a:t>
            </a:r>
          </a:p>
          <a:p xmlns:a="http://schemas.openxmlformats.org/drawingml/2006/main">
            <a:pPr indent="-180000" algn="l"/>
            <a:r>
              <a:rPr sz="1200" b="1" u="none">
                <a:latin typeface="Calibri"/>
              </a:rPr>
              <a:t>1. Die thickness: 50μm</a:t>
            </a:r>
          </a:p>
          <a:p xmlns:a="http://schemas.openxmlformats.org/drawingml/2006/main">
            <a:pPr indent="-180000" algn="l"/>
            <a:r>
              <a:rPr sz="1200" b="1" u="none">
                <a:latin typeface="Calibri"/>
              </a:rPr>
              <a:t>2. VD bond pad is 75*75μm²</a:t>
            </a:r>
          </a:p>
          <a:p xmlns:a="http://schemas.openxmlformats.org/drawingml/2006/main">
            <a:pPr indent="-180000" algn="l"/>
            <a:r>
              <a:rPr sz="1200" b="1" u="none">
                <a:latin typeface="Calibri"/>
              </a:rPr>
              <a:t>3. VG bond pad is 75*75μm²</a:t>
            </a:r>
          </a:p>
          <a:p xmlns:a="http://schemas.openxmlformats.org/drawingml/2006/main">
            <a:pPr indent="-180000" algn="l"/>
            <a:r>
              <a:rPr sz="1200" b="1" u="none">
                <a:latin typeface="Calibri"/>
              </a:rPr>
              <a:t>4. RF IN/OUT bond pad is 50*86μm²</a:t>
            </a:r>
          </a:p>
          <a:p xmlns:a="http://schemas.openxmlformats.org/drawingml/2006/main">
            <a:pPr indent="-180000" algn="l"/>
            <a:r>
              <a:rPr sz="1200" b="1" u="none">
                <a:latin typeface="Calibri"/>
              </a:rPr>
              <a:t>5. Bond pad metalization: Gold</a:t>
            </a:r>
          </a:p>
          <a:p xmlns:a="http://schemas.openxmlformats.org/drawingml/2006/main">
            <a:pPr indent="-180000" algn="l"/>
            <a:r>
              <a:rPr sz="1200" b="1" u="none">
                <a:latin typeface="Calibri"/>
              </a:rPr>
              <a:t>6. Backside metalization: Gold</a:t>
            </a:r>
          </a:p>
        </p:txBody>
      </p:sp>
    </p:spTree>
  </p:cSld>
  <p:clrMapOvr>
    <a:masterClrMapping xmlns:a="http://schemas.openxmlformats.org/drawingml/2006/main"/>
  </p:clrMapOvr>
</p:sld>
</file>

<file path=ppt/slides/slide10.xml><?xml version="1.0" encoding="utf-8"?>
<p:sld xmlns:p="http://schemas.openxmlformats.org/presentationml/2006/main">
  <p:cSld name="Blank">
    <p:spTree>
      <p:nvGrpSpPr>
        <p:cNvPr id="1" name=""/>
        <p:cNvGrpSpPr/>
        <p:nvPr/>
      </p:nvGrpSpPr>
      <p:grpSpPr>
        <a:xfrm xmlns:a="http://schemas.openxmlformats.org/drawingml/2006/main">
          <a:off x="0" y="0"/>
          <a:ext cx="0" cy="0"/>
          <a:chOff x="0" y="0"/>
          <a:chExt cx="0" cy="0"/>
        </a:xfrm>
      </p:grpSpPr>
      <p:sp>
        <p:nvSpPr>
          <p:cNvPr id="2" name="TextBox 2"/>
          <p:cNvSpPr>
            <a:spLocks xmlns:a="http://schemas.openxmlformats.org/drawingml/2006/main" noGrp="1"/>
          </p:cNvSpPr>
          <p:nvPr/>
        </p:nvSpPr>
        <p:spPr>
          <a:xfrm xmlns:a="http://schemas.openxmlformats.org/drawingml/2006/main">
            <a:off x="914400" y="1314000"/>
            <a:ext cx="6000000" cy="350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pPr algn="ctr"/>
            <a:r>
              <a:rPr sz="1400" b="1" u="sng">
                <a:latin typeface="Calibri"/>
              </a:rPr>
              <a:t>Assembly Drawing</a:t>
            </a:r>
          </a:p>
        </p:txBody>
      </p:sp>
      <p:pic>
        <p:nvPicPr>
          <p:cNvPr id="100" name="装配图.png"/>
          <p:cNvPicPr>
            <a:picLocks xmlns:a="http://schemas.openxmlformats.org/drawingml/2006/main" noChangeAspect="1"/>
          </p:cNvPicPr>
          <p:nvPr/>
        </p:nvPicPr>
        <p:blipFill>
          <a:blip xmlns:r="http://schemas.openxmlformats.org/officeDocument/2006/relationships" xmlns:a="http://schemas.openxmlformats.org/drawingml/2006/main" r:embed="R9654fb90a21c41e5"/>
          <a:stretch xmlns:a="http://schemas.openxmlformats.org/drawingml/2006/main">
            <a:fillRect/>
          </a:stretch>
        </p:blipFill>
        <p:spPr>
          <a:xfrm xmlns:a="http://schemas.openxmlformats.org/drawingml/2006/main">
            <a:off x="1014400" y="1664100"/>
            <a:ext cx="5500000" cy="3500000"/>
          </a:xfrm>
          <a:prstGeom xmlns:a="http://schemas.openxmlformats.org/drawingml/2006/main" prst="rect">
            <a:avLst/>
          </a:prstGeom>
        </p:spPr>
      </p:pic>
      <p:graphicFrame>
        <p:nvGraphicFramePr>
          <p:cNvPr id="101" name="Table 101"/>
          <p:cNvGraphicFramePr/>
          <p:nvPr/>
        </p:nvGraphicFramePr>
        <p:xfrm>
          <a:off xmlns:a="http://schemas.openxmlformats.org/drawingml/2006/main" x="914400" y="5214100"/>
          <a:ext xmlns:a="http://schemas.openxmlformats.org/drawingml/2006/main" cx="3500000" cy="2000000"/>
        </p:xfrm>
        <p:spPr/>
        <a:graphic xmlns:a="http://schemas.openxmlformats.org/drawingml/2006/main">
          <a:graphicData uri="http://schemas.openxmlformats.org/drawingml/2006/table">
            <a:tbl>
              <a:tblGrid>
                <a:gridCol w="1000000"/>
                <a:gridCol w="2500000"/>
              </a:tblGrid>
              <a:tr h="400000">
                <a:tc>
                  <a:txBody>
                    <a:bodyPr anchor="ctr" anchorCtr="1"/>
                    <a:lstStyle/>
                    <a:p>
                      <a:pPr algn="ctr"/>
                      <a:r>
                        <a:rPr sz="1000" b="1">
                          <a:solidFill>
                            <a:srgbClr val="FFFFFF"/>
                          </a:solidFill>
                          <a:latin typeface="Calibri"/>
                        </a:rPr>
                        <a:t>Item</a:t>
                      </a:r>
                      <a:endParaRPr lang="en-US"/>
                    </a:p>
                  </a:txBody>
                  <a:tcPr anchor="ctr">
                    <a:tcBdr>
                      <a:left>
                        <a:solidFill>
                          <a:srgbClr val="D0D0D0"/>
                        </a:solidFill>
                      </a:left>
                      <a:right>
                        <a:solidFill>
                          <a:srgbClr val="D0D0D0"/>
                        </a:solidFill>
                      </a:right>
                      <a:top>
                        <a:solidFill>
                          <a:srgbClr val="D0D0D0"/>
                        </a:solidFill>
                      </a:top>
                      <a:bottom>
                        <a:solidFill>
                          <a:srgbClr val="D0D0D0"/>
                        </a:solidFill>
                      </a:bottom>
                    </a:tcBdr>
                    <a:solidFill>
                      <a:srgbClr val="757171"/>
                    </a:solidFill>
                  </a:tcPr>
                </a:tc>
                <a:tc>
                  <a:txBody>
                    <a:bodyPr anchor="ctr" anchorCtr="1"/>
                    <a:lstStyle/>
                    <a:p>
                      <a:pPr algn="ctr"/>
                      <a:r>
                        <a:rPr sz="1000" b="1">
                          <a:solidFill>
                            <a:srgbClr val="FFFFFF"/>
                          </a:solidFill>
                          <a:latin typeface="Calibri"/>
                        </a:rPr>
                        <a:t>Description</a:t>
                      </a:r>
                      <a:endParaRPr lang="en-US"/>
                    </a:p>
                  </a:txBody>
                  <a:tcPr anchor="ctr">
                    <a:tcBdr>
                      <a:left>
                        <a:solidFill>
                          <a:srgbClr val="D0D0D0"/>
                        </a:solidFill>
                      </a:left>
                      <a:right>
                        <a:solidFill>
                          <a:srgbClr val="D0D0D0"/>
                        </a:solidFill>
                      </a:right>
                      <a:top>
                        <a:solidFill>
                          <a:srgbClr val="D0D0D0"/>
                        </a:solidFill>
                      </a:top>
                      <a:bottom>
                        <a:solidFill>
                          <a:srgbClr val="D0D0D0"/>
                        </a:solidFill>
                      </a:bottom>
                    </a:tcBdr>
                    <a:solidFill>
                      <a:srgbClr val="757171"/>
                    </a:solidFill>
                  </a:tcPr>
                </a:tc>
              </a:tr>
              <a:tr h="400000">
                <a:tc>
                  <a:txBody>
                    <a:bodyPr anchor="ctr" anchorCtr="1"/>
                    <a:lstStyle/>
                    <a:p>
                      <a:pPr algn="ctr"/>
                      <a:r>
                        <a:rPr sz="1000" b="0">
                          <a:latin typeface="Calibri"/>
                        </a:rPr>
                        <a:t>C1</a:t>
                      </a:r>
                      <a:endParaRPr lang="en-US"/>
                    </a:p>
                  </a:txBody>
                  <a:tcPr anchor="ctr">
                    <a:tcBdr>
                      <a:left>
                        <a:solidFill>
                          <a:srgbClr val="D0D0D0"/>
                        </a:solidFill>
                      </a:left>
                      <a:right>
                        <a:solidFill>
                          <a:srgbClr val="D0D0D0"/>
                        </a:solidFill>
                      </a:right>
                      <a:top>
                        <a:solidFill>
                          <a:srgbClr val="D0D0D0"/>
                        </a:solidFill>
                      </a:top>
                      <a:bottom>
                        <a:solidFill>
                          <a:srgbClr val="D0D0D0"/>
                        </a:solidFill>
                      </a:bottom>
                    </a:tcBdr>
                  </a:tcPr>
                </a:tc>
                <a:tc>
                  <a:txBody>
                    <a:bodyPr anchor="ctr" anchorCtr="1"/>
                    <a:lstStyle/>
                    <a:p>
                      <a:pPr algn="ctr"/>
                      <a:r>
                        <a:rPr sz="1000" b="0">
                          <a:latin typeface="Calibri"/>
                        </a:rPr>
                        <a:t>100pF Example: Skyworks Part: SC10002430</a:t>
                      </a:r>
                      <a:endParaRPr lang="en-US"/>
                    </a:p>
                  </a:txBody>
                  <a:tcPr anchor="ctr">
                    <a:tcBdr>
                      <a:left>
                        <a:solidFill>
                          <a:srgbClr val="D0D0D0"/>
                        </a:solidFill>
                      </a:left>
                      <a:right>
                        <a:solidFill>
                          <a:srgbClr val="D0D0D0"/>
                        </a:solidFill>
                      </a:right>
                      <a:top>
                        <a:solidFill>
                          <a:srgbClr val="D0D0D0"/>
                        </a:solidFill>
                      </a:top>
                      <a:bottom>
                        <a:solidFill>
                          <a:srgbClr val="D0D0D0"/>
                        </a:solidFill>
                      </a:bottom>
                    </a:tcBdr>
                  </a:tcPr>
                </a:tc>
              </a:tr>
              <a:tr h="400000">
                <a:tc>
                  <a:txBody>
                    <a:bodyPr anchor="ctr" anchorCtr="1"/>
                    <a:lstStyle/>
                    <a:p>
                      <a:pPr algn="ctr"/>
                      <a:r>
                        <a:rPr sz="1000" b="0">
                          <a:latin typeface="Calibri"/>
                        </a:rPr>
                        <a:t>C2</a:t>
                      </a:r>
                      <a:endParaRPr lang="en-US"/>
                    </a:p>
                  </a:txBody>
                  <a:tcPr anchor="ctr">
                    <a:tcBdr>
                      <a:left>
                        <a:solidFill>
                          <a:srgbClr val="D0D0D0"/>
                        </a:solidFill>
                      </a:left>
                      <a:right>
                        <a:solidFill>
                          <a:srgbClr val="D0D0D0"/>
                        </a:solidFill>
                      </a:right>
                      <a:top>
                        <a:solidFill>
                          <a:srgbClr val="D0D0D0"/>
                        </a:solidFill>
                      </a:top>
                      <a:bottom>
                        <a:solidFill>
                          <a:srgbClr val="D0D0D0"/>
                        </a:solidFill>
                      </a:bottom>
                    </a:tcBdr>
                  </a:tcPr>
                </a:tc>
                <a:tc>
                  <a:txBody>
                    <a:bodyPr anchor="ctr" anchorCtr="1"/>
                    <a:lstStyle/>
                    <a:p>
                      <a:pPr algn="ctr"/>
                      <a:r>
                        <a:rPr sz="1000" b="0">
                          <a:latin typeface="Calibri"/>
                        </a:rPr>
                        <a:t>0.01μF Example: TDK Part:C1005X7R1H103K050BB (0402)</a:t>
                      </a:r>
                      <a:endParaRPr lang="en-US"/>
                    </a:p>
                  </a:txBody>
                  <a:tcPr anchor="ctr">
                    <a:tcBdr>
                      <a:left>
                        <a:solidFill>
                          <a:srgbClr val="D0D0D0"/>
                        </a:solidFill>
                      </a:left>
                      <a:right>
                        <a:solidFill>
                          <a:srgbClr val="D0D0D0"/>
                        </a:solidFill>
                      </a:right>
                      <a:top>
                        <a:solidFill>
                          <a:srgbClr val="D0D0D0"/>
                        </a:solidFill>
                      </a:top>
                      <a:bottom>
                        <a:solidFill>
                          <a:srgbClr val="D0D0D0"/>
                        </a:solidFill>
                      </a:bottom>
                    </a:tcBdr>
                  </a:tcPr>
                </a:tc>
              </a:tr>
              <a:tr h="400000">
                <a:tc>
                  <a:txBody>
                    <a:bodyPr anchor="ctr" anchorCtr="1"/>
                    <a:lstStyle/>
                    <a:p>
                      <a:pPr algn="ctr"/>
                      <a:r>
                        <a:rPr sz="1000" b="0">
                          <a:latin typeface="Calibri"/>
                        </a:rPr>
                        <a:t>C3</a:t>
                      </a:r>
                      <a:endParaRPr lang="en-US"/>
                    </a:p>
                  </a:txBody>
                  <a:tcPr anchor="ctr">
                    <a:tcBdr>
                      <a:left>
                        <a:solidFill>
                          <a:srgbClr val="D0D0D0"/>
                        </a:solidFill>
                      </a:left>
                      <a:right>
                        <a:solidFill>
                          <a:srgbClr val="D0D0D0"/>
                        </a:solidFill>
                      </a:right>
                      <a:top>
                        <a:solidFill>
                          <a:srgbClr val="D0D0D0"/>
                        </a:solidFill>
                      </a:top>
                      <a:bottom>
                        <a:solidFill>
                          <a:srgbClr val="D0D0D0"/>
                        </a:solidFill>
                      </a:bottom>
                    </a:tcBdr>
                  </a:tcPr>
                </a:tc>
                <a:tc>
                  <a:txBody>
                    <a:bodyPr anchor="ctr" anchorCtr="1"/>
                    <a:lstStyle/>
                    <a:p>
                      <a:pPr algn="ctr"/>
                      <a:r>
                        <a:rPr sz="1000" b="0">
                          <a:latin typeface="Calibri"/>
                        </a:rPr>
                        <a:t>0.1μF Example: TDK Part:C1005X7R1H104K050BB (0402)</a:t>
                      </a:r>
                      <a:endParaRPr lang="en-US"/>
                    </a:p>
                  </a:txBody>
                  <a:tcPr anchor="ctr">
                    <a:tcBdr>
                      <a:left>
                        <a:solidFill>
                          <a:srgbClr val="D0D0D0"/>
                        </a:solidFill>
                      </a:left>
                      <a:right>
                        <a:solidFill>
                          <a:srgbClr val="D0D0D0"/>
                        </a:solidFill>
                      </a:right>
                      <a:top>
                        <a:solidFill>
                          <a:srgbClr val="D0D0D0"/>
                        </a:solidFill>
                      </a:top>
                      <a:bottom>
                        <a:solidFill>
                          <a:srgbClr val="D0D0D0"/>
                        </a:solidFill>
                      </a:bottom>
                    </a:tcBdr>
                  </a:tcPr>
                </a:tc>
              </a:tr>
              <a:tr h="400000">
                <a:tc>
                  <a:txBody>
                    <a:bodyPr anchor="ctr" anchorCtr="1"/>
                    <a:lstStyle/>
                    <a:p>
                      <a:pPr algn="ctr"/>
                      <a:r>
                        <a:rPr sz="1000" b="0">
                          <a:latin typeface="Calibri"/>
                        </a:rPr>
                        <a:t>R1</a:t>
                      </a:r>
                      <a:endParaRPr lang="en-US"/>
                    </a:p>
                  </a:txBody>
                  <a:tcPr anchor="ctr">
                    <a:tcBdr>
                      <a:left>
                        <a:solidFill>
                          <a:srgbClr val="D0D0D0"/>
                        </a:solidFill>
                      </a:left>
                      <a:right>
                        <a:solidFill>
                          <a:srgbClr val="D0D0D0"/>
                        </a:solidFill>
                      </a:right>
                      <a:top>
                        <a:solidFill>
                          <a:srgbClr val="D0D0D0"/>
                        </a:solidFill>
                      </a:top>
                      <a:bottom>
                        <a:solidFill>
                          <a:srgbClr val="D0D0D0"/>
                        </a:solidFill>
                      </a:bottom>
                    </a:tcBdr>
                  </a:tcPr>
                </a:tc>
                <a:tc>
                  <a:txBody>
                    <a:bodyPr anchor="ctr" anchorCtr="1"/>
                    <a:lstStyle/>
                    <a:p>
                      <a:pPr algn="ctr"/>
                      <a:r>
                        <a:rPr sz="1000" b="0">
                          <a:latin typeface="Calibri"/>
                        </a:rPr>
                        <a:t>100Ω Example: Yageo Part:SR0402FR-7T10RL</a:t>
                      </a:r>
                      <a:endParaRPr lang="en-US"/>
                    </a:p>
                  </a:txBody>
                  <a:tcPr anchor="ctr">
                    <a:tcBdr>
                      <a:left>
                        <a:solidFill>
                          <a:srgbClr val="D0D0D0"/>
                        </a:solidFill>
                      </a:left>
                      <a:right>
                        <a:solidFill>
                          <a:srgbClr val="D0D0D0"/>
                        </a:solidFill>
                      </a:right>
                      <a:top>
                        <a:solidFill>
                          <a:srgbClr val="D0D0D0"/>
                        </a:solidFill>
                      </a:top>
                      <a:bottom>
                        <a:solidFill>
                          <a:srgbClr val="D0D0D0"/>
                        </a:solidFill>
                      </a:bottom>
                    </a:tcBdr>
                  </a:tcPr>
                </a:tc>
              </a:tr>
            </a:tbl>
          </a:graphicData>
        </a:graphic>
      </p:graphicFrame>
      <p:graphicFrame>
        <p:nvGraphicFramePr>
          <p:cNvPr id="102" name="Table 102"/>
          <p:cNvGraphicFramePr/>
          <p:nvPr/>
        </p:nvGraphicFramePr>
        <p:xfrm>
          <a:off xmlns:a="http://schemas.openxmlformats.org/drawingml/2006/main" x="914400" y="7315100"/>
          <a:ext xmlns:a="http://schemas.openxmlformats.org/drawingml/2006/main" cx="6000000" cy="2000000"/>
        </p:xfrm>
        <p:spPr/>
        <a:graphic xmlns:a="http://schemas.openxmlformats.org/drawingml/2006/main">
          <a:graphicData uri="http://schemas.openxmlformats.org/drawingml/2006/table">
            <a:tbl>
              <a:tblGrid>
                <a:gridCol w="857145"/>
                <a:gridCol w="857145"/>
                <a:gridCol w="4285710"/>
              </a:tblGrid>
              <a:tr h="333333">
                <a:tc>
                  <a:txBody>
                    <a:bodyPr anchor="ctr" anchorCtr="1"/>
                    <a:lstStyle/>
                    <a:p>
                      <a:pPr algn="ctr"/>
                      <a:r>
                        <a:rPr sz="1000" b="1">
                          <a:solidFill>
                            <a:srgbClr val="FFFFFF"/>
                          </a:solidFill>
                          <a:latin typeface="Calibri"/>
                        </a:rPr>
                        <a:t>Item</a:t>
                      </a:r>
                      <a:endParaRPr lang="en-US"/>
                    </a:p>
                  </a:txBody>
                  <a:tcPr anchor="ctr">
                    <a:tcBdr>
                      <a:left>
                        <a:solidFill>
                          <a:srgbClr val="D0D0D0"/>
                        </a:solidFill>
                      </a:left>
                      <a:right>
                        <a:solidFill>
                          <a:srgbClr val="D0D0D0"/>
                        </a:solidFill>
                      </a:right>
                      <a:top>
                        <a:solidFill>
                          <a:srgbClr val="D0D0D0"/>
                        </a:solidFill>
                      </a:top>
                      <a:bottom>
                        <a:solidFill>
                          <a:srgbClr val="D0D0D0"/>
                        </a:solidFill>
                      </a:bottom>
                    </a:tcBdr>
                    <a:solidFill>
                      <a:srgbClr val="757171"/>
                    </a:solidFill>
                  </a:tcPr>
                </a:tc>
                <a:tc>
                  <a:txBody>
                    <a:bodyPr anchor="ctr" anchorCtr="1"/>
                    <a:lstStyle/>
                    <a:p>
                      <a:pPr algn="ctr"/>
                      <a:r>
                        <a:rPr sz="1000" b="1">
                          <a:solidFill>
                            <a:srgbClr val="FFFFFF"/>
                          </a:solidFill>
                          <a:latin typeface="Calibri"/>
                        </a:rPr>
                        <a:t>Funciton</a:t>
                      </a:r>
                      <a:endParaRPr lang="en-US"/>
                    </a:p>
                  </a:txBody>
                  <a:tcPr anchor="ctr">
                    <a:tcBdr>
                      <a:left>
                        <a:solidFill>
                          <a:srgbClr val="D0D0D0"/>
                        </a:solidFill>
                      </a:left>
                      <a:right>
                        <a:solidFill>
                          <a:srgbClr val="D0D0D0"/>
                        </a:solidFill>
                      </a:right>
                      <a:top>
                        <a:solidFill>
                          <a:srgbClr val="D0D0D0"/>
                        </a:solidFill>
                      </a:top>
                      <a:bottom>
                        <a:solidFill>
                          <a:srgbClr val="D0D0D0"/>
                        </a:solidFill>
                      </a:bottom>
                    </a:tcBdr>
                    <a:solidFill>
                      <a:srgbClr val="757171"/>
                    </a:solidFill>
                  </a:tcPr>
                </a:tc>
                <a:tc>
                  <a:txBody>
                    <a:bodyPr anchor="ctr" anchorCtr="1"/>
                    <a:lstStyle/>
                    <a:p>
                      <a:pPr algn="ctr"/>
                      <a:r>
                        <a:rPr sz="1000" b="1">
                          <a:solidFill>
                            <a:srgbClr val="FFFFFF"/>
                          </a:solidFill>
                          <a:latin typeface="Calibri"/>
                        </a:rPr>
                        <a:t>Description</a:t>
                      </a:r>
                      <a:endParaRPr lang="en-US"/>
                    </a:p>
                  </a:txBody>
                  <a:tcPr anchor="ctr">
                    <a:tcBdr>
                      <a:left>
                        <a:solidFill>
                          <a:srgbClr val="D0D0D0"/>
                        </a:solidFill>
                      </a:left>
                      <a:right>
                        <a:solidFill>
                          <a:srgbClr val="D0D0D0"/>
                        </a:solidFill>
                      </a:right>
                      <a:top>
                        <a:solidFill>
                          <a:srgbClr val="D0D0D0"/>
                        </a:solidFill>
                      </a:top>
                      <a:bottom>
                        <a:solidFill>
                          <a:srgbClr val="D0D0D0"/>
                        </a:solidFill>
                      </a:bottom>
                    </a:tcBdr>
                    <a:solidFill>
                      <a:srgbClr val="757171"/>
                    </a:solidFill>
                  </a:tcPr>
                </a:tc>
              </a:tr>
              <a:tr h="333333">
                <a:tc>
                  <a:txBody>
                    <a:bodyPr anchor="ctr" anchorCtr="1"/>
                    <a:lstStyle/>
                    <a:p>
                      <a:pPr algn="ctr"/>
                      <a:r>
                        <a:rPr sz="1000" b="0">
                          <a:latin typeface="Calibri"/>
                        </a:rPr>
                        <a:t>1</a:t>
                      </a:r>
                      <a:endParaRPr lang="en-US"/>
                    </a:p>
                  </a:txBody>
                  <a:tcPr anchor="ctr">
                    <a:tcBdr>
                      <a:left>
                        <a:solidFill>
                          <a:srgbClr val="D0D0D0"/>
                        </a:solidFill>
                      </a:left>
                      <a:right>
                        <a:solidFill>
                          <a:srgbClr val="D0D0D0"/>
                        </a:solidFill>
                      </a:right>
                      <a:top>
                        <a:solidFill>
                          <a:srgbClr val="D0D0D0"/>
                        </a:solidFill>
                      </a:top>
                      <a:bottom>
                        <a:solidFill>
                          <a:srgbClr val="D0D0D0"/>
                        </a:solidFill>
                      </a:bottom>
                    </a:tcBdr>
                  </a:tcPr>
                </a:tc>
                <a:tc>
                  <a:txBody>
                    <a:bodyPr anchor="ctr" anchorCtr="1"/>
                    <a:lstStyle/>
                    <a:p>
                      <a:pPr algn="ctr"/>
                      <a:r>
                        <a:rPr sz="1000" b="0">
                          <a:latin typeface="Calibri"/>
                        </a:rPr>
                        <a:t>RF IN</a:t>
                      </a:r>
                      <a:endParaRPr lang="en-US"/>
                    </a:p>
                  </a:txBody>
                  <a:tcPr anchor="ctr">
                    <a:tcBdr>
                      <a:left>
                        <a:solidFill>
                          <a:srgbClr val="D0D0D0"/>
                        </a:solidFill>
                      </a:left>
                      <a:right>
                        <a:solidFill>
                          <a:srgbClr val="D0D0D0"/>
                        </a:solidFill>
                      </a:right>
                      <a:top>
                        <a:solidFill>
                          <a:srgbClr val="D0D0D0"/>
                        </a:solidFill>
                      </a:top>
                      <a:bottom>
                        <a:solidFill>
                          <a:srgbClr val="D0D0D0"/>
                        </a:solidFill>
                      </a:bottom>
                    </a:tcBdr>
                  </a:tcPr>
                </a:tc>
                <a:tc>
                  <a:txBody>
                    <a:bodyPr anchor="ctr" anchorCtr="1"/>
                    <a:lstStyle/>
                    <a:p>
                      <a:pPr algn="ctr"/>
                      <a:r>
                        <a:rPr sz="1000" b="0">
                          <a:latin typeface="Calibri"/>
                        </a:rPr>
                        <a:t>RF signal input terminal; no blocking capacitor required.</a:t>
                      </a:r>
                      <a:endParaRPr lang="en-US"/>
                    </a:p>
                  </a:txBody>
                  <a:tcPr anchor="ctr">
                    <a:tcBdr>
                      <a:left>
                        <a:solidFill>
                          <a:srgbClr val="D0D0D0"/>
                        </a:solidFill>
                      </a:left>
                      <a:right>
                        <a:solidFill>
                          <a:srgbClr val="D0D0D0"/>
                        </a:solidFill>
                      </a:right>
                      <a:top>
                        <a:solidFill>
                          <a:srgbClr val="D0D0D0"/>
                        </a:solidFill>
                      </a:top>
                      <a:bottom>
                        <a:solidFill>
                          <a:srgbClr val="D0D0D0"/>
                        </a:solidFill>
                      </a:bottom>
                    </a:tcBdr>
                  </a:tcPr>
                </a:tc>
              </a:tr>
              <a:tr h="333333">
                <a:tc>
                  <a:txBody>
                    <a:bodyPr anchor="ctr" anchorCtr="1"/>
                    <a:lstStyle/>
                    <a:p>
                      <a:pPr algn="ctr"/>
                      <a:r>
                        <a:rPr sz="1000" b="0">
                          <a:latin typeface="Calibri"/>
                        </a:rPr>
                        <a:t>2</a:t>
                      </a:r>
                      <a:endParaRPr lang="en-US"/>
                    </a:p>
                  </a:txBody>
                  <a:tcPr anchor="ctr">
                    <a:tcBdr>
                      <a:left>
                        <a:solidFill>
                          <a:srgbClr val="D0D0D0"/>
                        </a:solidFill>
                      </a:left>
                      <a:right>
                        <a:solidFill>
                          <a:srgbClr val="D0D0D0"/>
                        </a:solidFill>
                      </a:right>
                      <a:top>
                        <a:solidFill>
                          <a:srgbClr val="D0D0D0"/>
                        </a:solidFill>
                      </a:top>
                      <a:bottom>
                        <a:solidFill>
                          <a:srgbClr val="D0D0D0"/>
                        </a:solidFill>
                      </a:bottom>
                    </a:tcBdr>
                  </a:tcPr>
                </a:tc>
                <a:tc>
                  <a:txBody>
                    <a:bodyPr anchor="ctr" anchorCtr="1"/>
                    <a:lstStyle/>
                    <a:p>
                      <a:pPr algn="ctr"/>
                      <a:r>
                        <a:rPr sz="1000" b="0">
                          <a:latin typeface="Calibri"/>
                        </a:rPr>
                        <a:t>RF OUT</a:t>
                      </a:r>
                      <a:endParaRPr lang="en-US"/>
                    </a:p>
                  </a:txBody>
                  <a:tcPr anchor="ctr">
                    <a:tcBdr>
                      <a:left>
                        <a:solidFill>
                          <a:srgbClr val="D0D0D0"/>
                        </a:solidFill>
                      </a:left>
                      <a:right>
                        <a:solidFill>
                          <a:srgbClr val="D0D0D0"/>
                        </a:solidFill>
                      </a:right>
                      <a:top>
                        <a:solidFill>
                          <a:srgbClr val="D0D0D0"/>
                        </a:solidFill>
                      </a:top>
                      <a:bottom>
                        <a:solidFill>
                          <a:srgbClr val="D0D0D0"/>
                        </a:solidFill>
                      </a:bottom>
                    </a:tcBdr>
                  </a:tcPr>
                </a:tc>
                <a:tc>
                  <a:txBody>
                    <a:bodyPr anchor="ctr" anchorCtr="1"/>
                    <a:lstStyle/>
                    <a:p>
                      <a:pPr algn="ctr"/>
                      <a:r>
                        <a:rPr sz="1000" b="0">
                          <a:latin typeface="Calibri"/>
                        </a:rPr>
                        <a:t>RF signal output terminal; no blocking capacitor required.</a:t>
                      </a:r>
                      <a:endParaRPr lang="en-US"/>
                    </a:p>
                  </a:txBody>
                  <a:tcPr anchor="ctr">
                    <a:tcBdr>
                      <a:left>
                        <a:solidFill>
                          <a:srgbClr val="D0D0D0"/>
                        </a:solidFill>
                      </a:left>
                      <a:right>
                        <a:solidFill>
                          <a:srgbClr val="D0D0D0"/>
                        </a:solidFill>
                      </a:right>
                      <a:top>
                        <a:solidFill>
                          <a:srgbClr val="D0D0D0"/>
                        </a:solidFill>
                      </a:top>
                      <a:bottom>
                        <a:solidFill>
                          <a:srgbClr val="D0D0D0"/>
                        </a:solidFill>
                      </a:bottom>
                    </a:tcBdr>
                  </a:tcPr>
                </a:tc>
              </a:tr>
              <a:tr h="333333">
                <a:tc>
                  <a:txBody>
                    <a:bodyPr anchor="ctr" anchorCtr="1"/>
                    <a:lstStyle/>
                    <a:p>
                      <a:pPr algn="ctr"/>
                      <a:r>
                        <a:rPr sz="1000" b="0">
                          <a:latin typeface="Calibri"/>
                        </a:rPr>
                        <a:t>3</a:t>
                      </a:r>
                      <a:endParaRPr lang="en-US"/>
                    </a:p>
                  </a:txBody>
                  <a:tcPr anchor="ctr">
                    <a:tcBdr>
                      <a:left>
                        <a:solidFill>
                          <a:srgbClr val="D0D0D0"/>
                        </a:solidFill>
                      </a:left>
                      <a:right>
                        <a:solidFill>
                          <a:srgbClr val="D0D0D0"/>
                        </a:solidFill>
                      </a:right>
                      <a:top>
                        <a:solidFill>
                          <a:srgbClr val="D0D0D0"/>
                        </a:solidFill>
                      </a:top>
                      <a:bottom>
                        <a:solidFill>
                          <a:srgbClr val="D0D0D0"/>
                        </a:solidFill>
                      </a:bottom>
                    </a:tcBdr>
                  </a:tcPr>
                </a:tc>
                <a:tc>
                  <a:txBody>
                    <a:bodyPr anchor="ctr" anchorCtr="1"/>
                    <a:lstStyle/>
                    <a:p>
                      <a:pPr algn="ctr"/>
                      <a:r>
                        <a:rPr sz="1000" b="0">
                          <a:latin typeface="Calibri"/>
                        </a:rPr>
                        <a:t>VD</a:t>
                      </a:r>
                      <a:endParaRPr lang="en-US"/>
                    </a:p>
                  </a:txBody>
                  <a:tcPr anchor="ctr">
                    <a:tcBdr>
                      <a:left>
                        <a:solidFill>
                          <a:srgbClr val="D0D0D0"/>
                        </a:solidFill>
                      </a:left>
                      <a:right>
                        <a:solidFill>
                          <a:srgbClr val="D0D0D0"/>
                        </a:solidFill>
                      </a:right>
                      <a:top>
                        <a:solidFill>
                          <a:srgbClr val="D0D0D0"/>
                        </a:solidFill>
                      </a:top>
                      <a:bottom>
                        <a:solidFill>
                          <a:srgbClr val="D0D0D0"/>
                        </a:solidFill>
                      </a:bottom>
                    </a:tcBdr>
                  </a:tcPr>
                </a:tc>
                <a:tc>
                  <a:txBody>
                    <a:bodyPr anchor="ctr" anchorCtr="1"/>
                    <a:lstStyle/>
                    <a:p>
                      <a:pPr algn="ctr"/>
                      <a:r>
                        <a:rPr sz="1000" b="0">
                          <a:latin typeface="Calibri"/>
                        </a:rPr>
                        <a:t>Drain Biases for the Amplifier ; An external biasing circuit is required.</a:t>
                      </a:r>
                      <a:endParaRPr lang="en-US"/>
                    </a:p>
                  </a:txBody>
                  <a:tcPr anchor="ctr">
                    <a:tcBdr>
                      <a:left>
                        <a:solidFill>
                          <a:srgbClr val="D0D0D0"/>
                        </a:solidFill>
                      </a:left>
                      <a:right>
                        <a:solidFill>
                          <a:srgbClr val="D0D0D0"/>
                        </a:solidFill>
                      </a:right>
                      <a:top>
                        <a:solidFill>
                          <a:srgbClr val="D0D0D0"/>
                        </a:solidFill>
                      </a:top>
                      <a:bottom>
                        <a:solidFill>
                          <a:srgbClr val="D0D0D0"/>
                        </a:solidFill>
                      </a:bottom>
                    </a:tcBdr>
                  </a:tcPr>
                </a:tc>
              </a:tr>
              <a:tr h="333333">
                <a:tc>
                  <a:txBody>
                    <a:bodyPr anchor="ctr" anchorCtr="1"/>
                    <a:lstStyle/>
                    <a:p>
                      <a:pPr algn="ctr"/>
                      <a:r>
                        <a:rPr sz="1000" b="0">
                          <a:latin typeface="Calibri"/>
                        </a:rPr>
                        <a:t>4</a:t>
                      </a:r>
                      <a:endParaRPr lang="en-US"/>
                    </a:p>
                  </a:txBody>
                  <a:tcPr anchor="ctr">
                    <a:tcBdr>
                      <a:left>
                        <a:solidFill>
                          <a:srgbClr val="D0D0D0"/>
                        </a:solidFill>
                      </a:left>
                      <a:right>
                        <a:solidFill>
                          <a:srgbClr val="D0D0D0"/>
                        </a:solidFill>
                      </a:right>
                      <a:top>
                        <a:solidFill>
                          <a:srgbClr val="D0D0D0"/>
                        </a:solidFill>
                      </a:top>
                      <a:bottom>
                        <a:solidFill>
                          <a:srgbClr val="D0D0D0"/>
                        </a:solidFill>
                      </a:bottom>
                    </a:tcBdr>
                  </a:tcPr>
                </a:tc>
                <a:tc>
                  <a:txBody>
                    <a:bodyPr anchor="ctr" anchorCtr="1"/>
                    <a:lstStyle/>
                    <a:p>
                      <a:pPr algn="ctr"/>
                      <a:r>
                        <a:rPr sz="1000" b="0">
                          <a:latin typeface="Calibri"/>
                        </a:rPr>
                        <a:t>VG</a:t>
                      </a:r>
                      <a:endParaRPr lang="en-US"/>
                    </a:p>
                  </a:txBody>
                  <a:tcPr anchor="ctr">
                    <a:tcBdr>
                      <a:left>
                        <a:solidFill>
                          <a:srgbClr val="D0D0D0"/>
                        </a:solidFill>
                      </a:left>
                      <a:right>
                        <a:solidFill>
                          <a:srgbClr val="D0D0D0"/>
                        </a:solidFill>
                      </a:right>
                      <a:top>
                        <a:solidFill>
                          <a:srgbClr val="D0D0D0"/>
                        </a:solidFill>
                      </a:top>
                      <a:bottom>
                        <a:solidFill>
                          <a:srgbClr val="D0D0D0"/>
                        </a:solidFill>
                      </a:bottom>
                    </a:tcBdr>
                  </a:tcPr>
                </a:tc>
                <a:tc>
                  <a:txBody>
                    <a:bodyPr anchor="ctr" anchorCtr="1"/>
                    <a:lstStyle/>
                    <a:p>
                      <a:pPr algn="ctr"/>
                      <a:r>
                        <a:rPr sz="1000" b="0">
                          <a:latin typeface="Calibri"/>
                        </a:rPr>
                        <a:t>Gate Biases for the Amplifier ; An external biasing circuit is required.</a:t>
                      </a:r>
                      <a:endParaRPr lang="en-US"/>
                    </a:p>
                  </a:txBody>
                  <a:tcPr anchor="ctr">
                    <a:tcBdr>
                      <a:left>
                        <a:solidFill>
                          <a:srgbClr val="D0D0D0"/>
                        </a:solidFill>
                      </a:left>
                      <a:right>
                        <a:solidFill>
                          <a:srgbClr val="D0D0D0"/>
                        </a:solidFill>
                      </a:right>
                      <a:top>
                        <a:solidFill>
                          <a:srgbClr val="D0D0D0"/>
                        </a:solidFill>
                      </a:top>
                      <a:bottom>
                        <a:solidFill>
                          <a:srgbClr val="D0D0D0"/>
                        </a:solidFill>
                      </a:bottom>
                    </a:tcBdr>
                  </a:tcPr>
                </a:tc>
              </a:tr>
              <a:tr h="333333">
                <a:tc>
                  <a:txBody>
                    <a:bodyPr anchor="ctr" anchorCtr="1"/>
                    <a:lstStyle/>
                    <a:p>
                      <a:pPr algn="ctr"/>
                      <a:r>
                        <a:rPr sz="1000" b="0">
                          <a:latin typeface="Calibri"/>
                        </a:rPr>
                        <a:t>5</a:t>
                      </a:r>
                      <a:endParaRPr lang="en-US"/>
                    </a:p>
                  </a:txBody>
                  <a:tcPr anchor="ctr">
                    <a:tcBdr>
                      <a:left>
                        <a:solidFill>
                          <a:srgbClr val="D0D0D0"/>
                        </a:solidFill>
                      </a:left>
                      <a:right>
                        <a:solidFill>
                          <a:srgbClr val="D0D0D0"/>
                        </a:solidFill>
                      </a:right>
                      <a:top>
                        <a:solidFill>
                          <a:srgbClr val="D0D0D0"/>
                        </a:solidFill>
                      </a:top>
                      <a:bottom>
                        <a:solidFill>
                          <a:srgbClr val="D0D0D0"/>
                        </a:solidFill>
                      </a:bottom>
                    </a:tcBdr>
                  </a:tcPr>
                </a:tc>
                <a:tc>
                  <a:txBody>
                    <a:bodyPr anchor="ctr" anchorCtr="1"/>
                    <a:lstStyle/>
                    <a:p>
                      <a:pPr algn="ctr"/>
                      <a:r>
                        <a:rPr sz="1000" b="0">
                          <a:latin typeface="Calibri"/>
                        </a:rPr>
                        <a:t>Die Bottom</a:t>
                      </a:r>
                      <a:endParaRPr lang="en-US"/>
                    </a:p>
                  </a:txBody>
                  <a:tcPr anchor="ctr">
                    <a:tcBdr>
                      <a:left>
                        <a:solidFill>
                          <a:srgbClr val="D0D0D0"/>
                        </a:solidFill>
                      </a:left>
                      <a:right>
                        <a:solidFill>
                          <a:srgbClr val="D0D0D0"/>
                        </a:solidFill>
                      </a:right>
                      <a:top>
                        <a:solidFill>
                          <a:srgbClr val="D0D0D0"/>
                        </a:solidFill>
                      </a:top>
                      <a:bottom>
                        <a:solidFill>
                          <a:srgbClr val="D0D0D0"/>
                        </a:solidFill>
                      </a:bottom>
                    </a:tcBdr>
                  </a:tcPr>
                </a:tc>
                <a:tc>
                  <a:txBody>
                    <a:bodyPr anchor="ctr" anchorCtr="1"/>
                    <a:lstStyle/>
                    <a:p>
                      <a:pPr algn="ctr"/>
                      <a:r>
                        <a:rPr sz="1000" b="0">
                          <a:latin typeface="Calibri"/>
                        </a:rPr>
                        <a:t>Die bottom must be connected to RF and dc ground.</a:t>
                      </a:r>
                      <a:endParaRPr lang="en-US"/>
                    </a:p>
                  </a:txBody>
                  <a:tcPr anchor="ctr">
                    <a:tcBdr>
                      <a:left>
                        <a:solidFill>
                          <a:srgbClr val="D0D0D0"/>
                        </a:solidFill>
                      </a:left>
                      <a:right>
                        <a:solidFill>
                          <a:srgbClr val="D0D0D0"/>
                        </a:solidFill>
                      </a:right>
                      <a:top>
                        <a:solidFill>
                          <a:srgbClr val="D0D0D0"/>
                        </a:solidFill>
                      </a:top>
                      <a:bottom>
                        <a:solidFill>
                          <a:srgbClr val="D0D0D0"/>
                        </a:solidFill>
                      </a:bottom>
                    </a:tcBdr>
                  </a:tcPr>
                </a:tc>
              </a:tr>
            </a:tbl>
          </a:graphicData>
        </a:graphic>
      </p:graphicFrame>
    </p:spTree>
  </p:cSld>
  <p:clrMapOvr>
    <a:masterClrMapping xmlns:a="http://schemas.openxmlformats.org/drawingml/2006/main"/>
  </p:clrMapOvr>
</p:sld>
</file>

<file path=ppt/slides/slide11.xml><?xml version="1.0" encoding="utf-8"?>
<p:sld xmlns:p="http://schemas.openxmlformats.org/presentationml/2006/main">
  <p:cSld name="Blank">
    <p:spTree>
      <p:nvGrpSpPr>
        <p:cNvPr id="1" name=""/>
        <p:cNvGrpSpPr/>
        <p:nvPr/>
      </p:nvGrpSpPr>
      <p:grpSpPr>
        <a:xfrm xmlns:a="http://schemas.openxmlformats.org/drawingml/2006/main">
          <a:off x="0" y="0"/>
          <a:ext cx="0" cy="0"/>
          <a:chOff x="0" y="0"/>
          <a:chExt cx="0" cy="0"/>
        </a:xfrm>
      </p:grpSpPr>
      <p:pic>
        <p:nvPicPr>
          <p:cNvPr id="100" name="框图.png"/>
          <p:cNvPicPr>
            <a:picLocks xmlns:a="http://schemas.openxmlformats.org/drawingml/2006/main" noChangeAspect="1"/>
          </p:cNvPicPr>
          <p:nvPr/>
        </p:nvPicPr>
        <p:blipFill>
          <a:blip xmlns:r="http://schemas.openxmlformats.org/officeDocument/2006/relationships" xmlns:a="http://schemas.openxmlformats.org/drawingml/2006/main" r:embed="R27e5ee40bf624f87"/>
          <a:stretch xmlns:a="http://schemas.openxmlformats.org/drawingml/2006/main">
            <a:fillRect/>
          </a:stretch>
        </p:blipFill>
        <p:spPr>
          <a:xfrm xmlns:a="http://schemas.openxmlformats.org/drawingml/2006/main">
            <a:off x="2514400" y="1314000"/>
            <a:ext cx="3000000" cy="3000000"/>
          </a:xfrm>
          <a:prstGeom xmlns:a="http://schemas.openxmlformats.org/drawingml/2006/main" prst="rect">
            <a:avLst/>
          </a:prstGeom>
        </p:spPr>
      </p:pic>
      <p:sp>
        <p:nvSpPr>
          <p:cNvPr id="101" name="TextBox 101"/>
          <p:cNvSpPr>
            <a:spLocks xmlns:a="http://schemas.openxmlformats.org/drawingml/2006/main" noGrp="1"/>
          </p:cNvSpPr>
          <p:nvPr/>
        </p:nvSpPr>
        <p:spPr>
          <a:xfrm xmlns:a="http://schemas.openxmlformats.org/drawingml/2006/main">
            <a:off x="914400" y="5314000"/>
            <a:ext cx="6000000" cy="350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pPr algn="ctr"/>
            <a:r>
              <a:rPr sz="1400" b="1">
                <a:latin typeface="Calibri"/>
              </a:rPr>
              <a:t>Biasing and Operation</a:t>
            </a:r>
          </a:p>
        </p:txBody>
      </p:sp>
      <p:sp>
        <p:nvSpPr>
          <p:cNvPr id="102" name="TextBox 102"/>
          <p:cNvSpPr>
            <a:spLocks xmlns:a="http://schemas.openxmlformats.org/drawingml/2006/main" noGrp="1"/>
          </p:cNvSpPr>
          <p:nvPr/>
        </p:nvSpPr>
        <p:spPr>
          <a:xfrm xmlns:a="http://schemas.openxmlformats.org/drawingml/2006/main">
            <a:off x="914400" y="5664800"/>
            <a:ext cx="6000000" cy="2000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pPr algn="l"/>
            <a:r>
              <a:rPr sz="1200">
                <a:latin typeface="Calibri"/>
              </a:rPr>
              <a:t>Turn ON procedure:</a:t>
            </a:r>
          </a:p>
          <a:p xmlns:a="http://schemas.openxmlformats.org/drawingml/2006/main">
            <a:pPr indent="-180000" algn="l"/>
            <a:r>
              <a:rPr sz="1200">
                <a:latin typeface="Calibri"/>
              </a:rPr>
              <a:t>1.    Connect GND to RF and dc ground.</a:t>
            </a:r>
          </a:p>
          <a:p xmlns:a="http://schemas.openxmlformats.org/drawingml/2006/main">
            <a:pPr indent="-180000" algn="l"/>
            <a:r>
              <a:rPr sz="1200">
                <a:latin typeface="Calibri"/>
              </a:rPr>
              <a:t>2.    Set the gate bias voltages,VG to -2V.</a:t>
            </a:r>
          </a:p>
          <a:p xmlns:a="http://schemas.openxmlformats.org/drawingml/2006/main">
            <a:pPr indent="-180000" algn="l"/>
            <a:r>
              <a:rPr sz="1200">
                <a:latin typeface="Calibri"/>
              </a:rPr>
              <a:t>3.    Set the drain bias voltages VD to +4V.</a:t>
            </a:r>
          </a:p>
          <a:p xmlns:a="http://schemas.openxmlformats.org/drawingml/2006/main">
            <a:pPr indent="-180000" algn="l"/>
            <a:r>
              <a:rPr sz="1200">
                <a:latin typeface="Calibri"/>
              </a:rPr>
              <a:t>4.    Increase the gate bias voltages to achieve a quiescent supply current of 82 mA.</a:t>
            </a:r>
          </a:p>
          <a:p xmlns:a="http://schemas.openxmlformats.org/drawingml/2006/main">
            <a:pPr indent="-180000" algn="l"/>
            <a:r>
              <a:rPr sz="1200">
                <a:latin typeface="Calibri"/>
              </a:rPr>
              <a:t>5.    Apply RF signal.
</a:t>
            </a:r>
          </a:p>
          <a:p xmlns:a="http://schemas.openxmlformats.org/drawingml/2006/main">
            <a:pPr indent="-180000" algn="l"/>
            <a:r>
              <a:rPr sz="1200">
                <a:latin typeface="Calibri"/>
              </a:rPr>
              <a:t>Turn OFF procedure:</a:t>
            </a:r>
          </a:p>
          <a:p xmlns:a="http://schemas.openxmlformats.org/drawingml/2006/main">
            <a:pPr indent="-180000" algn="l"/>
            <a:r>
              <a:rPr sz="1200">
                <a:latin typeface="Calibri"/>
              </a:rPr>
              <a:t>1.    Turn off the RF signal.</a:t>
            </a:r>
          </a:p>
          <a:p xmlns:a="http://schemas.openxmlformats.org/drawingml/2006/main">
            <a:pPr indent="-180000" algn="l"/>
            <a:r>
              <a:rPr sz="1200">
                <a:latin typeface="Calibri"/>
              </a:rPr>
              <a:t>2.    Decrease the gate bias voltages, VG to -2V to achieve a IDQ = 0 mA (approximately).</a:t>
            </a:r>
          </a:p>
          <a:p xmlns:a="http://schemas.openxmlformats.org/drawingml/2006/main">
            <a:pPr indent="-180000" algn="l"/>
            <a:r>
              <a:rPr sz="1200">
                <a:latin typeface="Calibri"/>
              </a:rPr>
              <a:t>3.    Decrease the drain bias voltages to 0 V.</a:t>
            </a:r>
          </a:p>
          <a:p xmlns:a="http://schemas.openxmlformats.org/drawingml/2006/main">
            <a:pPr indent="-180000" algn="l"/>
            <a:r>
              <a:rPr sz="1200">
                <a:latin typeface="Calibri"/>
              </a:rPr>
              <a:t>4.    Increase the gate bias voltages to achieve a quiescent supply current of 82 mA.</a:t>
            </a:r>
          </a:p>
          <a:p xmlns:a="http://schemas.openxmlformats.org/drawingml/2006/main">
            <a:pPr indent="-180000" algn="l"/>
            <a:r>
              <a:rPr sz="1200">
                <a:latin typeface="Calibri"/>
              </a:rPr>
              <a:t>5.    Increase the all gate bias voltages to 0 V.</a:t>
            </a:r>
          </a:p>
        </p:txBody>
      </p:sp>
    </p:spTree>
  </p:cSld>
  <p:clrMapOvr>
    <a:masterClrMapping xmlns:a="http://schemas.openxmlformats.org/drawingml/2006/main"/>
  </p:clrMapOvr>
</p:sld>
</file>

<file path=ppt/slides/slide12.xml><?xml version="1.0" encoding="utf-8"?>
<p:sld xmlns:p="http://schemas.openxmlformats.org/presentationml/2006/main">
  <p:cSld name="Blank">
    <p:spTree>
      <p:nvGrpSpPr>
        <p:cNvPr id="1" name=""/>
        <p:cNvGrpSpPr/>
        <p:nvPr/>
      </p:nvGrpSpPr>
      <p:grpSpPr>
        <a:xfrm xmlns:a="http://schemas.openxmlformats.org/drawingml/2006/main">
          <a:off x="0" y="0"/>
          <a:ext cx="0" cy="0"/>
          <a:chOff x="0" y="0"/>
          <a:chExt cx="0" cy="0"/>
        </a:xfrm>
      </p:grpSpPr>
      <p:sp>
        <p:nvSpPr>
          <p:cNvPr id="2" name="TextBox 2"/>
          <p:cNvSpPr>
            <a:spLocks xmlns:a="http://schemas.openxmlformats.org/drawingml/2006/main" noGrp="1"/>
          </p:cNvSpPr>
          <p:nvPr/>
        </p:nvSpPr>
        <p:spPr>
          <a:xfrm xmlns:a="http://schemas.openxmlformats.org/drawingml/2006/main">
            <a:off x="914400" y="1314000"/>
            <a:ext cx="6000000" cy="350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pPr algn="ctr"/>
            <a:r>
              <a:rPr sz="1400" b="1" u="sng">
                <a:latin typeface="Calibri"/>
              </a:rPr>
              <a:t>Mounting Bonding Techniques for MMICs</a:t>
            </a:r>
          </a:p>
        </p:txBody>
      </p:sp>
      <p:pic>
        <p:nvPicPr>
          <p:cNvPr id="100" name="芯片安装图.png"/>
          <p:cNvPicPr>
            <a:picLocks xmlns:a="http://schemas.openxmlformats.org/drawingml/2006/main" noChangeAspect="1"/>
          </p:cNvPicPr>
          <p:nvPr/>
        </p:nvPicPr>
        <p:blipFill>
          <a:blip xmlns:r="http://schemas.openxmlformats.org/officeDocument/2006/relationships" xmlns:a="http://schemas.openxmlformats.org/drawingml/2006/main" r:embed="R23eb9cd7f24a4aaa"/>
          <a:stretch xmlns:a="http://schemas.openxmlformats.org/drawingml/2006/main">
            <a:fillRect/>
          </a:stretch>
        </p:blipFill>
        <p:spPr>
          <a:xfrm xmlns:a="http://schemas.openxmlformats.org/drawingml/2006/main">
            <a:off x="1514400" y="1714000"/>
            <a:ext cx="5000000" cy="1500000"/>
          </a:xfrm>
          <a:prstGeom xmlns:a="http://schemas.openxmlformats.org/drawingml/2006/main" prst="rect">
            <a:avLst/>
          </a:prstGeom>
        </p:spPr>
      </p:pic>
      <p:sp>
        <p:nvSpPr>
          <p:cNvPr id="101" name="TextBox 101"/>
          <p:cNvSpPr>
            <a:spLocks xmlns:a="http://schemas.openxmlformats.org/drawingml/2006/main" noGrp="1"/>
          </p:cNvSpPr>
          <p:nvPr/>
        </p:nvSpPr>
        <p:spPr>
          <a:xfrm xmlns:a="http://schemas.openxmlformats.org/drawingml/2006/main">
            <a:off x="914400" y="3614000"/>
            <a:ext cx="6000000" cy="2600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pPr algn="l"/>
            <a:r>
              <a:rPr sz="1100" b="1">
                <a:latin typeface="Calibri"/>
              </a:rPr>
              <a:t>Direct Mounting</a:t>
            </a:r>
          </a:p>
          <a:p xmlns:a="http://schemas.openxmlformats.org/drawingml/2006/main">
            <a:pPr indent="-180000" algn="l"/>
            <a:r>
              <a:rPr sz="1100" b="0">
                <a:latin typeface="Calibri"/>
              </a:rPr>
              <a:t>1.Typically, the die is mounted directly on the ground plane.</a:t>
            </a:r>
          </a:p>
          <a:p xmlns:a="http://schemas.openxmlformats.org/drawingml/2006/main">
            <a:pPr indent="-180000" algn="l"/>
            <a:r>
              <a:rPr sz="1100" b="0">
                <a:latin typeface="Calibri"/>
              </a:rPr>
              <a:t>2.If the thickness difference between the substrate (thickness c) and the die (thickness d) exceeds 0.05 mm (i.e., c – d &gt; 0.05 mm), it is recommended to first mount the die on a heat spreader, then attach the heat spreader to the ground plane.</a:t>
            </a:r>
          </a:p>
          <a:p xmlns:a="http://schemas.openxmlformats.org/drawingml/2006/main">
            <a:pPr indent="-180000" algn="l"/>
            <a:r>
              <a:rPr sz="1100" b="0">
                <a:latin typeface="Calibri"/>
              </a:rPr>
              <a:t>3.Heat Spreader Material: Molybdenum-copper (MoCu) alloy is commonly used.</a:t>
            </a:r>
          </a:p>
          <a:p xmlns:a="http://schemas.openxmlformats.org/drawingml/2006/main">
            <a:pPr indent="-180000" algn="l"/>
            <a:r>
              <a:rPr sz="1100" b="0">
                <a:latin typeface="Calibri"/>
              </a:rPr>
              <a:t>4.Heat Sink Thickness (b): Should be within the range of (c – d – 0.05 mm) to (c –d + 0.05 mm).</a:t>
            </a:r>
          </a:p>
          <a:p xmlns:a="http://schemas.openxmlformats.org/drawingml/2006/main">
            <a:pPr indent="-180000" algn="l"/>
            <a:r>
              <a:rPr sz="1100" b="0">
                <a:latin typeface="Calibri"/>
              </a:rPr>
              <a:t>5.Spacing (a): The gap between the bare die and the 50Ω transmission line should typically be 0.05 mm to 0.1 mm. If the application frequency is higher than 40GHz, then this gap is recommended to be 0.05mm</a:t>
            </a:r>
          </a:p>
          <a:p xmlns:a="http://schemas.openxmlformats.org/drawingml/2006/main">
            <a:pPr indent="-180000" algn="l"/>
            <a:r>
              <a:rPr sz="1100" b="1">
                <a:latin typeface="Calibri"/>
              </a:rPr>
              <a:t> Wire Bonding Interconnection</a:t>
            </a:r>
          </a:p>
          <a:p xmlns:a="http://schemas.openxmlformats.org/drawingml/2006/main">
            <a:pPr indent="-180000" algn="l"/>
            <a:r>
              <a:rPr sz="1100" b="0">
                <a:latin typeface="Calibri"/>
              </a:rPr>
              <a:t>The connection between the die and the 50Ω transmission line is usually made using 25 μm diameter gold (Au) wires, bonded via wedge bonding or ball bonding processes.</a:t>
            </a:r>
          </a:p>
          <a:p xmlns:a="http://schemas.openxmlformats.org/drawingml/2006/main">
            <a:pPr indent="-180000" algn="l"/>
            <a:r>
              <a:rPr sz="1100" b="1">
                <a:latin typeface="Calibri"/>
              </a:rPr>
              <a:t>Die Attachment Methods</a:t>
            </a:r>
          </a:p>
          <a:p xmlns:a="http://schemas.openxmlformats.org/drawingml/2006/main">
            <a:pPr indent="-180000" algn="l"/>
            <a:r>
              <a:rPr sz="1100" b="1">
                <a:latin typeface="Calibri"/>
              </a:rPr>
              <a:t>1.Conductive Epoxy:</a:t>
            </a:r>
          </a:p>
          <a:p xmlns:a="http://schemas.openxmlformats.org/drawingml/2006/main">
            <a:pPr indent="-180000" algn="l"/>
            <a:r>
              <a:rPr sz="1100" b="0">
                <a:latin typeface="Calibri"/>
              </a:rPr>
              <a:t>After adhesive application, cure according to the manufacturer’s recommended temperature profile.</a:t>
            </a:r>
          </a:p>
          <a:p xmlns:a="http://schemas.openxmlformats.org/drawingml/2006/main">
            <a:pPr indent="-180000" algn="l"/>
            <a:r>
              <a:rPr sz="1100" b="1">
                <a:latin typeface="Calibri"/>
              </a:rPr>
              <a:t>2.Au-Sn80/20 Eutectic Bonding:</a:t>
            </a:r>
          </a:p>
          <a:p xmlns:a="http://schemas.openxmlformats.org/drawingml/2006/main">
            <a:pPr indent="-180000" algn="l"/>
            <a:r>
              <a:rPr sz="1100" b="0">
                <a:latin typeface="Calibri"/>
              </a:rPr>
              <a:t>Use preformed Au-Sn80/20 solder preforms.</a:t>
            </a:r>
          </a:p>
          <a:p xmlns:a="http://schemas.openxmlformats.org/drawingml/2006/main">
            <a:pPr indent="-180000" algn="l"/>
            <a:r>
              <a:rPr sz="1100" b="0">
                <a:latin typeface="Calibri"/>
              </a:rPr>
              <a:t>Perform bonding in an inert atmosphere (N₂ or forming gas: 90% N₂ + 10% H₂).</a:t>
            </a:r>
          </a:p>
          <a:p xmlns:a="http://schemas.openxmlformats.org/drawingml/2006/main">
            <a:pPr indent="-180000" algn="l"/>
            <a:r>
              <a:rPr sz="1100" b="0">
                <a:latin typeface="Calibri"/>
              </a:rPr>
              <a:t>Keep the time above 320℃ to less than 20 seconds to prevent excessive intermetallic formation.</a:t>
            </a:r>
          </a:p>
          <a:p xmlns:a="http://schemas.openxmlformats.org/drawingml/2006/main">
            <a:pPr indent="-180000" algn="l"/>
            <a:r>
              <a:rPr sz="1100" b="0">
                <a:latin typeface="Calibri"/>
              </a:rPr>
              <a:t/>
            </a:r>
          </a:p>
        </p:txBody>
      </p:sp>
      <p:sp>
        <p:nvSpPr>
          <p:cNvPr id="102" name="TextBox 102"/>
          <p:cNvSpPr>
            <a:spLocks xmlns:a="http://schemas.openxmlformats.org/drawingml/2006/main" noGrp="1"/>
          </p:cNvSpPr>
          <p:nvPr/>
        </p:nvSpPr>
        <p:spPr>
          <a:xfrm xmlns:a="http://schemas.openxmlformats.org/drawingml/2006/main">
            <a:off x="914400" y="7414000"/>
            <a:ext cx="6000000" cy="1400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pPr algn="l"/>
            <a:r>
              <a:rPr sz="700" b="1">
                <a:latin typeface="Calibri"/>
              </a:rPr>
              <a:t>Miller MMIC Inc. All rights reserved</a:t>
            </a:r>
          </a:p>
          <a:p xmlns:a="http://schemas.openxmlformats.org/drawingml/2006/main">
            <a:pPr indent="-180000" algn="l"/>
            <a:r>
              <a:rPr sz="700" b="0">
                <a:latin typeface="Calibri"/>
              </a:rPr>
              <a:t>Miller MMIC, Inc. holds exclusive rights to the information presented in its Data Sheet and any accompanying materials. As a premier supplier of cutting-edge RF solutions, Miller MMIC has made this information easily accessible to its clients.</a:t>
            </a:r>
          </a:p>
          <a:p xmlns:a="http://schemas.openxmlformats.org/drawingml/2006/main">
            <a:pPr indent="-180000" algn="l"/>
            <a:r>
              <a:rPr sz="700" b="0">
                <a:latin typeface="Calibri"/>
              </a:rPr>
              <a:t/>
            </a:r>
          </a:p>
          <a:p xmlns:a="http://schemas.openxmlformats.org/drawingml/2006/main">
            <a:pPr indent="-180000" algn="l"/>
            <a:r>
              <a:rPr sz="700" b="0">
                <a:latin typeface="Calibri"/>
              </a:rPr>
              <a:t>Although Miller MMIC believes the information provided in its Data Sheet to be trustworthy, the company does not offer any guarantees as to its accuracy. Therefore, Miller MMIC bears no responsibility for the use of this information. It is worth mentioning that the information within the Data Sheet may be altered without prior notification.</a:t>
            </a:r>
          </a:p>
          <a:p xmlns:a="http://schemas.openxmlformats.org/drawingml/2006/main">
            <a:pPr indent="-180000" algn="l"/>
            <a:r>
              <a:rPr sz="700" b="0">
                <a:latin typeface="Calibri"/>
              </a:rPr>
              <a:t/>
            </a:r>
          </a:p>
          <a:p xmlns:a="http://schemas.openxmlformats.org/drawingml/2006/main">
            <a:pPr indent="-180000" algn="l"/>
            <a:r>
              <a:rPr sz="700" b="0">
                <a:latin typeface="Calibri"/>
              </a:rPr>
              <a:t>Customers are encouraged to obtain and verify the most recent and pertinent information before placing any orders for Miller MMIC products. The information in the Data Sheet does not confer, either explicitly or implicitly, any rights or licenses with regards to patents or other forms of intellectual property to any third party.</a:t>
            </a:r>
          </a:p>
          <a:p xmlns:a="http://schemas.openxmlformats.org/drawingml/2006/main">
            <a:pPr indent="-180000" algn="l"/>
            <a:r>
              <a:rPr sz="700" b="0">
                <a:latin typeface="Calibri"/>
              </a:rPr>
              <a:t/>
            </a:r>
          </a:p>
          <a:p xmlns:a="http://schemas.openxmlformats.org/drawingml/2006/main">
            <a:pPr indent="-180000" algn="l"/>
            <a:r>
              <a:rPr sz="700" b="0">
                <a:latin typeface="Calibri"/>
              </a:rPr>
              <a:t>The information provided in the Data Sheet, or its utilization, does not bestow any patent rights, licenses, or other forms of intellectual property rights to any individual or entity, whether in regards to the information itself or anything described by such information. Furthermore, Miller MMIC products are not intended for use as critical components in applications where failure could result in severe injury or death, such as medical or life-saving equipment, or life-sustaining applications, or in any situation where failure could cause serious personal injury or death.</a:t>
            </a:r>
          </a:p>
        </p:txBody>
      </p:sp>
    </p:spTree>
  </p:cSld>
  <p:clrMapOvr>
    <a:masterClrMapping xmlns:a="http://schemas.openxmlformats.org/drawingml/2006/main"/>
  </p:clrMapOvr>
</p:sld>
</file>

<file path=ppt/theme/theme1.xml><?xml version="1.0" encoding="utf-8"?>
<a:theme xmlns:a="http://schemas.openxmlformats.org/drawingml/2006/main" name="Default Design">
  <a:themeElements>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Default Design">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2947</TotalTime>
  <Words>1</Words>
  <Application>Microsoft Office PowerPoint</Application>
  <PresentationFormat>自定义</PresentationFormat>
  <Paragraphs>1</Paragraphs>
  <Slides>1</Slides>
  <Notes>1</Notes>
  <HiddenSlides>0</HiddenSlides>
  <MMClips>0</MMClips>
  <ScaleCrop>false</ScaleCrop>
  <HeadingPairs>
    <vt:vector size="6" baseType="variant">
      <vt:variant>
        <vt:lpstr>已用的字体</vt:lpstr>
      </vt:variant>
      <vt:variant>
        <vt:i4>3</vt:i4>
      </vt:variant>
      <vt:variant>
        <vt:lpstr>主题</vt:lpstr>
      </vt:variant>
      <vt:variant>
        <vt:i4>1</vt:i4>
      </vt:variant>
      <vt:variant>
        <vt:lpstr>幻灯片标题</vt:lpstr>
      </vt:variant>
      <vt:variant>
        <vt:i4>1</vt:i4>
      </vt:variant>
    </vt:vector>
  </HeadingPairs>
  <TitlesOfParts>
    <vt:vector size="5" baseType="lpstr">
      <vt:lpstr>Arial</vt:lpstr>
      <vt:lpstr>Arial Narrow</vt:lpstr>
      <vt:lpstr>Calibri</vt:lpstr>
      <vt:lpstr>Default Design</vt:lpstr>
      <vt:lpstr>PowerPoint 演示文稿</vt:lpstr>
    </vt:vector>
  </TitlesOfParts>
  <Company>Miller MMIC</Company>
  <LinksUpToDate>false</LinksUpToDate>
  <SharedDoc>false</SharedDoc>
  <HyperlinkBase>MMP503F GaAs pHEMT MMIC Power Amplifier 18-45GHz Gain 21.5dB Psat 32dBm</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MMP503F GaAs pHEMT MMIC Power Amplifier 18-45GHz Gain 21.5dB Psat 32dBm</dc:title>
  <dc:subject>MMP503F GaAs pHEMT MMIC Power Amplifier 18-45GHz Gain 21.5dB Psat 32dBm</dc:subject>
  <dc:creator>Administrator;Miller MMIC</dc:creator>
  <cp:keywords>MMP503F GaAs pHEMT MMIC Power Amplifier 18-45GHz Gain 21.5dB Psat 32dBm</cp:keywords>
  <dc:description>MMP503F GaAs pHEMT MMIC Power Amplifier 18-45GHz Gain 21.5dB Psat 32dBm</dc:description>
  <cp:lastModifiedBy>494783603@qq.com</cp:lastModifiedBy>
  <cp:revision>939</cp:revision>
  <cp:lastPrinted>2013-12-10T07:32:00Z</cp:lastPrinted>
  <dcterms:created xsi:type="dcterms:W3CDTF">2004-05-11T03:50:00Z</dcterms:created>
  <dcterms:modified xsi:type="dcterms:W3CDTF">2025-11-05T07:38:53Z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2052-10.1.0.7400</vt:lpwstr>
  </property>
</Properties>
</file>